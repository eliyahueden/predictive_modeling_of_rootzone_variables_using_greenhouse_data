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25199975" cy="359997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81" autoAdjust="0"/>
    <p:restoredTop sz="94660"/>
  </p:normalViewPr>
  <p:slideViewPr>
    <p:cSldViewPr snapToGrid="0" snapToObjects="1">
      <p:cViewPr>
        <p:scale>
          <a:sx n="25" d="100"/>
          <a:sy n="25" d="100"/>
        </p:scale>
        <p:origin x="2045" y="-18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12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11" Type="http://schemas.openxmlformats.org/officeDocument/2006/relationships/image" Target="../media/image8.png"/><Relationship Id="rId5" Type="http://schemas.openxmlformats.org/officeDocument/2006/relationships/image" Target="../media/image4.png"/><Relationship Id="rId10" Type="http://schemas.openxmlformats.org/officeDocument/2006/relationships/image" Target="../media/image30.png"/><Relationship Id="rId4" Type="http://schemas.openxmlformats.org/officeDocument/2006/relationships/image" Target="../media/image3.png"/><Relationship Id="rId9" Type="http://schemas.openxmlformats.org/officeDocument/2006/relationships/image" Target="../media/image7.png"/><Relationship Id="rId1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87445" y="0"/>
            <a:ext cx="25387420" cy="35999738"/>
          </a:xfrm>
          <a:prstGeom prst="rect">
            <a:avLst/>
          </a:prstGeom>
          <a:solidFill>
            <a:srgbClr val="DC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-187444" y="0"/>
            <a:ext cx="25387420" cy="3599973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98120" y="236808"/>
            <a:ext cx="24553164" cy="2743200"/>
          </a:xfrm>
          <a:prstGeom prst="roundRect">
            <a:avLst/>
          </a:prstGeom>
          <a:solidFill>
            <a:srgbClr val="FFFFFF"/>
          </a:solidFill>
          <a:ln w="21336">
            <a:solidFill>
              <a:srgbClr val="4BA5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526368"/>
            <a:ext cx="2209990" cy="220999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47874" y="511128"/>
            <a:ext cx="2209990" cy="220999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804160" y="352180"/>
            <a:ext cx="19592544" cy="135421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400" b="1" dirty="0">
                <a:solidFill>
                  <a:srgbClr val="006B82"/>
                </a:solidFill>
                <a:latin typeface="Arial"/>
              </a:rPr>
              <a:t>Predictive Modeling of Rootzone Variables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400" b="1" dirty="0">
                <a:solidFill>
                  <a:srgbClr val="006B82"/>
                </a:solidFill>
                <a:latin typeface="Arial"/>
              </a:rPr>
              <a:t>Using Greenhouse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683523"/>
            <a:ext cx="19714464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200" b="1" dirty="0">
                <a:latin typeface="Arial"/>
              </a:rPr>
              <a:t>Students: Eden Eliyahu, Oren Chaushu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68600" y="2187469"/>
            <a:ext cx="19714464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200" b="1" dirty="0">
                <a:solidFill>
                  <a:srgbClr val="0D2B38"/>
                </a:solidFill>
                <a:latin typeface="Arial"/>
              </a:rPr>
              <a:t>Mentors: Dr. Avner Priel - Ruppin,  Dr. Alaa Jamal - Volcani Institute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8119" y="3366955"/>
            <a:ext cx="10561321" cy="7849685"/>
          </a:xfrm>
          <a:prstGeom prst="roundRect">
            <a:avLst/>
          </a:prstGeom>
          <a:solidFill>
            <a:srgbClr val="FFFFFF"/>
          </a:solidFill>
          <a:ln w="18288">
            <a:solidFill>
              <a:srgbClr val="9FD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53440" y="3759200"/>
            <a:ext cx="822960" cy="82296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74470" y="3991668"/>
            <a:ext cx="592201" cy="3539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98320" y="3864864"/>
            <a:ext cx="8686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dirty="0">
                <a:solidFill>
                  <a:srgbClr val="006B82"/>
                </a:solidFill>
                <a:latin typeface="Arial"/>
              </a:rPr>
              <a:t>Introduction &amp; Goal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4678680"/>
            <a:ext cx="911352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dirty="0">
                <a:solidFill>
                  <a:srgbClr val="0D2B38"/>
                </a:solidFill>
                <a:latin typeface="Arial"/>
              </a:rPr>
              <a:t>Why rootzone monitoring needs a soft sensor.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3480" y="5288280"/>
            <a:ext cx="9113520" cy="1477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dirty="0">
                <a:latin typeface="Arial"/>
              </a:rPr>
              <a:t>Rootzone pH and EC are key indicators of nutrient availability, salinity, and plant health in greenhouse cultivation. Manual samples are accurate, but they are sparse - between samples, acidity or salinity changes may go undetected.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73480" y="6995160"/>
            <a:ext cx="2651760" cy="2407920"/>
          </a:xfrm>
          <a:prstGeom prst="roundRect">
            <a:avLst/>
          </a:prstGeom>
          <a:solidFill>
            <a:srgbClr val="EFFAFF"/>
          </a:solidFill>
          <a:ln w="12192">
            <a:solidFill>
              <a:srgbClr val="006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2249424" y="7178040"/>
            <a:ext cx="499872" cy="499872"/>
          </a:xfrm>
          <a:prstGeom prst="ellipse">
            <a:avLst/>
          </a:prstGeom>
          <a:solidFill>
            <a:srgbClr val="EFFAFF"/>
          </a:solidFill>
          <a:ln w="48768">
            <a:solidFill>
              <a:srgbClr val="006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310640" y="8116895"/>
            <a:ext cx="2403144" cy="61555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006276"/>
                </a:solidFill>
                <a:latin typeface="Arial"/>
              </a:rPr>
              <a:t>Manual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006276"/>
                </a:solidFill>
                <a:latin typeface="Arial"/>
              </a:rPr>
              <a:t>sample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3850943" y="7949185"/>
            <a:ext cx="578837" cy="668166"/>
          </a:xfrm>
          <a:prstGeom prst="rightArrow">
            <a:avLst/>
          </a:prstGeom>
          <a:solidFill>
            <a:srgbClr val="A8D6E8"/>
          </a:solidFill>
          <a:ln w="3048">
            <a:solidFill>
              <a:srgbClr val="A8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4404360" y="6995160"/>
            <a:ext cx="2651760" cy="2407920"/>
          </a:xfrm>
          <a:prstGeom prst="roundRect">
            <a:avLst/>
          </a:prstGeom>
          <a:solidFill>
            <a:srgbClr val="FBFEEB"/>
          </a:solidFill>
          <a:ln w="12192">
            <a:solidFill>
              <a:srgbClr val="7891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5480304" y="7178040"/>
            <a:ext cx="499872" cy="499872"/>
          </a:xfrm>
          <a:prstGeom prst="ellipse">
            <a:avLst/>
          </a:prstGeom>
          <a:solidFill>
            <a:srgbClr val="FBFEEB"/>
          </a:solidFill>
          <a:ln w="48768">
            <a:solidFill>
              <a:srgbClr val="7891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41520" y="8129087"/>
            <a:ext cx="2347996" cy="61555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78910D"/>
                </a:solidFill>
                <a:latin typeface="Arial"/>
              </a:rPr>
              <a:t>Blind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78910D"/>
                </a:solidFill>
                <a:latin typeface="Arial"/>
              </a:rPr>
              <a:t>interval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7056121" y="7876033"/>
            <a:ext cx="588202" cy="741318"/>
          </a:xfrm>
          <a:prstGeom prst="rightArrow">
            <a:avLst/>
          </a:prstGeom>
          <a:solidFill>
            <a:srgbClr val="A8D6E8"/>
          </a:solidFill>
          <a:ln w="3048">
            <a:solidFill>
              <a:srgbClr val="A8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7635240" y="6995160"/>
            <a:ext cx="2651760" cy="2407920"/>
          </a:xfrm>
          <a:prstGeom prst="roundRect">
            <a:avLst/>
          </a:prstGeom>
          <a:solidFill>
            <a:srgbClr val="F1F7FF"/>
          </a:solidFill>
          <a:ln w="12192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8711184" y="7178040"/>
            <a:ext cx="499872" cy="499872"/>
          </a:xfrm>
          <a:prstGeom prst="ellipse">
            <a:avLst/>
          </a:prstGeom>
          <a:solidFill>
            <a:srgbClr val="F1F7FF"/>
          </a:solidFill>
          <a:ln w="48768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772399" y="7963007"/>
            <a:ext cx="2402861" cy="9233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1976D2"/>
                </a:solidFill>
                <a:latin typeface="Arial"/>
              </a:rPr>
              <a:t>Rootzone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1976D2"/>
                </a:solidFill>
                <a:latin typeface="Arial"/>
              </a:rPr>
              <a:t>soft-sensor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1976D2"/>
                </a:solidFill>
                <a:latin typeface="Arial"/>
              </a:rPr>
              <a:t>prediction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73480" y="9662160"/>
            <a:ext cx="9113520" cy="1066800"/>
          </a:xfrm>
          <a:prstGeom prst="roundRect">
            <a:avLst/>
          </a:prstGeom>
          <a:solidFill>
            <a:srgbClr val="F4FCFE"/>
          </a:solidFill>
          <a:ln w="12192">
            <a:solidFill>
              <a:srgbClr val="9FD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1417320" y="10073640"/>
            <a:ext cx="198120" cy="198120"/>
          </a:xfrm>
          <a:prstGeom prst="ellipse">
            <a:avLst/>
          </a:prstGeom>
          <a:solidFill>
            <a:srgbClr val="A7E0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1466088" y="10122408"/>
            <a:ext cx="100584" cy="100584"/>
          </a:xfrm>
          <a:prstGeom prst="ellipse">
            <a:avLst/>
          </a:prstGeom>
          <a:solidFill>
            <a:srgbClr val="75C8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838729" y="9727776"/>
            <a:ext cx="8350000" cy="964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dirty="0">
                <a:solidFill>
                  <a:srgbClr val="006E80"/>
                </a:solidFill>
              </a:rPr>
              <a:t>Goal - Build a rootzone soft sensor that predicts future pH and EC</a:t>
            </a:r>
          </a:p>
          <a:p>
            <a:pPr>
              <a:lnSpc>
                <a:spcPct val="95000"/>
              </a:lnSpc>
            </a:pPr>
            <a:r>
              <a:rPr sz="2200" b="1" dirty="0">
                <a:solidFill>
                  <a:srgbClr val="006E80"/>
                </a:solidFill>
              </a:rPr>
              <a:t>between manual samples to optimize irrigation and fertigation</a:t>
            </a:r>
          </a:p>
          <a:p>
            <a:pPr>
              <a:lnSpc>
                <a:spcPct val="95000"/>
              </a:lnSpc>
            </a:pPr>
            <a:r>
              <a:rPr sz="2200" b="1" dirty="0">
                <a:solidFill>
                  <a:srgbClr val="006E80"/>
                </a:solidFill>
              </a:rPr>
              <a:t>decision-making.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957560" y="3398520"/>
            <a:ext cx="13793724" cy="7818120"/>
          </a:xfrm>
          <a:prstGeom prst="roundRect">
            <a:avLst/>
          </a:prstGeom>
          <a:solidFill>
            <a:srgbClr val="FFFFFF"/>
          </a:solidFill>
          <a:ln w="18288">
            <a:solidFill>
              <a:srgbClr val="9FD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11277600" y="3810000"/>
            <a:ext cx="822960" cy="82296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1277600" y="3810000"/>
            <a:ext cx="82296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222480" y="3864864"/>
            <a:ext cx="1200302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dirty="0">
                <a:solidFill>
                  <a:srgbClr val="006B82"/>
                </a:solidFill>
                <a:latin typeface="Arial"/>
              </a:rPr>
              <a:t>Dataset &amp; Processing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98580" y="4725770"/>
            <a:ext cx="12902184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dirty="0">
                <a:solidFill>
                  <a:srgbClr val="0D2B38"/>
                </a:solidFill>
                <a:latin typeface="Arial"/>
              </a:rPr>
              <a:t>Five greenhouse domains synchronized into one 10-minute master dataset.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1597640" y="5394960"/>
            <a:ext cx="6833616" cy="640080"/>
          </a:xfrm>
          <a:prstGeom prst="roundRect">
            <a:avLst/>
          </a:prstGeom>
          <a:solidFill>
            <a:srgbClr val="FFFFFF"/>
          </a:solidFill>
          <a:ln w="9144">
            <a:solidFill>
              <a:srgbClr val="9FD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11780520" y="5644896"/>
            <a:ext cx="176784" cy="176784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2070080" y="5571744"/>
            <a:ext cx="29384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dirty="0">
                <a:solidFill>
                  <a:srgbClr val="006B82"/>
                </a:solidFill>
                <a:latin typeface="Arial"/>
              </a:rPr>
              <a:t>Climate conditions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675608" y="5562600"/>
            <a:ext cx="41524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dirty="0">
                <a:latin typeface="Arial"/>
              </a:rPr>
              <a:t>temperature - humidity </a:t>
            </a:r>
            <a:r>
              <a:rPr lang="he-IL" b="1" dirty="0">
                <a:latin typeface="Arial"/>
              </a:rPr>
              <a:t>–</a:t>
            </a:r>
            <a:r>
              <a:rPr b="1" dirty="0">
                <a:latin typeface="Arial"/>
              </a:rPr>
              <a:t> radiation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8431256" y="5715000"/>
            <a:ext cx="1005840" cy="1536192"/>
          </a:xfrm>
          <a:prstGeom prst="line">
            <a:avLst/>
          </a:prstGeom>
          <a:ln w="21336">
            <a:solidFill>
              <a:srgbClr val="1976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11597640" y="6163056"/>
            <a:ext cx="6833616" cy="640080"/>
          </a:xfrm>
          <a:prstGeom prst="roundRect">
            <a:avLst/>
          </a:prstGeom>
          <a:solidFill>
            <a:srgbClr val="FFFFFF"/>
          </a:solidFill>
          <a:ln w="9144">
            <a:solidFill>
              <a:srgbClr val="9FD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11780520" y="6412992"/>
            <a:ext cx="176784" cy="176784"/>
          </a:xfrm>
          <a:prstGeom prst="ellipse">
            <a:avLst/>
          </a:prstGeom>
          <a:solidFill>
            <a:srgbClr val="75C8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2070080" y="6339840"/>
            <a:ext cx="29384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dirty="0">
                <a:solidFill>
                  <a:srgbClr val="006B82"/>
                </a:solidFill>
                <a:latin typeface="Arial"/>
              </a:rPr>
              <a:t>Irrigation &amp; fertigation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373985" y="6329677"/>
            <a:ext cx="4084447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dirty="0">
                <a:latin typeface="Arial"/>
              </a:rPr>
              <a:t>fertilizer - acid &amp; salt inputs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18431256" y="6483096"/>
            <a:ext cx="1005840" cy="768096"/>
          </a:xfrm>
          <a:prstGeom prst="line">
            <a:avLst/>
          </a:prstGeom>
          <a:ln w="21336">
            <a:solidFill>
              <a:srgbClr val="75C8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11597640" y="6931152"/>
            <a:ext cx="6833616" cy="640080"/>
          </a:xfrm>
          <a:prstGeom prst="roundRect">
            <a:avLst/>
          </a:prstGeom>
          <a:solidFill>
            <a:srgbClr val="FFFFFF"/>
          </a:solidFill>
          <a:ln w="9144">
            <a:solidFill>
              <a:srgbClr val="9FD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11780520" y="7181088"/>
            <a:ext cx="176784" cy="176784"/>
          </a:xfrm>
          <a:prstGeom prst="ellipse">
            <a:avLst/>
          </a:prstGeom>
          <a:solidFill>
            <a:srgbClr val="A6C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2070080" y="7107936"/>
            <a:ext cx="29384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dirty="0">
                <a:solidFill>
                  <a:srgbClr val="006B82"/>
                </a:solidFill>
                <a:latin typeface="Arial"/>
              </a:rPr>
              <a:t>Plant status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077676" y="7113840"/>
            <a:ext cx="4353581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dirty="0">
                <a:latin typeface="Arial"/>
              </a:rPr>
              <a:t>canopy cover - crop age - growth stage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18431256" y="7251192"/>
            <a:ext cx="1005840" cy="0"/>
          </a:xfrm>
          <a:prstGeom prst="line">
            <a:avLst/>
          </a:prstGeom>
          <a:ln w="21336">
            <a:solidFill>
              <a:srgbClr val="A6C9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/>
          <p:cNvSpPr/>
          <p:nvPr/>
        </p:nvSpPr>
        <p:spPr>
          <a:xfrm>
            <a:off x="11597640" y="7699248"/>
            <a:ext cx="6833616" cy="640080"/>
          </a:xfrm>
          <a:prstGeom prst="roundRect">
            <a:avLst/>
          </a:prstGeom>
          <a:solidFill>
            <a:srgbClr val="FFFFFF"/>
          </a:solidFill>
          <a:ln w="9144">
            <a:solidFill>
              <a:srgbClr val="9FD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11780520" y="7949184"/>
            <a:ext cx="176784" cy="176784"/>
          </a:xfrm>
          <a:prstGeom prst="ellipse">
            <a:avLst/>
          </a:prstGeom>
          <a:solidFill>
            <a:srgbClr val="087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2070080" y="7876032"/>
            <a:ext cx="29384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dirty="0">
                <a:solidFill>
                  <a:srgbClr val="006B82"/>
                </a:solidFill>
                <a:latin typeface="Arial"/>
              </a:rPr>
              <a:t>Rootzone measurements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5637297" y="7848986"/>
            <a:ext cx="41524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b="1" dirty="0">
                <a:latin typeface="Arial"/>
              </a:rPr>
              <a:t>manual pH </a:t>
            </a:r>
            <a:r>
              <a:rPr lang="en-US" b="1" dirty="0">
                <a:latin typeface="Arial"/>
              </a:rPr>
              <a:t>&amp; EC </a:t>
            </a:r>
            <a:r>
              <a:rPr b="1" dirty="0">
                <a:latin typeface="Arial"/>
              </a:rPr>
              <a:t>samples</a:t>
            </a:r>
          </a:p>
        </p:txBody>
      </p:sp>
      <p:cxnSp>
        <p:nvCxnSpPr>
          <p:cNvPr id="58" name="Connector 57"/>
          <p:cNvCxnSpPr/>
          <p:nvPr/>
        </p:nvCxnSpPr>
        <p:spPr>
          <a:xfrm flipV="1">
            <a:off x="18431256" y="7251192"/>
            <a:ext cx="1005840" cy="768096"/>
          </a:xfrm>
          <a:prstGeom prst="line">
            <a:avLst/>
          </a:prstGeom>
          <a:ln w="21336">
            <a:solidFill>
              <a:srgbClr val="087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ounded Rectangle 58"/>
          <p:cNvSpPr/>
          <p:nvPr/>
        </p:nvSpPr>
        <p:spPr>
          <a:xfrm>
            <a:off x="11597640" y="8467344"/>
            <a:ext cx="6833616" cy="640080"/>
          </a:xfrm>
          <a:prstGeom prst="roundRect">
            <a:avLst/>
          </a:prstGeom>
          <a:solidFill>
            <a:srgbClr val="FFFFFF"/>
          </a:solidFill>
          <a:ln w="9144">
            <a:solidFill>
              <a:srgbClr val="9FD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11780520" y="8717280"/>
            <a:ext cx="176784" cy="176784"/>
          </a:xfrm>
          <a:prstGeom prst="ellipse">
            <a:avLst/>
          </a:prstGeom>
          <a:solidFill>
            <a:srgbClr val="1A5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12070080" y="8644128"/>
            <a:ext cx="29384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dirty="0">
                <a:solidFill>
                  <a:srgbClr val="006B82"/>
                </a:solidFill>
                <a:latin typeface="Arial"/>
              </a:rPr>
              <a:t>Time &amp; history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4640580" y="8617351"/>
            <a:ext cx="3870147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dirty="0">
                <a:latin typeface="Arial"/>
              </a:rPr>
              <a:t>timestamps - gaps - previous state</a:t>
            </a:r>
          </a:p>
        </p:txBody>
      </p:sp>
      <p:cxnSp>
        <p:nvCxnSpPr>
          <p:cNvPr id="63" name="Connector 62"/>
          <p:cNvCxnSpPr/>
          <p:nvPr/>
        </p:nvCxnSpPr>
        <p:spPr>
          <a:xfrm flipV="1">
            <a:off x="18431256" y="7251192"/>
            <a:ext cx="1005840" cy="1536192"/>
          </a:xfrm>
          <a:prstGeom prst="line">
            <a:avLst/>
          </a:prstGeom>
          <a:ln w="21336">
            <a:solidFill>
              <a:srgbClr val="1A55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ounded Rectangle 65"/>
          <p:cNvSpPr/>
          <p:nvPr/>
        </p:nvSpPr>
        <p:spPr>
          <a:xfrm>
            <a:off x="19327368" y="5394960"/>
            <a:ext cx="4898136" cy="3712464"/>
          </a:xfrm>
          <a:prstGeom prst="roundRect">
            <a:avLst/>
          </a:prstGeom>
          <a:solidFill>
            <a:srgbClr val="006276"/>
          </a:solidFill>
          <a:ln w="12192">
            <a:solidFill>
              <a:srgbClr val="034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19549872" y="5559552"/>
            <a:ext cx="4477512" cy="853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FFFFFF"/>
                </a:solidFill>
                <a:latin typeface="Arial"/>
              </a:rPr>
              <a:t>MASTER DATASET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FFFFFF"/>
                </a:solidFill>
                <a:latin typeface="Arial"/>
              </a:rPr>
              <a:t>10-minute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FFFFFF"/>
                </a:solidFill>
                <a:latin typeface="Arial"/>
              </a:rPr>
              <a:t>greenhouse grid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9710096" y="6502908"/>
            <a:ext cx="4111752" cy="2286000"/>
          </a:xfrm>
          <a:prstGeom prst="roundRect">
            <a:avLst/>
          </a:prstGeom>
          <a:solidFill>
            <a:srgbClr val="197388"/>
          </a:solidFill>
          <a:ln w="3048">
            <a:solidFill>
              <a:srgbClr val="1973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19991832" y="6548569"/>
            <a:ext cx="1310640" cy="243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FFFFFF"/>
                </a:solidFill>
                <a:latin typeface="Arial"/>
              </a:rPr>
              <a:t>16,682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9991832" y="6853369"/>
            <a:ext cx="13106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dirty="0">
                <a:solidFill>
                  <a:srgbClr val="C6EFF7"/>
                </a:solidFill>
                <a:latin typeface="Arial"/>
              </a:rPr>
              <a:t>ROWS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2057279" y="6548569"/>
            <a:ext cx="1310640" cy="243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FFFFFF"/>
                </a:solidFill>
                <a:latin typeface="Arial"/>
              </a:rPr>
              <a:t>10 min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2057279" y="6853369"/>
            <a:ext cx="13106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dirty="0">
                <a:solidFill>
                  <a:srgbClr val="C6EFF7"/>
                </a:solidFill>
                <a:latin typeface="Arial"/>
              </a:rPr>
              <a:t>GRAIN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9991832" y="7386769"/>
            <a:ext cx="1310640" cy="243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109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9991832" y="7691569"/>
            <a:ext cx="13106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dirty="0">
                <a:solidFill>
                  <a:srgbClr val="C6EFF7"/>
                </a:solidFill>
                <a:latin typeface="Arial"/>
              </a:rPr>
              <a:t>PH LABELS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2057279" y="7386769"/>
            <a:ext cx="1310640" cy="243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109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2057279" y="7691569"/>
            <a:ext cx="13106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dirty="0">
                <a:solidFill>
                  <a:srgbClr val="C6EFF7"/>
                </a:solidFill>
                <a:latin typeface="Arial"/>
              </a:rPr>
              <a:t>EC LABELS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9991832" y="8201819"/>
            <a:ext cx="1310640" cy="243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FFFFFF"/>
                </a:solidFill>
                <a:latin typeface="Arial"/>
              </a:rPr>
              <a:t>20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9991832" y="8506619"/>
            <a:ext cx="13106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dirty="0">
                <a:solidFill>
                  <a:srgbClr val="C6EFF7"/>
                </a:solidFill>
                <a:latin typeface="Arial"/>
              </a:rPr>
              <a:t>COLUMNS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2057279" y="8201819"/>
            <a:ext cx="1310640" cy="243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May-Sep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2057279" y="8506619"/>
            <a:ext cx="13106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dirty="0">
                <a:solidFill>
                  <a:srgbClr val="C6EFF7"/>
                </a:solidFill>
                <a:latin typeface="Arial"/>
              </a:rPr>
              <a:t>2025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11592751" y="9631680"/>
            <a:ext cx="12429744" cy="1097280"/>
          </a:xfrm>
          <a:prstGeom prst="roundRect">
            <a:avLst/>
          </a:prstGeom>
          <a:solidFill>
            <a:srgbClr val="EAFBFF"/>
          </a:solidFill>
          <a:ln w="3048">
            <a:solidFill>
              <a:srgbClr val="EAF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Oval 81"/>
          <p:cNvSpPr/>
          <p:nvPr/>
        </p:nvSpPr>
        <p:spPr>
          <a:xfrm>
            <a:off x="11957304" y="9865654"/>
            <a:ext cx="548640" cy="54864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11957304" y="9859994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 dirty="0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2679680" y="9804980"/>
            <a:ext cx="11119104" cy="39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dirty="0">
                <a:solidFill>
                  <a:srgbClr val="006B82"/>
                </a:solidFill>
                <a:latin typeface="Arial"/>
              </a:rPr>
              <a:t>Main data challenge: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2679680" y="10118924"/>
            <a:ext cx="11119104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dirty="0">
                <a:solidFill>
                  <a:srgbClr val="33657C"/>
                </a:solidFill>
                <a:latin typeface="Arial"/>
              </a:rPr>
              <a:t>dense greenhouse telemetry, sparse rootzone labels.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198121" y="11366378"/>
            <a:ext cx="16169640" cy="9503936"/>
          </a:xfrm>
          <a:prstGeom prst="roundRect">
            <a:avLst/>
          </a:prstGeom>
          <a:solidFill>
            <a:srgbClr val="FFFFFF"/>
          </a:solidFill>
          <a:ln w="18288">
            <a:solidFill>
              <a:srgbClr val="9FD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Oval 86"/>
          <p:cNvSpPr/>
          <p:nvPr/>
        </p:nvSpPr>
        <p:spPr>
          <a:xfrm>
            <a:off x="853440" y="11856720"/>
            <a:ext cx="822960" cy="82296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853440" y="11856720"/>
            <a:ext cx="82296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889760" y="11955887"/>
            <a:ext cx="14478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dirty="0">
                <a:solidFill>
                  <a:srgbClr val="006B82"/>
                </a:solidFill>
                <a:latin typeface="Arial"/>
              </a:rPr>
              <a:t>System Architecture &amp; Workflow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261872" y="12834202"/>
            <a:ext cx="4594918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dirty="0">
                <a:solidFill>
                  <a:srgbClr val="006B82"/>
                </a:solidFill>
                <a:latin typeface="Arial"/>
              </a:rPr>
              <a:t>PROJECT WORKFLOW</a:t>
            </a:r>
          </a:p>
        </p:txBody>
      </p:sp>
      <p:sp>
        <p:nvSpPr>
          <p:cNvPr id="92" name="Chevron 91"/>
          <p:cNvSpPr/>
          <p:nvPr/>
        </p:nvSpPr>
        <p:spPr>
          <a:xfrm>
            <a:off x="995423" y="13441680"/>
            <a:ext cx="1785369" cy="862584"/>
          </a:xfrm>
          <a:prstGeom prst="chevron">
            <a:avLst/>
          </a:prstGeom>
          <a:solidFill>
            <a:srgbClr val="FFFFFF"/>
          </a:solidFill>
          <a:ln w="9144">
            <a:solidFill>
              <a:srgbClr val="9FD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1289304" y="13495205"/>
            <a:ext cx="1387856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dirty="0">
                <a:solidFill>
                  <a:srgbClr val="006B82"/>
                </a:solidFill>
                <a:latin typeface="Arial"/>
              </a:rPr>
              <a:t>01</a:t>
            </a:r>
            <a:endParaRPr sz="1200" b="1" dirty="0">
              <a:solidFill>
                <a:srgbClr val="006B82"/>
              </a:solidFill>
              <a:latin typeface="Arial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1301496" y="13707225"/>
            <a:ext cx="1351280" cy="553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dirty="0">
                <a:solidFill>
                  <a:srgbClr val="0D2B38"/>
                </a:solidFill>
                <a:latin typeface="Arial"/>
              </a:rPr>
              <a:t>Problem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dirty="0">
                <a:solidFill>
                  <a:srgbClr val="0D2B38"/>
                </a:solidFill>
                <a:latin typeface="Arial"/>
              </a:rPr>
              <a:t>framing</a:t>
            </a:r>
          </a:p>
        </p:txBody>
      </p:sp>
      <p:sp>
        <p:nvSpPr>
          <p:cNvPr id="95" name="Chevron 94"/>
          <p:cNvSpPr/>
          <p:nvPr/>
        </p:nvSpPr>
        <p:spPr>
          <a:xfrm>
            <a:off x="2677160" y="13441680"/>
            <a:ext cx="1765808" cy="862584"/>
          </a:xfrm>
          <a:prstGeom prst="chevron">
            <a:avLst/>
          </a:prstGeom>
          <a:solidFill>
            <a:srgbClr val="FFFFFF"/>
          </a:solidFill>
          <a:ln w="9144">
            <a:solidFill>
              <a:srgbClr val="9FD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2951480" y="13495205"/>
            <a:ext cx="1387856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dirty="0">
                <a:solidFill>
                  <a:srgbClr val="006B82"/>
                </a:solidFill>
                <a:latin typeface="Arial"/>
              </a:rPr>
              <a:t>02</a:t>
            </a:r>
            <a:endParaRPr sz="1200" b="1" dirty="0">
              <a:solidFill>
                <a:srgbClr val="006B82"/>
              </a:solidFill>
              <a:latin typeface="Arial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2870714" y="13716178"/>
            <a:ext cx="1351280" cy="553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dirty="0">
                <a:solidFill>
                  <a:srgbClr val="0D2B38"/>
                </a:solidFill>
                <a:latin typeface="Arial"/>
              </a:rPr>
              <a:t>Data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dirty="0">
                <a:solidFill>
                  <a:srgbClr val="0D2B38"/>
                </a:solidFill>
                <a:latin typeface="Arial"/>
              </a:rPr>
              <a:t>collection</a:t>
            </a:r>
          </a:p>
        </p:txBody>
      </p:sp>
      <p:sp>
        <p:nvSpPr>
          <p:cNvPr id="98" name="Chevron 97"/>
          <p:cNvSpPr/>
          <p:nvPr/>
        </p:nvSpPr>
        <p:spPr>
          <a:xfrm>
            <a:off x="4339336" y="13441680"/>
            <a:ext cx="1765808" cy="862584"/>
          </a:xfrm>
          <a:prstGeom prst="chevron">
            <a:avLst/>
          </a:prstGeom>
          <a:solidFill>
            <a:srgbClr val="FFFFFF"/>
          </a:solidFill>
          <a:ln w="9144">
            <a:solidFill>
              <a:srgbClr val="9FD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4613656" y="13495205"/>
            <a:ext cx="1387856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dirty="0">
                <a:solidFill>
                  <a:srgbClr val="006B82"/>
                </a:solidFill>
                <a:latin typeface="Arial"/>
              </a:rPr>
              <a:t>03</a:t>
            </a:r>
            <a:endParaRPr sz="1200" b="1" dirty="0">
              <a:solidFill>
                <a:srgbClr val="006B82"/>
              </a:solidFill>
              <a:latin typeface="Arial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4625848" y="13707225"/>
            <a:ext cx="1351280" cy="553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dirty="0">
                <a:solidFill>
                  <a:srgbClr val="0D2B38"/>
                </a:solidFill>
                <a:latin typeface="Arial"/>
              </a:rPr>
              <a:t>Audit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dirty="0">
                <a:solidFill>
                  <a:srgbClr val="0D2B38"/>
                </a:solidFill>
                <a:latin typeface="Arial"/>
              </a:rPr>
              <a:t>&amp; EDA</a:t>
            </a:r>
          </a:p>
        </p:txBody>
      </p:sp>
      <p:sp>
        <p:nvSpPr>
          <p:cNvPr id="101" name="Chevron 100"/>
          <p:cNvSpPr/>
          <p:nvPr/>
        </p:nvSpPr>
        <p:spPr>
          <a:xfrm>
            <a:off x="5977128" y="13441680"/>
            <a:ext cx="1790192" cy="862584"/>
          </a:xfrm>
          <a:prstGeom prst="chevron">
            <a:avLst/>
          </a:prstGeom>
          <a:solidFill>
            <a:srgbClr val="FFFFFF"/>
          </a:solidFill>
          <a:ln w="9144">
            <a:solidFill>
              <a:srgbClr val="9FD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6275832" y="13495205"/>
            <a:ext cx="1387856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dirty="0">
                <a:solidFill>
                  <a:srgbClr val="006B82"/>
                </a:solidFill>
                <a:latin typeface="Arial"/>
              </a:rPr>
              <a:t>04</a:t>
            </a:r>
            <a:endParaRPr sz="1200" b="1" dirty="0">
              <a:solidFill>
                <a:srgbClr val="006B82"/>
              </a:solidFill>
              <a:latin typeface="Arial"/>
            </a:endParaRPr>
          </a:p>
        </p:txBody>
      </p:sp>
      <p:sp>
        <p:nvSpPr>
          <p:cNvPr id="103" name="TextBox 102"/>
          <p:cNvSpPr txBox="1"/>
          <p:nvPr/>
        </p:nvSpPr>
        <p:spPr>
          <a:xfrm>
            <a:off x="6288024" y="13707225"/>
            <a:ext cx="1351280" cy="553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0D2B38"/>
                </a:solidFill>
                <a:latin typeface="Arial"/>
              </a:rPr>
              <a:t>Master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0D2B38"/>
                </a:solidFill>
                <a:latin typeface="Arial"/>
              </a:rPr>
              <a:t>dataset</a:t>
            </a:r>
          </a:p>
        </p:txBody>
      </p:sp>
      <p:sp>
        <p:nvSpPr>
          <p:cNvPr id="104" name="Chevron 103"/>
          <p:cNvSpPr/>
          <p:nvPr/>
        </p:nvSpPr>
        <p:spPr>
          <a:xfrm>
            <a:off x="7635240" y="13441680"/>
            <a:ext cx="1794256" cy="862584"/>
          </a:xfrm>
          <a:prstGeom prst="chevron">
            <a:avLst/>
          </a:prstGeom>
          <a:solidFill>
            <a:srgbClr val="FFFFFF"/>
          </a:solidFill>
          <a:ln w="9144">
            <a:solidFill>
              <a:srgbClr val="9FD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7938008" y="13495205"/>
            <a:ext cx="1387856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006B82"/>
                </a:solidFill>
                <a:latin typeface="Arial"/>
              </a:rPr>
              <a:t>05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897728" y="13707225"/>
            <a:ext cx="1351280" cy="553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dirty="0">
                <a:solidFill>
                  <a:srgbClr val="0D2B38"/>
                </a:solidFill>
                <a:latin typeface="Arial"/>
              </a:rPr>
              <a:t>Support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dirty="0">
                <a:solidFill>
                  <a:srgbClr val="0D2B38"/>
                </a:solidFill>
                <a:latin typeface="Arial"/>
              </a:rPr>
              <a:t>modeling</a:t>
            </a:r>
          </a:p>
        </p:txBody>
      </p:sp>
      <p:sp>
        <p:nvSpPr>
          <p:cNvPr id="107" name="Chevron 106"/>
          <p:cNvSpPr/>
          <p:nvPr/>
        </p:nvSpPr>
        <p:spPr>
          <a:xfrm>
            <a:off x="9301480" y="13441680"/>
            <a:ext cx="1790192" cy="862584"/>
          </a:xfrm>
          <a:prstGeom prst="chevron">
            <a:avLst/>
          </a:prstGeom>
          <a:solidFill>
            <a:srgbClr val="FFFFFF"/>
          </a:solidFill>
          <a:ln w="9144">
            <a:solidFill>
              <a:srgbClr val="9FD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9600184" y="13495205"/>
            <a:ext cx="1387856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dirty="0">
                <a:solidFill>
                  <a:srgbClr val="006B82"/>
                </a:solidFill>
                <a:latin typeface="Arial"/>
              </a:rPr>
              <a:t>06</a:t>
            </a:r>
            <a:endParaRPr sz="1200" b="1" dirty="0">
              <a:solidFill>
                <a:srgbClr val="006B82"/>
              </a:solidFill>
              <a:latin typeface="Arial"/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9612376" y="13707225"/>
            <a:ext cx="1351280" cy="553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0D2B38"/>
                </a:solidFill>
                <a:latin typeface="Arial"/>
              </a:rPr>
              <a:t>Feature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0D2B38"/>
                </a:solidFill>
                <a:latin typeface="Arial"/>
              </a:rPr>
              <a:t>eng.</a:t>
            </a:r>
          </a:p>
        </p:txBody>
      </p:sp>
      <p:sp>
        <p:nvSpPr>
          <p:cNvPr id="110" name="Chevron 109"/>
          <p:cNvSpPr/>
          <p:nvPr/>
        </p:nvSpPr>
        <p:spPr>
          <a:xfrm>
            <a:off x="10963656" y="13441681"/>
            <a:ext cx="1790192" cy="862584"/>
          </a:xfrm>
          <a:prstGeom prst="chevron">
            <a:avLst/>
          </a:prstGeom>
          <a:solidFill>
            <a:srgbClr val="FFFFFF"/>
          </a:solidFill>
          <a:ln w="9144">
            <a:solidFill>
              <a:srgbClr val="9FD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11262360" y="13495205"/>
            <a:ext cx="1387856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dirty="0">
                <a:solidFill>
                  <a:srgbClr val="006B82"/>
                </a:solidFill>
                <a:latin typeface="Arial"/>
              </a:rPr>
              <a:t>07</a:t>
            </a:r>
            <a:endParaRPr sz="1200" b="1" dirty="0">
              <a:solidFill>
                <a:srgbClr val="006B82"/>
              </a:solidFill>
              <a:latin typeface="Arial"/>
            </a:endParaRPr>
          </a:p>
        </p:txBody>
      </p:sp>
      <p:sp>
        <p:nvSpPr>
          <p:cNvPr id="112" name="TextBox 111"/>
          <p:cNvSpPr txBox="1"/>
          <p:nvPr/>
        </p:nvSpPr>
        <p:spPr>
          <a:xfrm>
            <a:off x="11274552" y="13707225"/>
            <a:ext cx="1351280" cy="553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dirty="0">
                <a:solidFill>
                  <a:srgbClr val="0D2B38"/>
                </a:solidFill>
                <a:latin typeface="Arial"/>
              </a:rPr>
              <a:t>Model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dirty="0">
                <a:solidFill>
                  <a:srgbClr val="0D2B38"/>
                </a:solidFill>
                <a:latin typeface="Arial"/>
              </a:rPr>
              <a:t>building</a:t>
            </a:r>
          </a:p>
        </p:txBody>
      </p:sp>
      <p:sp>
        <p:nvSpPr>
          <p:cNvPr id="113" name="Chevron 112"/>
          <p:cNvSpPr/>
          <p:nvPr/>
        </p:nvSpPr>
        <p:spPr>
          <a:xfrm>
            <a:off x="12599987" y="13441681"/>
            <a:ext cx="1816037" cy="862583"/>
          </a:xfrm>
          <a:prstGeom prst="chevron">
            <a:avLst/>
          </a:prstGeom>
          <a:solidFill>
            <a:srgbClr val="FFFFFF"/>
          </a:solidFill>
          <a:ln w="9144">
            <a:solidFill>
              <a:srgbClr val="9FD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12924536" y="13495205"/>
            <a:ext cx="1387856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dirty="0">
                <a:solidFill>
                  <a:srgbClr val="006B82"/>
                </a:solidFill>
                <a:latin typeface="Arial"/>
              </a:rPr>
              <a:t>08</a:t>
            </a:r>
            <a:endParaRPr sz="1200" b="1" dirty="0">
              <a:solidFill>
                <a:srgbClr val="006B82"/>
              </a:solidFill>
              <a:latin typeface="Arial"/>
            </a:endParaRPr>
          </a:p>
        </p:txBody>
      </p:sp>
      <p:sp>
        <p:nvSpPr>
          <p:cNvPr id="115" name="TextBox 114"/>
          <p:cNvSpPr txBox="1"/>
          <p:nvPr/>
        </p:nvSpPr>
        <p:spPr>
          <a:xfrm>
            <a:off x="12936728" y="13845725"/>
            <a:ext cx="135128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0D2B38"/>
                </a:solidFill>
                <a:latin typeface="Arial"/>
              </a:rPr>
              <a:t>Validation</a:t>
            </a:r>
          </a:p>
        </p:txBody>
      </p:sp>
      <p:sp>
        <p:nvSpPr>
          <p:cNvPr id="116" name="Chevron 115"/>
          <p:cNvSpPr/>
          <p:nvPr/>
        </p:nvSpPr>
        <p:spPr>
          <a:xfrm>
            <a:off x="14190562" y="13441681"/>
            <a:ext cx="2085758" cy="862583"/>
          </a:xfrm>
          <a:prstGeom prst="chevron">
            <a:avLst/>
          </a:prstGeom>
          <a:solidFill>
            <a:srgbClr val="F1FFF1"/>
          </a:solidFill>
          <a:ln w="9144">
            <a:solidFill>
              <a:srgbClr val="75C8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14586712" y="13495205"/>
            <a:ext cx="1387856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dirty="0">
                <a:solidFill>
                  <a:srgbClr val="006B82"/>
                </a:solidFill>
                <a:latin typeface="Arial"/>
              </a:rPr>
              <a:t>09</a:t>
            </a:r>
            <a:endParaRPr sz="1200" b="1" dirty="0">
              <a:solidFill>
                <a:srgbClr val="006B82"/>
              </a:solidFill>
              <a:latin typeface="Arial"/>
            </a:endParaRPr>
          </a:p>
        </p:txBody>
      </p:sp>
      <p:sp>
        <p:nvSpPr>
          <p:cNvPr id="118" name="TextBox 117"/>
          <p:cNvSpPr txBox="1"/>
          <p:nvPr/>
        </p:nvSpPr>
        <p:spPr>
          <a:xfrm>
            <a:off x="14706473" y="13845725"/>
            <a:ext cx="135128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dirty="0">
                <a:solidFill>
                  <a:srgbClr val="0D2B38"/>
                </a:solidFill>
                <a:latin typeface="Arial"/>
              </a:rPr>
              <a:t>Deployment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175119" y="14511065"/>
            <a:ext cx="5574561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dirty="0">
                <a:solidFill>
                  <a:srgbClr val="006B82"/>
                </a:solidFill>
                <a:latin typeface="Arial"/>
              </a:rPr>
              <a:t>SYSTEM ARCHITECTURE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627188" y="15026640"/>
            <a:ext cx="15133320" cy="5348431"/>
          </a:xfrm>
          <a:prstGeom prst="roundRect">
            <a:avLst/>
          </a:prstGeom>
          <a:solidFill>
            <a:srgbClr val="EEF9FC"/>
          </a:solidFill>
          <a:ln w="6096">
            <a:solidFill>
              <a:srgbClr val="D6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Rounded Rectangle 120"/>
          <p:cNvSpPr/>
          <p:nvPr/>
        </p:nvSpPr>
        <p:spPr>
          <a:xfrm>
            <a:off x="901508" y="15589711"/>
            <a:ext cx="4173322" cy="914400"/>
          </a:xfrm>
          <a:prstGeom prst="roundRect">
            <a:avLst/>
          </a:prstGeom>
          <a:solidFill>
            <a:srgbClr val="D8EAFB"/>
          </a:solidFill>
          <a:ln w="12192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901508" y="15779651"/>
            <a:ext cx="3899002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 dirty="0">
                <a:solidFill>
                  <a:srgbClr val="0D2B38"/>
                </a:solidFill>
                <a:latin typeface="Arial"/>
              </a:rPr>
              <a:t>External Weather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901508" y="17067991"/>
            <a:ext cx="4173322" cy="914400"/>
          </a:xfrm>
          <a:prstGeom prst="roundRect">
            <a:avLst/>
          </a:prstGeom>
          <a:solidFill>
            <a:srgbClr val="D8EAFB"/>
          </a:solidFill>
          <a:ln w="12192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901508" y="17307664"/>
            <a:ext cx="3899002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 dirty="0">
                <a:solidFill>
                  <a:srgbClr val="0D2B38"/>
                </a:solidFill>
                <a:latin typeface="Arial"/>
              </a:rPr>
              <a:t>Irrigation Plan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901508" y="18809208"/>
            <a:ext cx="4173324" cy="1047703"/>
          </a:xfrm>
          <a:prstGeom prst="roundRect">
            <a:avLst/>
          </a:prstGeom>
          <a:solidFill>
            <a:srgbClr val="D8EAFB"/>
          </a:solidFill>
          <a:ln w="12192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901508" y="19019676"/>
            <a:ext cx="3899002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 dirty="0">
                <a:solidFill>
                  <a:srgbClr val="0D2B38"/>
                </a:solidFill>
                <a:latin typeface="Arial"/>
              </a:rPr>
              <a:t>Current </a:t>
            </a:r>
            <a:r>
              <a:rPr lang="en-US" sz="2800" b="1" dirty="0">
                <a:solidFill>
                  <a:srgbClr val="0D2B38"/>
                </a:solidFill>
                <a:latin typeface="Arial"/>
              </a:rPr>
              <a:t>pH &amp; EC</a:t>
            </a:r>
            <a:endParaRPr sz="2800" b="1" dirty="0">
              <a:solidFill>
                <a:srgbClr val="0D2B38"/>
              </a:solidFill>
              <a:latin typeface="Arial"/>
            </a:endParaRPr>
          </a:p>
        </p:txBody>
      </p:sp>
      <p:sp>
        <p:nvSpPr>
          <p:cNvPr id="130" name="Rounded Rectangle 129"/>
          <p:cNvSpPr/>
          <p:nvPr/>
        </p:nvSpPr>
        <p:spPr>
          <a:xfrm>
            <a:off x="6616705" y="15589711"/>
            <a:ext cx="4173322" cy="914400"/>
          </a:xfrm>
          <a:prstGeom prst="roundRect">
            <a:avLst/>
          </a:prstGeom>
          <a:solidFill>
            <a:srgbClr val="DDF4E3"/>
          </a:solidFill>
          <a:ln w="12192">
            <a:solidFill>
              <a:srgbClr val="75C8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6763794" y="15779651"/>
            <a:ext cx="3899002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 dirty="0">
                <a:solidFill>
                  <a:srgbClr val="0D2B38"/>
                </a:solidFill>
                <a:latin typeface="Arial"/>
              </a:rPr>
              <a:t>Micro-Climate Model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11284891" y="15589711"/>
            <a:ext cx="4173322" cy="914400"/>
          </a:xfrm>
          <a:prstGeom prst="roundRect">
            <a:avLst/>
          </a:prstGeom>
          <a:solidFill>
            <a:srgbClr val="FFF0CE"/>
          </a:solidFill>
          <a:ln w="12192">
            <a:solidFill>
              <a:srgbClr val="E8A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11441492" y="15613796"/>
            <a:ext cx="3899002" cy="8617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 dirty="0">
                <a:solidFill>
                  <a:srgbClr val="0D2B38"/>
                </a:solidFill>
                <a:latin typeface="Arial"/>
              </a:rPr>
              <a:t>Predicted Internal Climate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11284891" y="17193768"/>
            <a:ext cx="4173322" cy="1093423"/>
          </a:xfrm>
          <a:prstGeom prst="roundRect">
            <a:avLst/>
          </a:prstGeom>
          <a:solidFill>
            <a:srgbClr val="D7F0EC"/>
          </a:solidFill>
          <a:ln w="12192">
            <a:solidFill>
              <a:srgbClr val="006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TextBox 136"/>
          <p:cNvSpPr txBox="1"/>
          <p:nvPr/>
        </p:nvSpPr>
        <p:spPr>
          <a:xfrm>
            <a:off x="11330932" y="17499688"/>
            <a:ext cx="3899002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 dirty="0">
                <a:solidFill>
                  <a:srgbClr val="0D2B38"/>
                </a:solidFill>
                <a:latin typeface="Arial"/>
              </a:rPr>
              <a:t>Rootzone Model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11284891" y="18790111"/>
            <a:ext cx="4173322" cy="1066800"/>
          </a:xfrm>
          <a:prstGeom prst="roundRect">
            <a:avLst/>
          </a:prstGeom>
          <a:solidFill>
            <a:srgbClr val="FCE0D9"/>
          </a:solidFill>
          <a:ln w="12192">
            <a:solidFill>
              <a:srgbClr val="ED7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TextBox 139"/>
          <p:cNvSpPr txBox="1"/>
          <p:nvPr/>
        </p:nvSpPr>
        <p:spPr>
          <a:xfrm>
            <a:off x="11264708" y="19068288"/>
            <a:ext cx="3899002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 dirty="0">
                <a:solidFill>
                  <a:srgbClr val="0D2B38"/>
                </a:solidFill>
                <a:latin typeface="Arial"/>
              </a:rPr>
              <a:t>Prediction</a:t>
            </a:r>
          </a:p>
        </p:txBody>
      </p:sp>
      <p:sp>
        <p:nvSpPr>
          <p:cNvPr id="142" name="Right Arrow 141"/>
          <p:cNvSpPr/>
          <p:nvPr/>
        </p:nvSpPr>
        <p:spPr>
          <a:xfrm>
            <a:off x="5074831" y="15995095"/>
            <a:ext cx="1541874" cy="103632"/>
          </a:xfrm>
          <a:prstGeom prst="rightArrow">
            <a:avLst/>
          </a:prstGeom>
          <a:solidFill>
            <a:srgbClr val="0D2B38"/>
          </a:solidFill>
          <a:ln w="3048">
            <a:solidFill>
              <a:srgbClr val="0D2B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Right Arrow 142"/>
          <p:cNvSpPr/>
          <p:nvPr/>
        </p:nvSpPr>
        <p:spPr>
          <a:xfrm>
            <a:off x="10790027" y="15995095"/>
            <a:ext cx="480784" cy="103632"/>
          </a:xfrm>
          <a:prstGeom prst="rightArrow">
            <a:avLst/>
          </a:prstGeom>
          <a:solidFill>
            <a:srgbClr val="0D2B38"/>
          </a:solidFill>
          <a:ln w="3048">
            <a:solidFill>
              <a:srgbClr val="0D2B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Down Arrow 143"/>
          <p:cNvSpPr/>
          <p:nvPr/>
        </p:nvSpPr>
        <p:spPr>
          <a:xfrm>
            <a:off x="13300831" y="16504111"/>
            <a:ext cx="164592" cy="685800"/>
          </a:xfrm>
          <a:prstGeom prst="downArrow">
            <a:avLst/>
          </a:prstGeom>
          <a:solidFill>
            <a:srgbClr val="0D2B38"/>
          </a:solidFill>
          <a:ln w="3048">
            <a:solidFill>
              <a:srgbClr val="0D2B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45" name="Connector 144"/>
          <p:cNvCxnSpPr>
            <a:cxnSpLocks/>
            <a:stCxn id="124" idx="3"/>
          </p:cNvCxnSpPr>
          <p:nvPr/>
        </p:nvCxnSpPr>
        <p:spPr>
          <a:xfrm>
            <a:off x="5074830" y="17525191"/>
            <a:ext cx="6189878" cy="0"/>
          </a:xfrm>
          <a:prstGeom prst="line">
            <a:avLst/>
          </a:prstGeom>
          <a:ln w="27432">
            <a:solidFill>
              <a:srgbClr val="0D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Right Arrow 145"/>
          <p:cNvSpPr/>
          <p:nvPr/>
        </p:nvSpPr>
        <p:spPr>
          <a:xfrm>
            <a:off x="10824520" y="17452848"/>
            <a:ext cx="447446" cy="121920"/>
          </a:xfrm>
          <a:prstGeom prst="rightArrow">
            <a:avLst/>
          </a:prstGeom>
          <a:solidFill>
            <a:srgbClr val="0D2B38"/>
          </a:solidFill>
          <a:ln w="3048">
            <a:solidFill>
              <a:srgbClr val="0D2B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47" name="Connector 146"/>
          <p:cNvCxnSpPr>
            <a:cxnSpLocks/>
          </p:cNvCxnSpPr>
          <p:nvPr/>
        </p:nvCxnSpPr>
        <p:spPr>
          <a:xfrm>
            <a:off x="5074830" y="19408589"/>
            <a:ext cx="3431438" cy="0"/>
          </a:xfrm>
          <a:prstGeom prst="line">
            <a:avLst/>
          </a:prstGeom>
          <a:ln w="27432">
            <a:solidFill>
              <a:srgbClr val="0D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" name="Right Arrow 147"/>
          <p:cNvSpPr/>
          <p:nvPr/>
        </p:nvSpPr>
        <p:spPr>
          <a:xfrm>
            <a:off x="10834940" y="17930575"/>
            <a:ext cx="447446" cy="128016"/>
          </a:xfrm>
          <a:prstGeom prst="rightArrow">
            <a:avLst/>
          </a:prstGeom>
          <a:solidFill>
            <a:srgbClr val="0D2B38"/>
          </a:solidFill>
          <a:ln w="3048">
            <a:solidFill>
              <a:srgbClr val="0D2B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Down Arrow 148"/>
          <p:cNvSpPr/>
          <p:nvPr/>
        </p:nvSpPr>
        <p:spPr>
          <a:xfrm>
            <a:off x="13311135" y="18310051"/>
            <a:ext cx="164592" cy="472440"/>
          </a:xfrm>
          <a:prstGeom prst="downArrow">
            <a:avLst/>
          </a:prstGeom>
          <a:solidFill>
            <a:srgbClr val="0D2B38"/>
          </a:solidFill>
          <a:ln w="3048">
            <a:solidFill>
              <a:srgbClr val="0D2B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Rounded Rectangle 149"/>
          <p:cNvSpPr/>
          <p:nvPr/>
        </p:nvSpPr>
        <p:spPr>
          <a:xfrm>
            <a:off x="16717108" y="11460480"/>
            <a:ext cx="8034176" cy="14480000"/>
          </a:xfrm>
          <a:prstGeom prst="roundRect">
            <a:avLst/>
          </a:prstGeom>
          <a:solidFill>
            <a:srgbClr val="FFFFFF"/>
          </a:solidFill>
          <a:ln w="18288">
            <a:solidFill>
              <a:srgbClr val="9FD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Oval 150"/>
          <p:cNvSpPr/>
          <p:nvPr/>
        </p:nvSpPr>
        <p:spPr>
          <a:xfrm>
            <a:off x="17068800" y="11856720"/>
            <a:ext cx="822960" cy="82296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17068800" y="11856720"/>
            <a:ext cx="82296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8118531" y="11774983"/>
            <a:ext cx="7010400" cy="1107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600" b="1" dirty="0">
                <a:solidFill>
                  <a:srgbClr val="006B82"/>
                </a:solidFill>
                <a:latin typeface="Arial"/>
              </a:rPr>
              <a:t>Model Development &amp; Validation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7177004" y="12969311"/>
            <a:ext cx="757428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0D2B38"/>
                </a:solidFill>
                <a:latin typeface="Arial"/>
              </a:rPr>
              <a:t>Validation separates future testing, skipped intervals, and hybrid model behavior.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7162461" y="13670666"/>
            <a:ext cx="6638544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dirty="0">
                <a:solidFill>
                  <a:srgbClr val="006B82"/>
                </a:solidFill>
                <a:latin typeface="Arial"/>
              </a:rPr>
              <a:t>WALK-FORWARD STAIRCASE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17152742" y="14261223"/>
            <a:ext cx="3167624" cy="474371"/>
          </a:xfrm>
          <a:prstGeom prst="roundRect">
            <a:avLst/>
          </a:prstGeom>
          <a:solidFill>
            <a:srgbClr val="CFF4FA"/>
          </a:solidFill>
          <a:ln w="6096">
            <a:solidFill>
              <a:srgbClr val="8CD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TextBox 156"/>
          <p:cNvSpPr txBox="1"/>
          <p:nvPr/>
        </p:nvSpPr>
        <p:spPr>
          <a:xfrm>
            <a:off x="17386554" y="14318677"/>
            <a:ext cx="2163318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006B82"/>
                </a:solidFill>
                <a:latin typeface="Arial"/>
              </a:rPr>
              <a:t>Train 1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20445000" y="14261223"/>
            <a:ext cx="1000000" cy="474371"/>
          </a:xfrm>
          <a:prstGeom prst="roundRect">
            <a:avLst/>
          </a:prstGeom>
          <a:solidFill>
            <a:srgbClr val="1976D2"/>
          </a:solidFill>
          <a:ln w="6096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TextBox 158"/>
          <p:cNvSpPr txBox="1"/>
          <p:nvPr/>
        </p:nvSpPr>
        <p:spPr>
          <a:xfrm>
            <a:off x="20445000" y="14354520"/>
            <a:ext cx="10000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FFFFFF"/>
                </a:solidFill>
              </a:rPr>
              <a:t>Test 1</a:t>
            </a:r>
            <a:endParaRPr sz="36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" name="Rounded Rectangle 159"/>
          <p:cNvSpPr/>
          <p:nvPr/>
        </p:nvSpPr>
        <p:spPr>
          <a:xfrm>
            <a:off x="17152742" y="14858750"/>
            <a:ext cx="4149730" cy="487930"/>
          </a:xfrm>
          <a:prstGeom prst="roundRect">
            <a:avLst/>
          </a:prstGeom>
          <a:solidFill>
            <a:srgbClr val="CFF4FA"/>
          </a:solidFill>
          <a:ln w="6096">
            <a:solidFill>
              <a:srgbClr val="8CD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TextBox 160"/>
          <p:cNvSpPr txBox="1"/>
          <p:nvPr/>
        </p:nvSpPr>
        <p:spPr>
          <a:xfrm>
            <a:off x="18068544" y="14947977"/>
            <a:ext cx="2145792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006B82"/>
                </a:solidFill>
                <a:latin typeface="Arial"/>
              </a:rPr>
              <a:t>Train 1-2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21460000" y="14858750"/>
            <a:ext cx="1000000" cy="492582"/>
          </a:xfrm>
          <a:prstGeom prst="roundRect">
            <a:avLst/>
          </a:prstGeom>
          <a:solidFill>
            <a:srgbClr val="1976D2"/>
          </a:solidFill>
          <a:ln w="6096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TextBox 162"/>
          <p:cNvSpPr txBox="1"/>
          <p:nvPr/>
        </p:nvSpPr>
        <p:spPr>
          <a:xfrm>
            <a:off x="21460000" y="14961153"/>
            <a:ext cx="10000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FFFFFF"/>
                </a:solidFill>
              </a:rPr>
              <a:t>Test 2</a:t>
            </a:r>
            <a:endParaRPr sz="36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" name="Rounded Rectangle 163"/>
          <p:cNvSpPr/>
          <p:nvPr/>
        </p:nvSpPr>
        <p:spPr>
          <a:xfrm>
            <a:off x="17188668" y="15462595"/>
            <a:ext cx="5525636" cy="532500"/>
          </a:xfrm>
          <a:prstGeom prst="roundRect">
            <a:avLst/>
          </a:prstGeom>
          <a:solidFill>
            <a:srgbClr val="CFF4FA"/>
          </a:solidFill>
          <a:ln w="6096">
            <a:solidFill>
              <a:srgbClr val="8CD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TextBox 164"/>
          <p:cNvSpPr txBox="1"/>
          <p:nvPr/>
        </p:nvSpPr>
        <p:spPr>
          <a:xfrm>
            <a:off x="17728692" y="15585542"/>
            <a:ext cx="398191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006B82"/>
                </a:solidFill>
                <a:latin typeface="Arial"/>
              </a:rPr>
              <a:t>Train 1-3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22800000" y="15465893"/>
            <a:ext cx="1000000" cy="529202"/>
          </a:xfrm>
          <a:prstGeom prst="roundRect">
            <a:avLst/>
          </a:prstGeom>
          <a:solidFill>
            <a:srgbClr val="1976D2"/>
          </a:solidFill>
          <a:ln w="6096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TextBox 166"/>
          <p:cNvSpPr txBox="1"/>
          <p:nvPr/>
        </p:nvSpPr>
        <p:spPr>
          <a:xfrm>
            <a:off x="22800000" y="15586606"/>
            <a:ext cx="10000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</a:rPr>
              <a:t>Test 3</a:t>
            </a:r>
            <a:endParaRPr sz="36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" name="TextBox 171"/>
          <p:cNvSpPr txBox="1"/>
          <p:nvPr/>
        </p:nvSpPr>
        <p:spPr>
          <a:xfrm>
            <a:off x="17188668" y="16520163"/>
            <a:ext cx="6638544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dirty="0">
                <a:solidFill>
                  <a:srgbClr val="006B82"/>
                </a:solidFill>
                <a:latin typeface="Arial"/>
              </a:rPr>
              <a:t>SKIPPED-INTERVAL HOLDOUT</a:t>
            </a:r>
          </a:p>
        </p:txBody>
      </p:sp>
      <p:sp>
        <p:nvSpPr>
          <p:cNvPr id="173" name="Rounded Rectangle 172"/>
          <p:cNvSpPr/>
          <p:nvPr/>
        </p:nvSpPr>
        <p:spPr>
          <a:xfrm>
            <a:off x="17131406" y="17105223"/>
            <a:ext cx="6695806" cy="864823"/>
          </a:xfrm>
          <a:prstGeom prst="roundRect">
            <a:avLst/>
          </a:prstGeom>
          <a:solidFill>
            <a:srgbClr val="DDF7FC"/>
          </a:solidFill>
          <a:ln w="9144">
            <a:solidFill>
              <a:srgbClr val="9FD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Rounded Rectangle 173"/>
          <p:cNvSpPr/>
          <p:nvPr/>
        </p:nvSpPr>
        <p:spPr>
          <a:xfrm>
            <a:off x="17204558" y="17242384"/>
            <a:ext cx="588419" cy="455170"/>
          </a:xfrm>
          <a:prstGeom prst="roundRect">
            <a:avLst/>
          </a:prstGeom>
          <a:solidFill>
            <a:srgbClr val="006276"/>
          </a:solidFill>
          <a:ln w="3048">
            <a:solidFill>
              <a:srgbClr val="006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Rounded Rectangle 174"/>
          <p:cNvSpPr/>
          <p:nvPr/>
        </p:nvSpPr>
        <p:spPr>
          <a:xfrm>
            <a:off x="17861097" y="17242384"/>
            <a:ext cx="588419" cy="455170"/>
          </a:xfrm>
          <a:prstGeom prst="roundRect">
            <a:avLst/>
          </a:prstGeom>
          <a:solidFill>
            <a:srgbClr val="006276"/>
          </a:solidFill>
          <a:ln w="3048">
            <a:solidFill>
              <a:srgbClr val="006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Rounded Rectangle 175"/>
          <p:cNvSpPr/>
          <p:nvPr/>
        </p:nvSpPr>
        <p:spPr>
          <a:xfrm>
            <a:off x="18517636" y="17242384"/>
            <a:ext cx="588419" cy="455170"/>
          </a:xfrm>
          <a:prstGeom prst="roundRect">
            <a:avLst/>
          </a:prstGeom>
          <a:solidFill>
            <a:srgbClr val="A6C946"/>
          </a:solidFill>
          <a:ln w="3048">
            <a:solidFill>
              <a:srgbClr val="A6C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Rounded Rectangle 176"/>
          <p:cNvSpPr/>
          <p:nvPr/>
        </p:nvSpPr>
        <p:spPr>
          <a:xfrm>
            <a:off x="19174176" y="17242384"/>
            <a:ext cx="588419" cy="455170"/>
          </a:xfrm>
          <a:prstGeom prst="roundRect">
            <a:avLst/>
          </a:prstGeom>
          <a:solidFill>
            <a:srgbClr val="006276"/>
          </a:solidFill>
          <a:ln w="3048">
            <a:solidFill>
              <a:srgbClr val="006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Rounded Rectangle 177"/>
          <p:cNvSpPr/>
          <p:nvPr/>
        </p:nvSpPr>
        <p:spPr>
          <a:xfrm>
            <a:off x="19830715" y="17242384"/>
            <a:ext cx="588419" cy="455170"/>
          </a:xfrm>
          <a:prstGeom prst="roundRect">
            <a:avLst/>
          </a:prstGeom>
          <a:solidFill>
            <a:srgbClr val="006276"/>
          </a:solidFill>
          <a:ln w="3048">
            <a:solidFill>
              <a:srgbClr val="006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Rounded Rectangle 178"/>
          <p:cNvSpPr/>
          <p:nvPr/>
        </p:nvSpPr>
        <p:spPr>
          <a:xfrm>
            <a:off x="20487254" y="17242384"/>
            <a:ext cx="588419" cy="455170"/>
          </a:xfrm>
          <a:prstGeom prst="roundRect">
            <a:avLst/>
          </a:prstGeom>
          <a:solidFill>
            <a:srgbClr val="006276"/>
          </a:solidFill>
          <a:ln w="3048">
            <a:solidFill>
              <a:srgbClr val="006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Rounded Rectangle 179"/>
          <p:cNvSpPr/>
          <p:nvPr/>
        </p:nvSpPr>
        <p:spPr>
          <a:xfrm>
            <a:off x="21143793" y="17242384"/>
            <a:ext cx="588419" cy="455170"/>
          </a:xfrm>
          <a:prstGeom prst="roundRect">
            <a:avLst/>
          </a:prstGeom>
          <a:solidFill>
            <a:srgbClr val="A6C946"/>
          </a:solidFill>
          <a:ln w="3048">
            <a:solidFill>
              <a:srgbClr val="A6C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Rounded Rectangle 180"/>
          <p:cNvSpPr/>
          <p:nvPr/>
        </p:nvSpPr>
        <p:spPr>
          <a:xfrm>
            <a:off x="21800332" y="17242384"/>
            <a:ext cx="588419" cy="455170"/>
          </a:xfrm>
          <a:prstGeom prst="roundRect">
            <a:avLst/>
          </a:prstGeom>
          <a:solidFill>
            <a:srgbClr val="006276"/>
          </a:solidFill>
          <a:ln w="3048">
            <a:solidFill>
              <a:srgbClr val="006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Rounded Rectangle 181"/>
          <p:cNvSpPr/>
          <p:nvPr/>
        </p:nvSpPr>
        <p:spPr>
          <a:xfrm>
            <a:off x="22456872" y="17242384"/>
            <a:ext cx="588419" cy="455170"/>
          </a:xfrm>
          <a:prstGeom prst="roundRect">
            <a:avLst/>
          </a:prstGeom>
          <a:solidFill>
            <a:srgbClr val="A6C946"/>
          </a:solidFill>
          <a:ln w="3048">
            <a:solidFill>
              <a:srgbClr val="A6C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3" name="Rounded Rectangle 182"/>
          <p:cNvSpPr/>
          <p:nvPr/>
        </p:nvSpPr>
        <p:spPr>
          <a:xfrm>
            <a:off x="23113411" y="17242384"/>
            <a:ext cx="588419" cy="455170"/>
          </a:xfrm>
          <a:prstGeom prst="roundRect">
            <a:avLst/>
          </a:prstGeom>
          <a:solidFill>
            <a:srgbClr val="006276"/>
          </a:solidFill>
          <a:ln w="3048">
            <a:solidFill>
              <a:srgbClr val="006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TextBox 183"/>
          <p:cNvSpPr txBox="1"/>
          <p:nvPr/>
        </p:nvSpPr>
        <p:spPr>
          <a:xfrm>
            <a:off x="17260824" y="18151587"/>
            <a:ext cx="6638544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latin typeface="Arial"/>
              </a:rPr>
              <a:t>Hold out labeled intervals, then predict them later.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17221404" y="18936275"/>
            <a:ext cx="6638544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dirty="0">
                <a:solidFill>
                  <a:srgbClr val="006E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ROOTZONE HYBRID MODEL</a:t>
            </a:r>
          </a:p>
        </p:txBody>
      </p:sp>
      <p:sp>
        <p:nvSpPr>
          <p:cNvPr id="186" name="Rounded Rectangle 185"/>
          <p:cNvSpPr/>
          <p:nvPr/>
        </p:nvSpPr>
        <p:spPr>
          <a:xfrm>
            <a:off x="17131406" y="19525680"/>
            <a:ext cx="3520000" cy="1380000"/>
          </a:xfrm>
          <a:prstGeom prst="roundRect">
            <a:avLst/>
          </a:prstGeom>
          <a:solidFill>
            <a:srgbClr val="F7FDFF"/>
          </a:solidFill>
          <a:ln w="9144">
            <a:solidFill>
              <a:srgbClr val="9FD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7" name="TextBox 186"/>
          <p:cNvSpPr txBox="1"/>
          <p:nvPr/>
        </p:nvSpPr>
        <p:spPr>
          <a:xfrm>
            <a:off x="17260000" y="19580238"/>
            <a:ext cx="310000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dirty="0">
                <a:solidFill>
                  <a:srgbClr val="006E80"/>
                </a:solidFill>
              </a:rPr>
              <a:t>Robust linear model</a:t>
            </a:r>
          </a:p>
        </p:txBody>
      </p:sp>
      <p:sp>
        <p:nvSpPr>
          <p:cNvPr id="189" name="Rounded Rectangle 188"/>
          <p:cNvSpPr/>
          <p:nvPr/>
        </p:nvSpPr>
        <p:spPr>
          <a:xfrm>
            <a:off x="20799000" y="19525680"/>
            <a:ext cx="3520000" cy="1380000"/>
          </a:xfrm>
          <a:prstGeom prst="roundRect">
            <a:avLst/>
          </a:prstGeom>
          <a:solidFill>
            <a:srgbClr val="F4FCEB"/>
          </a:solidFill>
          <a:ln w="9144">
            <a:solidFill>
              <a:srgbClr val="75C8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0" name="TextBox 189"/>
          <p:cNvSpPr txBox="1"/>
          <p:nvPr/>
        </p:nvSpPr>
        <p:spPr>
          <a:xfrm>
            <a:off x="20868720" y="19577075"/>
            <a:ext cx="3572224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dirty="0">
                <a:solidFill>
                  <a:srgbClr val="2E7D32"/>
                </a:solidFill>
              </a:rPr>
              <a:t>Gradient boosted trees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17260000" y="19975680"/>
            <a:ext cx="3100000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4C6775"/>
                </a:solidFill>
              </a:rPr>
              <a:t>Handles extrapolation</a:t>
            </a:r>
          </a:p>
          <a:p>
            <a:pPr algn="l">
              <a:lnSpc>
                <a:spcPct val="90000"/>
              </a:lnSpc>
            </a:pPr>
            <a:r>
              <a:rPr sz="2000" b="1" dirty="0">
                <a:solidFill>
                  <a:srgbClr val="4C6775"/>
                </a:solidFill>
              </a:rPr>
              <a:t>beyond nearby manual samples.</a:t>
            </a:r>
          </a:p>
        </p:txBody>
      </p:sp>
      <p:cxnSp>
        <p:nvCxnSpPr>
          <p:cNvPr id="192" name="Connector 191"/>
          <p:cNvCxnSpPr>
            <a:cxnSpLocks/>
            <a:stCxn id="186" idx="2"/>
            <a:endCxn id="194" idx="0"/>
          </p:cNvCxnSpPr>
          <p:nvPr/>
        </p:nvCxnSpPr>
        <p:spPr>
          <a:xfrm>
            <a:off x="18891406" y="20905680"/>
            <a:ext cx="1821484" cy="1361099"/>
          </a:xfrm>
          <a:prstGeom prst="line">
            <a:avLst/>
          </a:prstGeom>
          <a:ln w="18288">
            <a:solidFill>
              <a:srgbClr val="006B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>
            <a:cxnSpLocks/>
            <a:endCxn id="194" idx="0"/>
          </p:cNvCxnSpPr>
          <p:nvPr/>
        </p:nvCxnSpPr>
        <p:spPr>
          <a:xfrm flipH="1">
            <a:off x="20712890" y="20895680"/>
            <a:ext cx="1667050" cy="1371099"/>
          </a:xfrm>
          <a:prstGeom prst="line">
            <a:avLst/>
          </a:prstGeom>
          <a:ln w="18288">
            <a:solidFill>
              <a:srgbClr val="75C8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4" name="Rounded Rectangle 193"/>
          <p:cNvSpPr/>
          <p:nvPr/>
        </p:nvSpPr>
        <p:spPr>
          <a:xfrm>
            <a:off x="17576292" y="22266779"/>
            <a:ext cx="6273196" cy="2060221"/>
          </a:xfrm>
          <a:prstGeom prst="roundRect">
            <a:avLst/>
          </a:prstGeom>
          <a:solidFill>
            <a:srgbClr val="006276"/>
          </a:solidFill>
          <a:ln w="6096">
            <a:solidFill>
              <a:srgbClr val="006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5" name="TextBox 194"/>
          <p:cNvSpPr txBox="1"/>
          <p:nvPr/>
        </p:nvSpPr>
        <p:spPr>
          <a:xfrm>
            <a:off x="18365236" y="22892202"/>
            <a:ext cx="4708124" cy="77559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dirty="0">
                <a:solidFill>
                  <a:srgbClr val="FFFFFF"/>
                </a:solidFill>
              </a:rPr>
              <a:t>Hybrid rootzone soft sensor</a:t>
            </a:r>
          </a:p>
          <a:p>
            <a:pPr algn="ctr">
              <a:lnSpc>
                <a:spcPct val="90000"/>
              </a:lnSpc>
            </a:pPr>
            <a:r>
              <a:rPr sz="2800" b="1" dirty="0">
                <a:solidFill>
                  <a:srgbClr val="FFFFFF"/>
                </a:solidFill>
              </a:rPr>
              <a:t>pH(t) + EC(t)</a:t>
            </a:r>
          </a:p>
        </p:txBody>
      </p:sp>
      <p:sp>
        <p:nvSpPr>
          <p:cNvPr id="196" name="Rounded Rectangle 195"/>
          <p:cNvSpPr/>
          <p:nvPr/>
        </p:nvSpPr>
        <p:spPr>
          <a:xfrm>
            <a:off x="198120" y="21124985"/>
            <a:ext cx="16182879" cy="14112753"/>
          </a:xfrm>
          <a:prstGeom prst="roundRect">
            <a:avLst/>
          </a:prstGeom>
          <a:solidFill>
            <a:srgbClr val="FFFFFF"/>
          </a:solidFill>
          <a:ln w="18288">
            <a:solidFill>
              <a:srgbClr val="9FD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7" name="Oval 196"/>
          <p:cNvSpPr/>
          <p:nvPr/>
        </p:nvSpPr>
        <p:spPr>
          <a:xfrm>
            <a:off x="1143000" y="21579840"/>
            <a:ext cx="822960" cy="82296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8" name="TextBox 197"/>
          <p:cNvSpPr txBox="1"/>
          <p:nvPr/>
        </p:nvSpPr>
        <p:spPr>
          <a:xfrm>
            <a:off x="1143000" y="21831698"/>
            <a:ext cx="780840" cy="3539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00" b="1" dirty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2130319" y="21712781"/>
            <a:ext cx="13473228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dirty="0">
                <a:solidFill>
                  <a:srgbClr val="006B82"/>
                </a:solidFill>
                <a:latin typeface="Arial"/>
              </a:rPr>
              <a:t>Results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1173480" y="22418040"/>
            <a:ext cx="14800000" cy="350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0F2B37"/>
                </a:solidFill>
                <a:latin typeface="Arial"/>
              </a:rPr>
              <a:t>Wide walk-forward traces from export data: actual and predicted.</a:t>
            </a:r>
          </a:p>
        </p:txBody>
      </p:sp>
      <p:sp>
        <p:nvSpPr>
          <p:cNvPr id="201" name="Rounded Rectangle 200"/>
          <p:cNvSpPr/>
          <p:nvPr/>
        </p:nvSpPr>
        <p:spPr>
          <a:xfrm>
            <a:off x="1173480" y="23042880"/>
            <a:ext cx="7150000" cy="1356360"/>
          </a:xfrm>
          <a:prstGeom prst="roundRect">
            <a:avLst/>
          </a:prstGeom>
          <a:solidFill>
            <a:srgbClr val="F8FDFF"/>
          </a:solidFill>
          <a:ln w="12192">
            <a:solidFill>
              <a:srgbClr val="006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2" name="Oval 201"/>
          <p:cNvSpPr/>
          <p:nvPr/>
        </p:nvSpPr>
        <p:spPr>
          <a:xfrm>
            <a:off x="1417320" y="23229520"/>
            <a:ext cx="365760" cy="365760"/>
          </a:xfrm>
          <a:prstGeom prst="ellipse">
            <a:avLst/>
          </a:prstGeom>
          <a:solidFill>
            <a:srgbClr val="006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3" name="TextBox 202"/>
          <p:cNvSpPr txBox="1"/>
          <p:nvPr/>
        </p:nvSpPr>
        <p:spPr>
          <a:xfrm>
            <a:off x="1889760" y="23118002"/>
            <a:ext cx="975360" cy="553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006E80"/>
                </a:solidFill>
              </a:rPr>
              <a:t>pH</a:t>
            </a:r>
          </a:p>
        </p:txBody>
      </p:sp>
      <p:sp>
        <p:nvSpPr>
          <p:cNvPr id="204" name="Rounded Rectangle 203"/>
          <p:cNvSpPr/>
          <p:nvPr/>
        </p:nvSpPr>
        <p:spPr>
          <a:xfrm>
            <a:off x="1417320" y="23672000"/>
            <a:ext cx="2050000" cy="655000"/>
          </a:xfrm>
          <a:prstGeom prst="roundRect">
            <a:avLst/>
          </a:prstGeom>
          <a:solidFill>
            <a:srgbClr val="F2FBFE"/>
          </a:solidFill>
          <a:ln w="12192">
            <a:solidFill>
              <a:srgbClr val="006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5" name="TextBox 204"/>
              <p:cNvSpPr txBox="1"/>
              <p:nvPr/>
            </p:nvSpPr>
            <p:spPr>
              <a:xfrm>
                <a:off x="1417320" y="23710417"/>
                <a:ext cx="2050000" cy="323165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e-IL" sz="2100" b="1" i="1" dirty="0" smtClean="0">
                          <a:solidFill>
                            <a:srgbClr val="006E8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he-IL" sz="2100" b="1" i="1" dirty="0" smtClean="0">
                          <a:solidFill>
                            <a:srgbClr val="006E8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he-IL" sz="2100" b="1" i="1" dirty="0" smtClean="0">
                          <a:solidFill>
                            <a:srgbClr val="006E80"/>
                          </a:solidFill>
                          <a:latin typeface="Cambria Math" panose="02040503050406030204" pitchFamily="18" charset="0"/>
                        </a:rPr>
                        <m:t>𝟑𝟑𝟎</m:t>
                      </m:r>
                    </m:oMath>
                  </m:oMathPara>
                </a14:m>
                <a:endParaRPr sz="2100" b="1" dirty="0">
                  <a:solidFill>
                    <a:srgbClr val="006E80"/>
                  </a:solidFill>
                </a:endParaRPr>
              </a:p>
            </p:txBody>
          </p:sp>
        </mc:Choice>
        <mc:Fallback>
          <p:sp>
            <p:nvSpPr>
              <p:cNvPr id="205" name="TextBox 20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7320" y="23710417"/>
                <a:ext cx="2050000" cy="323165"/>
              </a:xfrm>
              <a:prstGeom prst="rect">
                <a:avLst/>
              </a:prstGeom>
              <a:blipFill>
                <a:blip r:embed="rId4"/>
                <a:stretch>
                  <a:fillRect b="-5660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6" name="TextBox 205"/>
          <p:cNvSpPr txBox="1"/>
          <p:nvPr/>
        </p:nvSpPr>
        <p:spPr>
          <a:xfrm>
            <a:off x="1417320" y="23996113"/>
            <a:ext cx="20500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133545"/>
                </a:solidFill>
              </a:rPr>
              <a:t>MAE</a:t>
            </a:r>
          </a:p>
        </p:txBody>
      </p:sp>
      <p:sp>
        <p:nvSpPr>
          <p:cNvPr id="207" name="Rounded Rectangle 206"/>
          <p:cNvSpPr/>
          <p:nvPr/>
        </p:nvSpPr>
        <p:spPr>
          <a:xfrm>
            <a:off x="3727320" y="23672000"/>
            <a:ext cx="2050000" cy="655000"/>
          </a:xfrm>
          <a:prstGeom prst="roundRect">
            <a:avLst/>
          </a:prstGeom>
          <a:solidFill>
            <a:srgbClr val="F2FBFE"/>
          </a:solidFill>
          <a:ln w="12192">
            <a:solidFill>
              <a:srgbClr val="006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8" name="TextBox 207"/>
              <p:cNvSpPr txBox="1"/>
              <p:nvPr/>
            </p:nvSpPr>
            <p:spPr>
              <a:xfrm>
                <a:off x="3727320" y="23710417"/>
                <a:ext cx="2050000" cy="323165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e-IL" sz="2100" b="1" i="1" dirty="0" smtClean="0">
                          <a:solidFill>
                            <a:srgbClr val="006E8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he-IL" sz="2100" b="1" i="1" dirty="0" smtClean="0">
                          <a:solidFill>
                            <a:srgbClr val="006E8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he-IL" sz="2100" b="1" i="1" dirty="0" smtClean="0">
                          <a:solidFill>
                            <a:srgbClr val="006E80"/>
                          </a:solidFill>
                          <a:latin typeface="Cambria Math" panose="02040503050406030204" pitchFamily="18" charset="0"/>
                        </a:rPr>
                        <m:t>𝟗𝟑𝟐</m:t>
                      </m:r>
                    </m:oMath>
                  </m:oMathPara>
                </a14:m>
                <a:endParaRPr sz="2100" b="1" dirty="0">
                  <a:solidFill>
                    <a:srgbClr val="006E80"/>
                  </a:solidFill>
                </a:endParaRPr>
              </a:p>
            </p:txBody>
          </p:sp>
        </mc:Choice>
        <mc:Fallback>
          <p:sp>
            <p:nvSpPr>
              <p:cNvPr id="208" name="TextBox 20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7320" y="23710417"/>
                <a:ext cx="2050000" cy="323165"/>
              </a:xfrm>
              <a:prstGeom prst="rect">
                <a:avLst/>
              </a:prstGeom>
              <a:blipFill>
                <a:blip r:embed="rId5"/>
                <a:stretch>
                  <a:fillRect b="-5660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9" name="TextBox 208"/>
              <p:cNvSpPr txBox="1"/>
              <p:nvPr/>
            </p:nvSpPr>
            <p:spPr>
              <a:xfrm>
                <a:off x="3617820" y="23992619"/>
                <a:ext cx="2417064" cy="314766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he-IL" sz="2000" b="1" i="1" dirty="0" smtClean="0">
                              <a:solidFill>
                                <a:srgbClr val="13354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he-IL" sz="2000" b="1" i="1" dirty="0" smtClean="0">
                              <a:solidFill>
                                <a:srgbClr val="133545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p>
                          <m:r>
                            <a:rPr lang="he-IL" sz="2000" b="1" i="1" dirty="0" smtClean="0">
                              <a:solidFill>
                                <a:srgbClr val="133545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he-IL" sz="2000" b="1" dirty="0">
                  <a:solidFill>
                    <a:srgbClr val="133545"/>
                  </a:solidFill>
                </a:endParaRPr>
              </a:p>
            </p:txBody>
          </p:sp>
        </mc:Choice>
        <mc:Fallback xmlns="">
          <p:sp>
            <p:nvSpPr>
              <p:cNvPr id="209" name="TextBox 20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7820" y="23992619"/>
                <a:ext cx="2417064" cy="314766"/>
              </a:xfrm>
              <a:prstGeom prst="rect">
                <a:avLst/>
              </a:prstGeom>
              <a:blipFill>
                <a:blip r:embed="rId6"/>
                <a:stretch>
                  <a:fillRect b="-11765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0" name="Rounded Rectangle 209"/>
          <p:cNvSpPr/>
          <p:nvPr/>
        </p:nvSpPr>
        <p:spPr>
          <a:xfrm>
            <a:off x="6037320" y="23672000"/>
            <a:ext cx="2050000" cy="655000"/>
          </a:xfrm>
          <a:prstGeom prst="roundRect">
            <a:avLst/>
          </a:prstGeom>
          <a:solidFill>
            <a:srgbClr val="F2FBFE"/>
          </a:solidFill>
          <a:ln w="12192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1" name="TextBox 210"/>
              <p:cNvSpPr txBox="1"/>
              <p:nvPr/>
            </p:nvSpPr>
            <p:spPr>
              <a:xfrm>
                <a:off x="6037320" y="23710417"/>
                <a:ext cx="2050000" cy="323165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e-IL" sz="2100" b="1" i="1" dirty="0" smtClean="0">
                          <a:solidFill>
                            <a:srgbClr val="1D75D8"/>
                          </a:solidFill>
                          <a:latin typeface="Cambria Math" panose="02040503050406030204" pitchFamily="18" charset="0"/>
                        </a:rPr>
                        <m:t>𝟔𝟐</m:t>
                      </m:r>
                      <m:r>
                        <a:rPr lang="he-IL" sz="2100" b="1" i="1" dirty="0" smtClean="0">
                          <a:solidFill>
                            <a:srgbClr val="1D75D8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he-IL" sz="2100" b="1" i="1" dirty="0" smtClean="0">
                          <a:solidFill>
                            <a:srgbClr val="1D75D8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he-IL" sz="2100" b="1" i="1" dirty="0" smtClean="0">
                          <a:solidFill>
                            <a:srgbClr val="1D75D8"/>
                          </a:solidFill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sz="2100" b="1" dirty="0">
                  <a:solidFill>
                    <a:srgbClr val="1D75D8"/>
                  </a:solidFill>
                </a:endParaRPr>
              </a:p>
            </p:txBody>
          </p:sp>
        </mc:Choice>
        <mc:Fallback>
          <p:sp>
            <p:nvSpPr>
              <p:cNvPr id="211" name="TextBox 2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7320" y="23710417"/>
                <a:ext cx="2050000" cy="323165"/>
              </a:xfrm>
              <a:prstGeom prst="rect">
                <a:avLst/>
              </a:prstGeom>
              <a:blipFill>
                <a:blip r:embed="rId7"/>
                <a:stretch>
                  <a:fillRect b="-11321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2" name="TextBox 211"/>
          <p:cNvSpPr txBox="1"/>
          <p:nvPr/>
        </p:nvSpPr>
        <p:spPr>
          <a:xfrm>
            <a:off x="5961120" y="23996113"/>
            <a:ext cx="20500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133545"/>
                </a:solidFill>
              </a:rPr>
              <a:t>GAIN</a:t>
            </a:r>
          </a:p>
        </p:txBody>
      </p:sp>
      <p:sp>
        <p:nvSpPr>
          <p:cNvPr id="213" name="Rounded Rectangle 212"/>
          <p:cNvSpPr/>
          <p:nvPr/>
        </p:nvSpPr>
        <p:spPr>
          <a:xfrm>
            <a:off x="8550000" y="23042880"/>
            <a:ext cx="7150000" cy="1356360"/>
          </a:xfrm>
          <a:prstGeom prst="roundRect">
            <a:avLst/>
          </a:prstGeom>
          <a:solidFill>
            <a:srgbClr val="FAFFF5"/>
          </a:solidFill>
          <a:ln w="12192">
            <a:solidFill>
              <a:srgbClr val="75C8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4" name="Oval 213"/>
          <p:cNvSpPr/>
          <p:nvPr/>
        </p:nvSpPr>
        <p:spPr>
          <a:xfrm>
            <a:off x="8780000" y="23229520"/>
            <a:ext cx="365760" cy="365760"/>
          </a:xfrm>
          <a:prstGeom prst="ellipse">
            <a:avLst/>
          </a:prstGeom>
          <a:solidFill>
            <a:srgbClr val="75C8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5" name="TextBox 214"/>
          <p:cNvSpPr txBox="1"/>
          <p:nvPr/>
        </p:nvSpPr>
        <p:spPr>
          <a:xfrm>
            <a:off x="9250000" y="23118002"/>
            <a:ext cx="975360" cy="553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74C95A"/>
                </a:solidFill>
              </a:rPr>
              <a:t>EC</a:t>
            </a:r>
          </a:p>
        </p:txBody>
      </p:sp>
      <p:sp>
        <p:nvSpPr>
          <p:cNvPr id="216" name="Rounded Rectangle 215"/>
          <p:cNvSpPr/>
          <p:nvPr/>
        </p:nvSpPr>
        <p:spPr>
          <a:xfrm>
            <a:off x="8780000" y="23672000"/>
            <a:ext cx="2050000" cy="655000"/>
          </a:xfrm>
          <a:prstGeom prst="roundRect">
            <a:avLst/>
          </a:prstGeom>
          <a:solidFill>
            <a:srgbClr val="F2FBFE"/>
          </a:solidFill>
          <a:ln w="12192">
            <a:solidFill>
              <a:srgbClr val="1F5D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7" name="TextBox 216"/>
              <p:cNvSpPr txBox="1"/>
              <p:nvPr/>
            </p:nvSpPr>
            <p:spPr>
              <a:xfrm>
                <a:off x="8780000" y="23710417"/>
                <a:ext cx="2050000" cy="323165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e-IL" sz="2100" b="1" i="1" dirty="0" smtClean="0">
                          <a:solidFill>
                            <a:srgbClr val="1B5E2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he-IL" sz="2100" b="1" i="1" dirty="0" smtClean="0">
                          <a:solidFill>
                            <a:srgbClr val="1B5E2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he-IL" sz="2100" b="1" i="1" dirty="0" smtClean="0">
                          <a:solidFill>
                            <a:srgbClr val="1B5E20"/>
                          </a:solidFill>
                          <a:latin typeface="Cambria Math" panose="02040503050406030204" pitchFamily="18" charset="0"/>
                        </a:rPr>
                        <m:t>𝟏𝟐𝟕</m:t>
                      </m:r>
                    </m:oMath>
                  </m:oMathPara>
                </a14:m>
                <a:endParaRPr sz="2100" b="1" dirty="0">
                  <a:solidFill>
                    <a:srgbClr val="1B5E20"/>
                  </a:solidFill>
                </a:endParaRPr>
              </a:p>
            </p:txBody>
          </p:sp>
        </mc:Choice>
        <mc:Fallback>
          <p:sp>
            <p:nvSpPr>
              <p:cNvPr id="217" name="TextBox 2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0000" y="23710417"/>
                <a:ext cx="2050000" cy="323165"/>
              </a:xfrm>
              <a:prstGeom prst="rect">
                <a:avLst/>
              </a:prstGeom>
              <a:blipFill>
                <a:blip r:embed="rId8"/>
                <a:stretch>
                  <a:fillRect b="-5660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8" name="TextBox 217"/>
          <p:cNvSpPr txBox="1"/>
          <p:nvPr/>
        </p:nvSpPr>
        <p:spPr>
          <a:xfrm>
            <a:off x="8780000" y="23996113"/>
            <a:ext cx="20500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133545"/>
                </a:solidFill>
              </a:rPr>
              <a:t>MAE</a:t>
            </a:r>
          </a:p>
        </p:txBody>
      </p:sp>
      <p:sp>
        <p:nvSpPr>
          <p:cNvPr id="219" name="Rounded Rectangle 218"/>
          <p:cNvSpPr/>
          <p:nvPr/>
        </p:nvSpPr>
        <p:spPr>
          <a:xfrm>
            <a:off x="11090000" y="23672000"/>
            <a:ext cx="2050000" cy="655000"/>
          </a:xfrm>
          <a:prstGeom prst="roundRect">
            <a:avLst/>
          </a:prstGeom>
          <a:solidFill>
            <a:srgbClr val="F2FBFE"/>
          </a:solidFill>
          <a:ln w="12192">
            <a:solidFill>
              <a:srgbClr val="1F5D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0" name="TextBox 219"/>
              <p:cNvSpPr txBox="1"/>
              <p:nvPr/>
            </p:nvSpPr>
            <p:spPr>
              <a:xfrm>
                <a:off x="11090000" y="23710417"/>
                <a:ext cx="2050000" cy="323165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e-IL" sz="2100" b="1" i="1" dirty="0" smtClean="0">
                          <a:solidFill>
                            <a:srgbClr val="1B5E2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he-IL" sz="2100" b="1" i="1" dirty="0" smtClean="0">
                          <a:solidFill>
                            <a:srgbClr val="1B5E2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he-IL" sz="2100" b="1" i="1" dirty="0" smtClean="0">
                          <a:solidFill>
                            <a:srgbClr val="1B5E20"/>
                          </a:solidFill>
                          <a:latin typeface="Cambria Math" panose="02040503050406030204" pitchFamily="18" charset="0"/>
                        </a:rPr>
                        <m:t>𝟗𝟖𝟐</m:t>
                      </m:r>
                    </m:oMath>
                  </m:oMathPara>
                </a14:m>
                <a:endParaRPr sz="2100" b="1" dirty="0">
                  <a:solidFill>
                    <a:srgbClr val="1B5E20"/>
                  </a:solidFill>
                </a:endParaRPr>
              </a:p>
            </p:txBody>
          </p:sp>
        </mc:Choice>
        <mc:Fallback>
          <p:sp>
            <p:nvSpPr>
              <p:cNvPr id="220" name="TextBox 2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90000" y="23710417"/>
                <a:ext cx="2050000" cy="323165"/>
              </a:xfrm>
              <a:prstGeom prst="rect">
                <a:avLst/>
              </a:prstGeom>
              <a:blipFill>
                <a:blip r:embed="rId9"/>
                <a:stretch>
                  <a:fillRect b="-5660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1" name="TextBox 220"/>
              <p:cNvSpPr txBox="1"/>
              <p:nvPr/>
            </p:nvSpPr>
            <p:spPr>
              <a:xfrm>
                <a:off x="12496800" y="24024101"/>
                <a:ext cx="2417064" cy="2518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he-IL" sz="1600" b="1" i="1" dirty="0" smtClean="0">
                              <a:solidFill>
                                <a:srgbClr val="13354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1" i="1" dirty="0" smtClean="0">
                              <a:solidFill>
                                <a:srgbClr val="133545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p>
                          <m:r>
                            <a:rPr lang="he-IL" sz="1600" b="1" i="1" dirty="0" smtClean="0">
                              <a:solidFill>
                                <a:srgbClr val="133545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he-IL" sz="1600" b="1" dirty="0">
                  <a:solidFill>
                    <a:srgbClr val="133545"/>
                  </a:solidFill>
                </a:endParaRPr>
              </a:p>
            </p:txBody>
          </p:sp>
        </mc:Choice>
        <mc:Fallback xmlns="">
          <p:sp>
            <p:nvSpPr>
              <p:cNvPr id="221" name="TextBox 2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96800" y="24024101"/>
                <a:ext cx="2417064" cy="251800"/>
              </a:xfrm>
              <a:prstGeom prst="rect">
                <a:avLst/>
              </a:prstGeom>
              <a:blipFill>
                <a:blip r:embed="rId10"/>
                <a:stretch>
                  <a:fillRect b="-9756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2" name="Rounded Rectangle 221"/>
          <p:cNvSpPr/>
          <p:nvPr/>
        </p:nvSpPr>
        <p:spPr>
          <a:xfrm>
            <a:off x="13400000" y="23672000"/>
            <a:ext cx="2050000" cy="655000"/>
          </a:xfrm>
          <a:prstGeom prst="roundRect">
            <a:avLst/>
          </a:prstGeom>
          <a:solidFill>
            <a:srgbClr val="F2FBFE"/>
          </a:solidFill>
          <a:ln w="12192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4" name="TextBox 223"/>
          <p:cNvSpPr txBox="1"/>
          <p:nvPr/>
        </p:nvSpPr>
        <p:spPr>
          <a:xfrm>
            <a:off x="13400000" y="23996113"/>
            <a:ext cx="20500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133545"/>
                </a:solidFill>
              </a:rPr>
              <a:t>GAIN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850000" y="24472463"/>
            <a:ext cx="152000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latin typeface="Arial"/>
              </a:rPr>
              <a:t>pH ACTUAL VS PREDICTED - WALK-FORWARD</a:t>
            </a:r>
          </a:p>
        </p:txBody>
      </p:sp>
      <p:sp>
        <p:nvSpPr>
          <p:cNvPr id="226" name="Rounded Rectangle 225"/>
          <p:cNvSpPr/>
          <p:nvPr/>
        </p:nvSpPr>
        <p:spPr>
          <a:xfrm>
            <a:off x="850000" y="24841200"/>
            <a:ext cx="15200000" cy="4745546"/>
          </a:xfrm>
          <a:prstGeom prst="roundRect">
            <a:avLst/>
          </a:prstGeom>
          <a:solidFill>
            <a:srgbClr val="FFFFFF"/>
          </a:solidFill>
          <a:ln w="9144">
            <a:solidFill>
              <a:srgbClr val="006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8" name="TextBox 227"/>
          <p:cNvSpPr txBox="1"/>
          <p:nvPr/>
        </p:nvSpPr>
        <p:spPr>
          <a:xfrm>
            <a:off x="850000" y="29695140"/>
            <a:ext cx="152000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latin typeface="Arial"/>
              </a:rPr>
              <a:t>EC ACTUAL VS PREDICTED - WALK-FORWARD</a:t>
            </a:r>
          </a:p>
        </p:txBody>
      </p:sp>
      <p:sp>
        <p:nvSpPr>
          <p:cNvPr id="229" name="Rounded Rectangle 228"/>
          <p:cNvSpPr/>
          <p:nvPr/>
        </p:nvSpPr>
        <p:spPr>
          <a:xfrm>
            <a:off x="1000000" y="30060900"/>
            <a:ext cx="14900000" cy="4350000"/>
          </a:xfrm>
          <a:prstGeom prst="roundRect">
            <a:avLst/>
          </a:prstGeom>
          <a:solidFill>
            <a:srgbClr val="FFFFFF"/>
          </a:solidFill>
          <a:ln w="9144">
            <a:solidFill>
              <a:srgbClr val="75C8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1" name="Rounded Rectangle 230"/>
          <p:cNvSpPr/>
          <p:nvPr/>
        </p:nvSpPr>
        <p:spPr>
          <a:xfrm>
            <a:off x="16717108" y="26213972"/>
            <a:ext cx="8034176" cy="9036148"/>
          </a:xfrm>
          <a:prstGeom prst="roundRect">
            <a:avLst/>
          </a:prstGeom>
          <a:solidFill>
            <a:srgbClr val="FFFFFF"/>
          </a:solidFill>
          <a:ln w="18288">
            <a:solidFill>
              <a:srgbClr val="9FD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2" name="Oval 231"/>
          <p:cNvSpPr/>
          <p:nvPr/>
        </p:nvSpPr>
        <p:spPr>
          <a:xfrm>
            <a:off x="17055375" y="26735000"/>
            <a:ext cx="822960" cy="82296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3" name="TextBox 232"/>
          <p:cNvSpPr txBox="1"/>
          <p:nvPr/>
        </p:nvSpPr>
        <p:spPr>
          <a:xfrm>
            <a:off x="17151677" y="26975574"/>
            <a:ext cx="615696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dirty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18003457" y="26968777"/>
            <a:ext cx="5859693" cy="487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dirty="0">
                <a:solidFill>
                  <a:srgbClr val="006E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Conclusions &amp;</a:t>
            </a:r>
            <a:r>
              <a:rPr lang="he-IL" sz="3600" b="1" dirty="0">
                <a:solidFill>
                  <a:srgbClr val="006E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b="1" dirty="0">
                <a:solidFill>
                  <a:srgbClr val="006E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Impact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7213362" y="27890000"/>
            <a:ext cx="7187401" cy="58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1335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Sparse manual measurements become actionable guidance for irrigation and fertigation decisions.</a:t>
            </a:r>
          </a:p>
        </p:txBody>
      </p:sp>
      <p:sp>
        <p:nvSpPr>
          <p:cNvPr id="255" name="Rounded Rectangle 254"/>
          <p:cNvSpPr/>
          <p:nvPr/>
        </p:nvSpPr>
        <p:spPr>
          <a:xfrm>
            <a:off x="17213363" y="28748546"/>
            <a:ext cx="6809132" cy="1651454"/>
          </a:xfrm>
          <a:prstGeom prst="roundRect">
            <a:avLst/>
          </a:prstGeom>
          <a:solidFill>
            <a:srgbClr val="F4FCEA"/>
          </a:solidFill>
          <a:ln w="12192">
            <a:solidFill>
              <a:srgbClr val="75C8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6" name="Oval 255"/>
          <p:cNvSpPr/>
          <p:nvPr/>
        </p:nvSpPr>
        <p:spPr>
          <a:xfrm>
            <a:off x="17384299" y="28921360"/>
            <a:ext cx="365000" cy="365000"/>
          </a:xfrm>
          <a:prstGeom prst="ellipse">
            <a:avLst/>
          </a:prstGeom>
          <a:solidFill>
            <a:srgbClr val="75C8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8" name="TextBox 257"/>
          <p:cNvSpPr txBox="1"/>
          <p:nvPr/>
        </p:nvSpPr>
        <p:spPr>
          <a:xfrm>
            <a:off x="17832299" y="28975112"/>
            <a:ext cx="41400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1335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Earlier awareness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17832299" y="29271226"/>
            <a:ext cx="4140000" cy="61555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dirty="0">
                <a:solidFill>
                  <a:srgbClr val="4C677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Detect pH and EC movement between manual samples.</a:t>
            </a:r>
          </a:p>
        </p:txBody>
      </p:sp>
      <p:sp>
        <p:nvSpPr>
          <p:cNvPr id="260" name="Rounded Rectangle 259"/>
          <p:cNvSpPr/>
          <p:nvPr/>
        </p:nvSpPr>
        <p:spPr>
          <a:xfrm>
            <a:off x="17213362" y="30720000"/>
            <a:ext cx="6844501" cy="1600000"/>
          </a:xfrm>
          <a:prstGeom prst="roundRect">
            <a:avLst/>
          </a:prstGeom>
          <a:solidFill>
            <a:srgbClr val="EDF5FF"/>
          </a:solidFill>
          <a:ln w="12192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1" name="Oval 260"/>
          <p:cNvSpPr/>
          <p:nvPr/>
        </p:nvSpPr>
        <p:spPr>
          <a:xfrm>
            <a:off x="17384299" y="30902360"/>
            <a:ext cx="365000" cy="36500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3" name="TextBox 262"/>
          <p:cNvSpPr txBox="1"/>
          <p:nvPr/>
        </p:nvSpPr>
        <p:spPr>
          <a:xfrm>
            <a:off x="17832299" y="30925632"/>
            <a:ext cx="41400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1335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Decision optimization</a:t>
            </a:r>
          </a:p>
        </p:txBody>
      </p:sp>
      <p:sp>
        <p:nvSpPr>
          <p:cNvPr id="264" name="TextBox 263"/>
          <p:cNvSpPr txBox="1"/>
          <p:nvPr/>
        </p:nvSpPr>
        <p:spPr>
          <a:xfrm>
            <a:off x="17832299" y="31252226"/>
            <a:ext cx="4140000" cy="61555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dirty="0">
                <a:solidFill>
                  <a:srgbClr val="4C677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Support irrigation and fertigation timing and dosing.</a:t>
            </a:r>
          </a:p>
        </p:txBody>
      </p:sp>
      <p:sp>
        <p:nvSpPr>
          <p:cNvPr id="265" name="Rounded Rectangle 264"/>
          <p:cNvSpPr/>
          <p:nvPr/>
        </p:nvSpPr>
        <p:spPr>
          <a:xfrm>
            <a:off x="17228603" y="32685760"/>
            <a:ext cx="6793892" cy="1619480"/>
          </a:xfrm>
          <a:prstGeom prst="roundRect">
            <a:avLst/>
          </a:prstGeom>
          <a:solidFill>
            <a:srgbClr val="FCFCEB"/>
          </a:solidFill>
          <a:ln w="12192">
            <a:solidFill>
              <a:srgbClr val="A6C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6" name="Oval 265"/>
          <p:cNvSpPr/>
          <p:nvPr/>
        </p:nvSpPr>
        <p:spPr>
          <a:xfrm>
            <a:off x="17416208" y="32889725"/>
            <a:ext cx="391415" cy="397385"/>
          </a:xfrm>
          <a:prstGeom prst="ellipse">
            <a:avLst/>
          </a:prstGeom>
          <a:solidFill>
            <a:srgbClr val="A6C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8" name="TextBox 267"/>
          <p:cNvSpPr txBox="1"/>
          <p:nvPr/>
        </p:nvSpPr>
        <p:spPr>
          <a:xfrm>
            <a:off x="17870672" y="32889912"/>
            <a:ext cx="5803726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1335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Usable workflow</a:t>
            </a:r>
          </a:p>
        </p:txBody>
      </p:sp>
      <p:sp>
        <p:nvSpPr>
          <p:cNvPr id="269" name="TextBox 268"/>
          <p:cNvSpPr txBox="1"/>
          <p:nvPr/>
        </p:nvSpPr>
        <p:spPr>
          <a:xfrm>
            <a:off x="17870672" y="33221547"/>
            <a:ext cx="5803726" cy="61555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dirty="0">
                <a:solidFill>
                  <a:srgbClr val="4C677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Automated ETL, prediction, and dashboard packaging.</a:t>
            </a:r>
          </a:p>
        </p:txBody>
      </p:sp>
      <p:cxnSp>
        <p:nvCxnSpPr>
          <p:cNvPr id="271" name="Connector 146">
            <a:extLst>
              <a:ext uri="{FF2B5EF4-FFF2-40B4-BE49-F238E27FC236}">
                <a16:creationId xmlns:a16="http://schemas.microsoft.com/office/drawing/2014/main" id="{9BF49BC7-7F07-7DDE-CB26-02FEF2FFAA5A}"/>
              </a:ext>
            </a:extLst>
          </p:cNvPr>
          <p:cNvCxnSpPr>
            <a:cxnSpLocks/>
          </p:cNvCxnSpPr>
          <p:nvPr/>
        </p:nvCxnSpPr>
        <p:spPr>
          <a:xfrm flipV="1">
            <a:off x="8506268" y="17971008"/>
            <a:ext cx="0" cy="1458917"/>
          </a:xfrm>
          <a:prstGeom prst="line">
            <a:avLst/>
          </a:prstGeom>
          <a:ln w="27432">
            <a:solidFill>
              <a:srgbClr val="0D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4" name="Connector 146">
            <a:extLst>
              <a:ext uri="{FF2B5EF4-FFF2-40B4-BE49-F238E27FC236}">
                <a16:creationId xmlns:a16="http://schemas.microsoft.com/office/drawing/2014/main" id="{A9E375EF-11C3-CBD1-767A-DDC7E38E6676}"/>
              </a:ext>
            </a:extLst>
          </p:cNvPr>
          <p:cNvCxnSpPr>
            <a:cxnSpLocks/>
            <a:endCxn id="148" idx="1"/>
          </p:cNvCxnSpPr>
          <p:nvPr/>
        </p:nvCxnSpPr>
        <p:spPr>
          <a:xfrm>
            <a:off x="8506268" y="17986248"/>
            <a:ext cx="2328672" cy="8335"/>
          </a:xfrm>
          <a:prstGeom prst="line">
            <a:avLst/>
          </a:prstGeom>
          <a:ln w="27432">
            <a:solidFill>
              <a:srgbClr val="0D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3" name="TextBox 190">
            <a:extLst>
              <a:ext uri="{FF2B5EF4-FFF2-40B4-BE49-F238E27FC236}">
                <a16:creationId xmlns:a16="http://schemas.microsoft.com/office/drawing/2014/main" id="{DDB82B3F-C95C-FB55-2704-A98EBD66A789}"/>
              </a:ext>
            </a:extLst>
          </p:cNvPr>
          <p:cNvSpPr txBox="1"/>
          <p:nvPr/>
        </p:nvSpPr>
        <p:spPr>
          <a:xfrm>
            <a:off x="20927600" y="19975680"/>
            <a:ext cx="3100000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4C6775"/>
                </a:solidFill>
              </a:rPr>
              <a:t>Interpolates local pH/EC</a:t>
            </a:r>
          </a:p>
          <a:p>
            <a:pPr algn="l">
              <a:lnSpc>
                <a:spcPct val="90000"/>
              </a:lnSpc>
            </a:pPr>
            <a:r>
              <a:rPr sz="2000" b="1" dirty="0">
                <a:solidFill>
                  <a:srgbClr val="4C6775"/>
                </a:solidFill>
              </a:rPr>
              <a:t>movement between samples.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208">
                <a:extLst>
                  <a:ext uri="{FF2B5EF4-FFF2-40B4-BE49-F238E27FC236}">
                    <a16:creationId xmlns:a16="http://schemas.microsoft.com/office/drawing/2014/main" id="{C14E1428-0E0E-5B20-0808-C827123D0B98}"/>
                  </a:ext>
                </a:extLst>
              </p:cNvPr>
              <p:cNvSpPr txBox="1"/>
              <p:nvPr/>
            </p:nvSpPr>
            <p:spPr>
              <a:xfrm>
                <a:off x="11009376" y="23987636"/>
                <a:ext cx="2417064" cy="314766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he-IL" sz="2000" b="1" i="1" dirty="0" smtClean="0">
                              <a:solidFill>
                                <a:srgbClr val="13354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he-IL" sz="2000" b="1" i="1" dirty="0" smtClean="0">
                              <a:solidFill>
                                <a:srgbClr val="133545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p>
                          <m:r>
                            <a:rPr lang="he-IL" sz="2000" b="1" i="1" dirty="0" smtClean="0">
                              <a:solidFill>
                                <a:srgbClr val="133545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he-IL" sz="2000" b="1" dirty="0">
                  <a:solidFill>
                    <a:srgbClr val="133545"/>
                  </a:solidFill>
                </a:endParaRPr>
              </a:p>
            </p:txBody>
          </p:sp>
        </mc:Choice>
        <mc:Fallback>
          <p:sp>
            <p:nvSpPr>
              <p:cNvPr id="19" name="TextBox 208">
                <a:extLst>
                  <a:ext uri="{FF2B5EF4-FFF2-40B4-BE49-F238E27FC236}">
                    <a16:creationId xmlns:a16="http://schemas.microsoft.com/office/drawing/2014/main" id="{C14E1428-0E0E-5B20-0808-C827123D0B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09376" y="23987636"/>
                <a:ext cx="2417064" cy="314766"/>
              </a:xfrm>
              <a:prstGeom prst="rect">
                <a:avLst/>
              </a:prstGeom>
              <a:blipFill>
                <a:blip r:embed="rId11"/>
                <a:stretch>
                  <a:fillRect b="-9615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84" name="pH walk-forward chart - transparent index no baseline" descr="v2_ph_wide_timeseries_index_no_baseline_transparent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46506" y="24901200"/>
            <a:ext cx="14606987" cy="4625546"/>
          </a:xfrm>
          <a:prstGeom prst="rect">
            <a:avLst/>
          </a:prstGeom>
        </p:spPr>
      </p:pic>
      <p:pic>
        <p:nvPicPr>
          <p:cNvPr id="285" name="EC walk-forward chart - transparent index no baseline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65790" y="30150900"/>
            <a:ext cx="13168421" cy="41700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19">
                <a:extLst>
                  <a:ext uri="{FF2B5EF4-FFF2-40B4-BE49-F238E27FC236}">
                    <a16:creationId xmlns:a16="http://schemas.microsoft.com/office/drawing/2014/main" id="{2BC535C5-93EC-14F3-E551-68DBD179EF62}"/>
                  </a:ext>
                </a:extLst>
              </p:cNvPr>
              <p:cNvSpPr txBox="1"/>
              <p:nvPr/>
            </p:nvSpPr>
            <p:spPr>
              <a:xfrm>
                <a:off x="13465423" y="23710417"/>
                <a:ext cx="2050000" cy="323165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e-IL" sz="2100" b="1" i="1" dirty="0" smtClean="0">
                          <a:solidFill>
                            <a:srgbClr val="1B5E20"/>
                          </a:solidFill>
                          <a:latin typeface="Cambria Math" panose="02040503050406030204" pitchFamily="18" charset="0"/>
                        </a:rPr>
                        <m:t>𝟑𝟓</m:t>
                      </m:r>
                      <m:r>
                        <a:rPr lang="he-IL" sz="2100" b="1" i="1" dirty="0" smtClean="0">
                          <a:solidFill>
                            <a:srgbClr val="1B5E2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he-IL" sz="2100" b="1" i="1" dirty="0" smtClean="0">
                          <a:solidFill>
                            <a:srgbClr val="1B5E2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he-IL" sz="2100" b="1" i="1" dirty="0" smtClean="0">
                          <a:solidFill>
                            <a:srgbClr val="1B5E20"/>
                          </a:solidFill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sz="2100" b="1" dirty="0">
                  <a:solidFill>
                    <a:srgbClr val="1B5E20"/>
                  </a:solidFill>
                </a:endParaRPr>
              </a:p>
            </p:txBody>
          </p:sp>
        </mc:Choice>
        <mc:Fallback>
          <p:sp>
            <p:nvSpPr>
              <p:cNvPr id="24" name="TextBox 219">
                <a:extLst>
                  <a:ext uri="{FF2B5EF4-FFF2-40B4-BE49-F238E27FC236}">
                    <a16:creationId xmlns:a16="http://schemas.microsoft.com/office/drawing/2014/main" id="{2BC535C5-93EC-14F3-E551-68DBD179EF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65423" y="23710417"/>
                <a:ext cx="2050000" cy="323165"/>
              </a:xfrm>
              <a:prstGeom prst="rect">
                <a:avLst/>
              </a:prstGeom>
              <a:blipFill>
                <a:blip r:embed="rId14"/>
                <a:stretch>
                  <a:fillRect b="-11321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439</Words>
  <Application>Microsoft Office PowerPoint</Application>
  <PresentationFormat>מותאם אישית</PresentationFormat>
  <Paragraphs>135</Paragraphs>
  <Slides>1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</vt:i4>
      </vt:variant>
    </vt:vector>
  </HeadingPairs>
  <TitlesOfParts>
    <vt:vector size="5" baseType="lpstr">
      <vt:lpstr>Arial</vt:lpstr>
      <vt:lpstr>Calibri</vt:lpstr>
      <vt:lpstr>Cambria Math</vt:lpstr>
      <vt:lpstr>Office Theme</vt:lpstr>
      <vt:lpstr>מצגת של PowerPoint‏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עדן אליהו</cp:lastModifiedBy>
  <cp:revision>28</cp:revision>
  <dcterms:created xsi:type="dcterms:W3CDTF">2013-01-27T09:14:16Z</dcterms:created>
  <dcterms:modified xsi:type="dcterms:W3CDTF">2026-05-28T19:45:32Z</dcterms:modified>
  <cp:category/>
</cp:coreProperties>
</file>