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60" r:id="rId2"/>
    <p:sldMasterId id="2147483653" r:id="rId3"/>
  </p:sldMasterIdLst>
  <p:notesMasterIdLst>
    <p:notesMasterId r:id="rId5"/>
  </p:notesMasterIdLst>
  <p:handoutMasterIdLst>
    <p:handoutMasterId r:id="rId6"/>
  </p:handoutMasterIdLst>
  <p:sldIdLst>
    <p:sldId id="257" r:id="rId4"/>
  </p:sldIdLst>
  <p:sldSz cx="25192038" cy="35999738"/>
  <p:notesSz cx="6858000" cy="9144000"/>
  <p:defaultText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629">
          <p15:clr>
            <a:srgbClr val="A4A3A4"/>
          </p15:clr>
        </p15:guide>
        <p15:guide id="2" orient="horz" pos="315">
          <p15:clr>
            <a:srgbClr val="A4A3A4"/>
          </p15:clr>
        </p15:guide>
        <p15:guide id="3" orient="horz" pos="22047">
          <p15:clr>
            <a:srgbClr val="A4A3A4"/>
          </p15:clr>
        </p15:guide>
        <p15:guide id="4" orient="horz">
          <p15:clr>
            <a:srgbClr val="A4A3A4"/>
          </p15:clr>
        </p15:guide>
        <p15:guide id="5" pos="334">
          <p15:clr>
            <a:srgbClr val="A4A3A4"/>
          </p15:clr>
        </p15:guide>
        <p15:guide id="6" pos="1553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58" autoAdjust="0"/>
    <p:restoredTop sz="94088" autoAdjust="0"/>
  </p:normalViewPr>
  <p:slideViewPr>
    <p:cSldViewPr snapToGrid="0" snapToObjects="1" showGuides="1">
      <p:cViewPr varScale="1">
        <p:scale>
          <a:sx n="35" d="100"/>
          <a:sy n="35" d="100"/>
        </p:scale>
        <p:origin x="102" y="810"/>
      </p:cViewPr>
      <p:guideLst>
        <p:guide orient="horz" pos="3629"/>
        <p:guide orient="horz" pos="315"/>
        <p:guide orient="horz" pos="22047"/>
        <p:guide orient="horz"/>
        <p:guide pos="334"/>
        <p:guide pos="1553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7/1/2026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7/1/2026</a:t>
            </a:fld>
            <a:endParaRPr lang="en-US" dirty="0"/>
          </a:p>
        </p:txBody>
      </p:sp>
      <p:sp>
        <p:nvSpPr>
          <p:cNvPr id="4" name="Slide Image Placeholder 3"/>
          <p:cNvSpPr>
            <a:spLocks noGrp="1" noRot="1" noChangeAspect="1"/>
          </p:cNvSpPr>
          <p:nvPr>
            <p:ph type="sldImg" idx="2"/>
          </p:nvPr>
        </p:nvSpPr>
        <p:spPr>
          <a:xfrm>
            <a:off x="2228850" y="685800"/>
            <a:ext cx="24003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599776" rtl="0" eaLnBrk="1" latinLnBrk="0" hangingPunct="1">
      <a:defRPr sz="4800" kern="1200">
        <a:solidFill>
          <a:schemeClr val="tx1"/>
        </a:solidFill>
        <a:latin typeface="+mn-lt"/>
        <a:ea typeface="+mn-ea"/>
        <a:cs typeface="+mn-cs"/>
      </a:defRPr>
    </a:lvl1pPr>
    <a:lvl2pPr marL="1799889" algn="l" defTabSz="3599776" rtl="0" eaLnBrk="1" latinLnBrk="0" hangingPunct="1">
      <a:defRPr sz="4800" kern="1200">
        <a:solidFill>
          <a:schemeClr val="tx1"/>
        </a:solidFill>
        <a:latin typeface="+mn-lt"/>
        <a:ea typeface="+mn-ea"/>
        <a:cs typeface="+mn-cs"/>
      </a:defRPr>
    </a:lvl2pPr>
    <a:lvl3pPr marL="3599776" algn="l" defTabSz="3599776" rtl="0" eaLnBrk="1" latinLnBrk="0" hangingPunct="1">
      <a:defRPr sz="4800" kern="1200">
        <a:solidFill>
          <a:schemeClr val="tx1"/>
        </a:solidFill>
        <a:latin typeface="+mn-lt"/>
        <a:ea typeface="+mn-ea"/>
        <a:cs typeface="+mn-cs"/>
      </a:defRPr>
    </a:lvl3pPr>
    <a:lvl4pPr marL="5399664" algn="l" defTabSz="3599776" rtl="0" eaLnBrk="1" latinLnBrk="0" hangingPunct="1">
      <a:defRPr sz="4800" kern="1200">
        <a:solidFill>
          <a:schemeClr val="tx1"/>
        </a:solidFill>
        <a:latin typeface="+mn-lt"/>
        <a:ea typeface="+mn-ea"/>
        <a:cs typeface="+mn-cs"/>
      </a:defRPr>
    </a:lvl4pPr>
    <a:lvl5pPr marL="7199552" algn="l" defTabSz="3599776" rtl="0" eaLnBrk="1" latinLnBrk="0" hangingPunct="1">
      <a:defRPr sz="4800" kern="1200">
        <a:solidFill>
          <a:schemeClr val="tx1"/>
        </a:solidFill>
        <a:latin typeface="+mn-lt"/>
        <a:ea typeface="+mn-ea"/>
        <a:cs typeface="+mn-cs"/>
      </a:defRPr>
    </a:lvl5pPr>
    <a:lvl6pPr marL="8999441" algn="l" defTabSz="3599776" rtl="0" eaLnBrk="1" latinLnBrk="0" hangingPunct="1">
      <a:defRPr sz="4800" kern="1200">
        <a:solidFill>
          <a:schemeClr val="tx1"/>
        </a:solidFill>
        <a:latin typeface="+mn-lt"/>
        <a:ea typeface="+mn-ea"/>
        <a:cs typeface="+mn-cs"/>
      </a:defRPr>
    </a:lvl6pPr>
    <a:lvl7pPr marL="10799330" algn="l" defTabSz="3599776" rtl="0" eaLnBrk="1" latinLnBrk="0" hangingPunct="1">
      <a:defRPr sz="4800" kern="1200">
        <a:solidFill>
          <a:schemeClr val="tx1"/>
        </a:solidFill>
        <a:latin typeface="+mn-lt"/>
        <a:ea typeface="+mn-ea"/>
        <a:cs typeface="+mn-cs"/>
      </a:defRPr>
    </a:lvl7pPr>
    <a:lvl8pPr marL="12599217" algn="l" defTabSz="3599776" rtl="0" eaLnBrk="1" latinLnBrk="0" hangingPunct="1">
      <a:defRPr sz="4800" kern="1200">
        <a:solidFill>
          <a:schemeClr val="tx1"/>
        </a:solidFill>
        <a:latin typeface="+mn-lt"/>
        <a:ea typeface="+mn-ea"/>
        <a:cs typeface="+mn-cs"/>
      </a:defRPr>
    </a:lvl8pPr>
    <a:lvl9pPr marL="14399106" algn="l" defTabSz="3599776" rtl="0" eaLnBrk="1" latinLnBrk="0" hangingPunct="1">
      <a:defRPr sz="4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thout Quick Guide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extLst>
      <p:ext uri="{BB962C8B-B14F-4D97-AF65-F5344CB8AC3E}">
        <p14:creationId xmlns:p14="http://schemas.microsoft.com/office/powerpoint/2010/main" val="12706269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508586"/>
            <a:ext cx="577226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529393" y="5758641"/>
            <a:ext cx="5767709" cy="659288"/>
          </a:xfrm>
          <a:prstGeom prst="rect">
            <a:avLst/>
          </a:prstGeom>
          <a:noFill/>
        </p:spPr>
        <p:txBody>
          <a:bodyPr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INTRODUCTION</a:t>
            </a:r>
          </a:p>
        </p:txBody>
      </p:sp>
      <p:sp>
        <p:nvSpPr>
          <p:cNvPr id="19" name="Text Placeholder 3"/>
          <p:cNvSpPr>
            <a:spLocks noGrp="1"/>
          </p:cNvSpPr>
          <p:nvPr>
            <p:ph type="body" sz="quarter" idx="19" hasCustomPrompt="1"/>
          </p:nvPr>
        </p:nvSpPr>
        <p:spPr>
          <a:xfrm>
            <a:off x="518060" y="16174952"/>
            <a:ext cx="577317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529391" y="15542881"/>
            <a:ext cx="576861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6650633" y="6508586"/>
            <a:ext cx="1189259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6650633" y="5758641"/>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6650633" y="23714639"/>
            <a:ext cx="118925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6650633" y="23047456"/>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18892159" y="5758641"/>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18892159" y="6508586"/>
            <a:ext cx="5766642"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18892159" y="15608744"/>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18913086" y="16275927"/>
            <a:ext cx="572478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18892159" y="28580547"/>
            <a:ext cx="5766642" cy="659288"/>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CONTACT</a:t>
            </a:r>
          </a:p>
        </p:txBody>
      </p:sp>
      <p:sp>
        <p:nvSpPr>
          <p:cNvPr id="30" name="Text Placeholder 3"/>
          <p:cNvSpPr>
            <a:spLocks noGrp="1"/>
          </p:cNvSpPr>
          <p:nvPr>
            <p:ph type="body" sz="quarter" idx="30" hasCustomPrompt="1"/>
          </p:nvPr>
        </p:nvSpPr>
        <p:spPr>
          <a:xfrm>
            <a:off x="18890715" y="29330961"/>
            <a:ext cx="576953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84"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85"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6" name="Text Placeholder 76"/>
          <p:cNvSpPr>
            <a:spLocks noGrp="1"/>
          </p:cNvSpPr>
          <p:nvPr>
            <p:ph type="body" sz="quarter" idx="178"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
        <p:nvSpPr>
          <p:cNvPr id="31" name="TextBox 30"/>
          <p:cNvSpPr txBox="1"/>
          <p:nvPr userDrawn="1"/>
        </p:nvSpPr>
        <p:spPr>
          <a:xfrm>
            <a:off x="8186057" y="10798629"/>
            <a:ext cx="6357257" cy="461665"/>
          </a:xfrm>
          <a:prstGeom prst="rect">
            <a:avLst/>
          </a:prstGeom>
          <a:noFill/>
        </p:spPr>
        <p:txBody>
          <a:bodyPr wrap="square" rtlCol="0" anchor="t" anchorCtr="0">
            <a:spAutoFit/>
          </a:bodyPr>
          <a:lstStyle/>
          <a:p>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3.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6CA1A99B-ADFE-0946-BD42-BD5A646350D9}"/>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08DEEC71-333C-EB4F-94EA-63CA80BD11A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DACE849D-9518-E947-B822-CB297FE580F1}"/>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CFDD4-76B9-7B48-B709-EADB21739772}"/>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DFE4A334-6B3E-114C-A46F-86084BCD00CB}"/>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1505E797-B9BB-BF41-8A6D-FBBD7110479D}"/>
              </a:ext>
            </a:extLst>
          </p:cNvPr>
          <p:cNvGraphicFramePr>
            <a:graphicFrameLocks noGrp="1"/>
          </p:cNvGraphicFramePr>
          <p:nvPr userDrawn="1">
            <p:extLst>
              <p:ext uri="{D42A27DB-BD31-4B8C-83A1-F6EECF244321}">
                <p14:modId xmlns:p14="http://schemas.microsoft.com/office/powerpoint/2010/main" val="1760322990"/>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9"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F5351D2-4B9C-6B4B-AC02-8BA80ECA0317}"/>
              </a:ext>
            </a:extLst>
          </p:cNvPr>
          <p:cNvGrpSpPr/>
          <p:nvPr userDrawn="1"/>
        </p:nvGrpSpPr>
        <p:grpSpPr>
          <a:xfrm>
            <a:off x="-282256" y="-251209"/>
            <a:ext cx="25648282" cy="36391624"/>
            <a:chOff x="-282256" y="-251209"/>
            <a:chExt cx="25648282" cy="36391624"/>
          </a:xfrm>
        </p:grpSpPr>
        <p:sp>
          <p:nvSpPr>
            <p:cNvPr id="40" name="Freeform 39"/>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41"/>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27783235"/>
      </p:ext>
    </p:extLst>
  </p:cSld>
  <p:clrMap bg1="lt1" tx1="dk1" bg2="lt2" tx2="dk2" accent1="accent1" accent2="accent2" accent3="accent3" accent4="accent4" accent5="accent5" accent6="accent6" hlink="hlink" folHlink="folHlink"/>
  <p:sldLayoutIdLst>
    <p:sldLayoutId id="2147483661"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BE4C25E8-A394-434E-8360-04CD8A1473B8}"/>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EF4C1283-BAAA-6D41-8C60-C18DCEE718C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5A8CCE7E-6AD5-334C-B9DB-A6AFE8966A68}"/>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0E442-DFA0-7C45-A18E-391E6A121090}"/>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372B1B3A-5764-1141-AD33-81F113CC7BE4}"/>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AA930D81-2FAB-CD4D-AF1B-62386968629E}"/>
              </a:ext>
            </a:extLst>
          </p:cNvPr>
          <p:cNvGraphicFramePr>
            <a:graphicFrameLocks noGrp="1"/>
          </p:cNvGraphicFramePr>
          <p:nvPr userDrawn="1">
            <p:extLst>
              <p:ext uri="{D42A27DB-BD31-4B8C-83A1-F6EECF244321}">
                <p14:modId xmlns:p14="http://schemas.microsoft.com/office/powerpoint/2010/main" val="2042975874"/>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9293" y="520486"/>
            <a:ext cx="23760000" cy="468000"/>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200" b="1" i="0" dirty="0">
                <a:solidFill>
                  <a:srgbClr val="5E6E2E"/>
                </a:solidFill>
                <a:latin typeface="Calibri"/>
              </a:rPr>
              <a:t>RUPPIN ACADEMIC CENTER    ·    DEPARTMENT OF COMPUTER SCIENCE    ·    AI &amp; DATA SCIENCE SPECIALIZATION</a:t>
            </a:r>
          </a:p>
        </p:txBody>
      </p:sp>
      <p:sp>
        <p:nvSpPr>
          <p:cNvPr id="3" name="TextBox 2"/>
          <p:cNvSpPr txBox="1"/>
          <p:nvPr/>
        </p:nvSpPr>
        <p:spPr>
          <a:xfrm>
            <a:off x="3259293" y="1030972"/>
            <a:ext cx="18720000" cy="1919363"/>
          </a:xfrm>
          <a:prstGeom prst="rect">
            <a:avLst/>
          </a:prstGeom>
          <a:noFill/>
        </p:spPr>
        <p:txBody>
          <a:bodyPr wrap="square" lIns="36000" tIns="36000" rIns="36000" bIns="36000" anchor="ctr">
            <a:spAutoFit/>
          </a:bodyPr>
          <a:lstStyle/>
          <a:p>
            <a:pPr algn="ctr">
              <a:lnSpc>
                <a:spcPct val="100000"/>
              </a:lnSpc>
              <a:spcBef>
                <a:spcPts val="0"/>
              </a:spcBef>
              <a:spcAft>
                <a:spcPts val="0"/>
              </a:spcAft>
            </a:pPr>
            <a:r>
              <a:rPr sz="6000" b="1" i="0" dirty="0">
                <a:solidFill>
                  <a:srgbClr val="3D4A1F"/>
                </a:solidFill>
                <a:latin typeface="Cambria"/>
              </a:rPr>
              <a:t>Predictive Modeling of Root-Zone Variables
Using Greenhouse Data</a:t>
            </a:r>
          </a:p>
        </p:txBody>
      </p:sp>
      <p:sp>
        <p:nvSpPr>
          <p:cNvPr id="4" name="TextBox 3"/>
          <p:cNvSpPr txBox="1"/>
          <p:nvPr/>
        </p:nvSpPr>
        <p:spPr>
          <a:xfrm>
            <a:off x="3259293" y="2975845"/>
            <a:ext cx="8284343" cy="630869"/>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lang="en-US" sz="3600" b="1" i="0" dirty="0">
                <a:solidFill>
                  <a:srgbClr val="3D4A1F"/>
                </a:solidFill>
                <a:latin typeface="Calibri"/>
              </a:rPr>
              <a:t>Students: </a:t>
            </a:r>
            <a:r>
              <a:rPr sz="3600" b="1" i="0" dirty="0">
                <a:solidFill>
                  <a:srgbClr val="3D4A1F"/>
                </a:solidFill>
                <a:latin typeface="Calibri"/>
              </a:rPr>
              <a:t>Eden Eliyahu</a:t>
            </a:r>
            <a:r>
              <a:rPr lang="en-US" sz="3600" b="1" dirty="0">
                <a:solidFill>
                  <a:srgbClr val="3D4A1F"/>
                </a:solidFill>
                <a:latin typeface="Calibri"/>
              </a:rPr>
              <a:t>, </a:t>
            </a:r>
            <a:r>
              <a:rPr sz="3600" b="1" i="0" dirty="0">
                <a:solidFill>
                  <a:srgbClr val="3D4A1F"/>
                </a:solidFill>
                <a:latin typeface="Calibri"/>
              </a:rPr>
              <a:t>Oren Chaushu</a:t>
            </a:r>
          </a:p>
        </p:txBody>
      </p:sp>
      <p:sp>
        <p:nvSpPr>
          <p:cNvPr id="5" name="TextBox 4"/>
          <p:cNvSpPr txBox="1"/>
          <p:nvPr/>
        </p:nvSpPr>
        <p:spPr>
          <a:xfrm>
            <a:off x="12615312" y="2975844"/>
            <a:ext cx="9356019" cy="630869"/>
          </a:xfrm>
          <a:prstGeom prst="rect">
            <a:avLst/>
          </a:prstGeom>
          <a:noFill/>
        </p:spPr>
        <p:txBody>
          <a:bodyPr wrap="square" lIns="36000" tIns="36000" rIns="36000" bIns="36000" anchor="ctr">
            <a:spAutoFit/>
          </a:bodyPr>
          <a:lstStyle/>
          <a:p>
            <a:pPr algn="ctr">
              <a:lnSpc>
                <a:spcPct val="105000"/>
              </a:lnSpc>
            </a:pPr>
            <a:r>
              <a:rPr sz="3600" b="1" dirty="0">
                <a:solidFill>
                  <a:srgbClr val="3D4A1F"/>
                </a:solidFill>
                <a:latin typeface="Calibri"/>
              </a:rPr>
              <a:t>Supervisors:  Dr. Avner Priel</a:t>
            </a:r>
            <a:r>
              <a:rPr lang="en-US" sz="3600" b="1" dirty="0">
                <a:solidFill>
                  <a:srgbClr val="3D4A1F"/>
                </a:solidFill>
                <a:latin typeface="Calibri"/>
              </a:rPr>
              <a:t>, </a:t>
            </a:r>
            <a:r>
              <a:rPr sz="3600" b="1" dirty="0">
                <a:solidFill>
                  <a:srgbClr val="3D4A1F"/>
                </a:solidFill>
                <a:latin typeface="Calibri"/>
              </a:rPr>
              <a:t>Dr. Alaa Jamal</a:t>
            </a:r>
          </a:p>
        </p:txBody>
      </p:sp>
      <p:sp>
        <p:nvSpPr>
          <p:cNvPr id="6" name="Rounded Rectangle 5"/>
          <p:cNvSpPr/>
          <p:nvPr/>
        </p:nvSpPr>
        <p:spPr>
          <a:xfrm>
            <a:off x="1459293" y="3715804"/>
            <a:ext cx="22320000" cy="57600"/>
          </a:xfrm>
          <a:prstGeom prst="roundRect">
            <a:avLst>
              <a:gd name="adj" fmla="val 50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67293" y="3859803"/>
            <a:ext cx="11664000" cy="3814473"/>
          </a:xfrm>
          <a:prstGeom prst="roundRect">
            <a:avLst>
              <a:gd name="adj" fmla="val 5663"/>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Rounded Rectangle 7"/>
          <p:cNvSpPr/>
          <p:nvPr/>
        </p:nvSpPr>
        <p:spPr>
          <a:xfrm>
            <a:off x="937292" y="4111804"/>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01</a:t>
            </a:r>
          </a:p>
        </p:txBody>
      </p:sp>
      <p:sp>
        <p:nvSpPr>
          <p:cNvPr id="9" name="TextBox 8"/>
          <p:cNvSpPr txBox="1"/>
          <p:nvPr/>
        </p:nvSpPr>
        <p:spPr>
          <a:xfrm>
            <a:off x="1693293" y="4102654"/>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Motivation</a:t>
            </a:r>
          </a:p>
        </p:txBody>
      </p:sp>
      <p:sp>
        <p:nvSpPr>
          <p:cNvPr id="10" name="Rectangle 9"/>
          <p:cNvSpPr/>
          <p:nvPr/>
        </p:nvSpPr>
        <p:spPr>
          <a:xfrm>
            <a:off x="955293" y="4777604"/>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p>
        </p:txBody>
      </p:sp>
      <p:sp>
        <p:nvSpPr>
          <p:cNvPr id="11" name="TextBox 10"/>
          <p:cNvSpPr txBox="1"/>
          <p:nvPr/>
        </p:nvSpPr>
        <p:spPr>
          <a:xfrm>
            <a:off x="973294" y="4890553"/>
            <a:ext cx="11051998" cy="2469321"/>
          </a:xfrm>
          <a:prstGeom prst="rect">
            <a:avLst/>
          </a:prstGeom>
          <a:noFill/>
        </p:spPr>
        <p:txBody>
          <a:bodyPr wrap="square" lIns="36000" tIns="36000" rIns="36000" bIns="36000" anchor="t">
            <a:spAutoFit/>
          </a:bodyPr>
          <a:lstStyle/>
          <a:p>
            <a:pPr>
              <a:lnSpc>
                <a:spcPct val="106000"/>
              </a:lnSpc>
              <a:spcAft>
                <a:spcPts val="500"/>
              </a:spcAft>
            </a:pPr>
            <a:r>
              <a:rPr lang="en-US" sz="2400" dirty="0">
                <a:solidFill>
                  <a:schemeClr val="tx2">
                    <a:lumMod val="75000"/>
                  </a:schemeClr>
                </a:solidFill>
              </a:rPr>
              <a:t>Root-zone pH and electrical conductivity (EC) indicate nutrient status, salinity, and fertilizer effects. In greenhouses, they are often measured manually and infrequently, leaving gaps where irrigation, fertigation, climate, and plant uptake changes may be missed. Predictive modeling can estimate pH and EC under planned irrigation/fertigation actions, helping growers adjust management before conditions drift.</a:t>
            </a:r>
          </a:p>
          <a:p>
            <a:pPr>
              <a:lnSpc>
                <a:spcPct val="106000"/>
              </a:lnSpc>
              <a:spcAft>
                <a:spcPts val="500"/>
              </a:spcAft>
            </a:pPr>
            <a:endParaRPr lang="en-US" sz="2400" dirty="0">
              <a:solidFill>
                <a:schemeClr val="tx2">
                  <a:lumMod val="75000"/>
                </a:schemeClr>
              </a:solidFill>
            </a:endParaRPr>
          </a:p>
        </p:txBody>
      </p:sp>
      <p:sp>
        <p:nvSpPr>
          <p:cNvPr id="12" name="Rounded Rectangle 11"/>
          <p:cNvSpPr/>
          <p:nvPr/>
        </p:nvSpPr>
        <p:spPr>
          <a:xfrm>
            <a:off x="667293" y="7936729"/>
            <a:ext cx="11664000" cy="3814473"/>
          </a:xfrm>
          <a:prstGeom prst="roundRect">
            <a:avLst>
              <a:gd name="adj" fmla="val 5663"/>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Rounded Rectangle 12"/>
          <p:cNvSpPr/>
          <p:nvPr/>
        </p:nvSpPr>
        <p:spPr>
          <a:xfrm>
            <a:off x="937292" y="817230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02</a:t>
            </a:r>
          </a:p>
        </p:txBody>
      </p:sp>
      <p:sp>
        <p:nvSpPr>
          <p:cNvPr id="14" name="TextBox 13"/>
          <p:cNvSpPr txBox="1"/>
          <p:nvPr/>
        </p:nvSpPr>
        <p:spPr>
          <a:xfrm>
            <a:off x="1693293" y="816315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Project Goal</a:t>
            </a:r>
          </a:p>
        </p:txBody>
      </p:sp>
      <p:sp>
        <p:nvSpPr>
          <p:cNvPr id="15" name="Rectangle 14"/>
          <p:cNvSpPr/>
          <p:nvPr/>
        </p:nvSpPr>
        <p:spPr>
          <a:xfrm>
            <a:off x="955293" y="883810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37292" y="8942091"/>
            <a:ext cx="11087999" cy="2090628"/>
          </a:xfrm>
          <a:prstGeom prst="rect">
            <a:avLst/>
          </a:prstGeom>
          <a:noFill/>
        </p:spPr>
        <p:txBody>
          <a:bodyPr wrap="square" lIns="36000" tIns="36000" rIns="36000" bIns="36000" anchor="t">
            <a:spAutoFit/>
          </a:bodyPr>
          <a:lstStyle/>
          <a:p>
            <a:pPr>
              <a:lnSpc>
                <a:spcPct val="106000"/>
              </a:lnSpc>
              <a:spcAft>
                <a:spcPts val="600"/>
              </a:spcAft>
            </a:pPr>
            <a:r>
              <a:rPr lang="en-US" sz="2400" dirty="0">
                <a:solidFill>
                  <a:schemeClr val="tx2">
                    <a:lumMod val="75000"/>
                  </a:schemeClr>
                </a:solidFill>
              </a:rPr>
              <a:t>▪ Develop a soft sensor that predicts future root-zone pH and EC using the latest pH/EC measurement, forecast climate, planned irrigation/fertigation, and crop-state data.</a:t>
            </a:r>
            <a:br>
              <a:rPr lang="en-US" sz="2400" dirty="0">
                <a:solidFill>
                  <a:schemeClr val="tx2">
                    <a:lumMod val="75000"/>
                  </a:schemeClr>
                </a:solidFill>
              </a:rPr>
            </a:br>
            <a:endParaRPr lang="en-US" sz="2400" dirty="0">
              <a:solidFill>
                <a:schemeClr val="tx2">
                  <a:lumMod val="75000"/>
                </a:schemeClr>
              </a:solidFill>
            </a:endParaRPr>
          </a:p>
          <a:p>
            <a:pPr>
              <a:lnSpc>
                <a:spcPct val="106000"/>
              </a:lnSpc>
              <a:spcAft>
                <a:spcPts val="600"/>
              </a:spcAft>
            </a:pPr>
            <a:r>
              <a:rPr lang="en-US" sz="2400" dirty="0">
                <a:solidFill>
                  <a:schemeClr val="tx2">
                    <a:lumMod val="75000"/>
                  </a:schemeClr>
                </a:solidFill>
              </a:rPr>
              <a:t>▪ Estimate t₀ → t₁ changes in pH and EC, allowing growers to evaluate planned irrigation/fertigation strategies and adjust management before conditions drift.</a:t>
            </a:r>
          </a:p>
        </p:txBody>
      </p:sp>
      <p:sp>
        <p:nvSpPr>
          <p:cNvPr id="17" name="Rounded Rectangle 16"/>
          <p:cNvSpPr/>
          <p:nvPr/>
        </p:nvSpPr>
        <p:spPr>
          <a:xfrm>
            <a:off x="667293" y="11995804"/>
            <a:ext cx="11664000" cy="5256000"/>
          </a:xfrm>
          <a:prstGeom prst="roundRect">
            <a:avLst>
              <a:gd name="adj" fmla="val 411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37292" y="12247803"/>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03</a:t>
            </a:r>
          </a:p>
        </p:txBody>
      </p:sp>
      <p:sp>
        <p:nvSpPr>
          <p:cNvPr id="19" name="TextBox 18"/>
          <p:cNvSpPr txBox="1"/>
          <p:nvPr/>
        </p:nvSpPr>
        <p:spPr>
          <a:xfrm>
            <a:off x="1693293" y="12238654"/>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Data</a:t>
            </a:r>
          </a:p>
        </p:txBody>
      </p:sp>
      <p:sp>
        <p:nvSpPr>
          <p:cNvPr id="20" name="Rectangle 19"/>
          <p:cNvSpPr/>
          <p:nvPr/>
        </p:nvSpPr>
        <p:spPr>
          <a:xfrm>
            <a:off x="955293" y="12939004"/>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73293" y="13057803"/>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800" b="1" i="0" dirty="0">
                <a:solidFill>
                  <a:srgbClr val="3D4A1F"/>
                </a:solidFill>
                <a:latin typeface="Calibri"/>
              </a:rPr>
              <a:t>16,682</a:t>
            </a:r>
          </a:p>
          <a:p>
            <a:pPr algn="ctr">
              <a:lnSpc>
                <a:spcPct val="95000"/>
              </a:lnSpc>
              <a:spcBef>
                <a:spcPts val="200"/>
              </a:spcBef>
              <a:spcAft>
                <a:spcPts val="0"/>
              </a:spcAft>
            </a:pPr>
            <a:r>
              <a:rPr sz="3200" b="1" i="0" dirty="0">
                <a:solidFill>
                  <a:srgbClr val="2E3517"/>
                </a:solidFill>
                <a:latin typeface="Calibri"/>
              </a:rPr>
              <a:t>10-min </a:t>
            </a:r>
            <a:r>
              <a:rPr lang="en-US" sz="3200" b="1" i="0" dirty="0">
                <a:solidFill>
                  <a:srgbClr val="2E3517"/>
                </a:solidFill>
                <a:latin typeface="Calibri"/>
              </a:rPr>
              <a:t>records</a:t>
            </a:r>
            <a:endParaRPr sz="3200" b="1" i="0" dirty="0">
              <a:solidFill>
                <a:srgbClr val="2E3517"/>
              </a:solidFill>
              <a:latin typeface="Calibri"/>
            </a:endParaRPr>
          </a:p>
        </p:txBody>
      </p:sp>
      <p:sp>
        <p:nvSpPr>
          <p:cNvPr id="22" name="Rounded Rectangle 21"/>
          <p:cNvSpPr/>
          <p:nvPr/>
        </p:nvSpPr>
        <p:spPr>
          <a:xfrm>
            <a:off x="4717293" y="13057803"/>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800" b="1" i="0" dirty="0">
                <a:solidFill>
                  <a:srgbClr val="3D4A1F"/>
                </a:solidFill>
                <a:latin typeface="Calibri"/>
              </a:rPr>
              <a:t>109</a:t>
            </a:r>
          </a:p>
          <a:p>
            <a:pPr algn="ctr">
              <a:lnSpc>
                <a:spcPct val="95000"/>
              </a:lnSpc>
              <a:spcBef>
                <a:spcPts val="200"/>
              </a:spcBef>
              <a:spcAft>
                <a:spcPts val="0"/>
              </a:spcAft>
            </a:pPr>
            <a:r>
              <a:rPr sz="3200" b="1" i="0" dirty="0">
                <a:solidFill>
                  <a:srgbClr val="2E3517"/>
                </a:solidFill>
                <a:latin typeface="Calibri"/>
              </a:rPr>
              <a:t>pH/EC </a:t>
            </a:r>
            <a:r>
              <a:rPr lang="en-US" sz="3200" b="1" i="0" dirty="0">
                <a:solidFill>
                  <a:srgbClr val="2E3517"/>
                </a:solidFill>
                <a:latin typeface="Calibri"/>
              </a:rPr>
              <a:t>samples</a:t>
            </a:r>
            <a:endParaRPr sz="3200" b="1" i="0" dirty="0">
              <a:solidFill>
                <a:srgbClr val="2E3517"/>
              </a:solidFill>
              <a:latin typeface="Calibri"/>
            </a:endParaRPr>
          </a:p>
        </p:txBody>
      </p:sp>
      <p:sp>
        <p:nvSpPr>
          <p:cNvPr id="23" name="Rounded Rectangle 22"/>
          <p:cNvSpPr/>
          <p:nvPr/>
        </p:nvSpPr>
        <p:spPr>
          <a:xfrm>
            <a:off x="8461293" y="13057803"/>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lang="he-IL" sz="4800" b="1" dirty="0">
                <a:solidFill>
                  <a:srgbClr val="3D4A1F"/>
                </a:solidFill>
                <a:latin typeface="+mj-lt"/>
              </a:rPr>
              <a:t>+</a:t>
            </a:r>
            <a:r>
              <a:rPr lang="he-IL" sz="4800" b="1" i="0" dirty="0">
                <a:solidFill>
                  <a:srgbClr val="3D4A1F"/>
                </a:solidFill>
                <a:latin typeface="+mj-lt"/>
              </a:rPr>
              <a:t>20</a:t>
            </a:r>
            <a:endParaRPr sz="4800" b="1" i="0" dirty="0">
              <a:solidFill>
                <a:srgbClr val="3D4A1F"/>
              </a:solidFill>
              <a:latin typeface="+mj-lt"/>
            </a:endParaRPr>
          </a:p>
          <a:p>
            <a:pPr algn="ctr">
              <a:lnSpc>
                <a:spcPct val="95000"/>
              </a:lnSpc>
              <a:spcBef>
                <a:spcPts val="200"/>
              </a:spcBef>
              <a:spcAft>
                <a:spcPts val="0"/>
              </a:spcAft>
            </a:pPr>
            <a:r>
              <a:rPr sz="3200" b="1" i="0" dirty="0">
                <a:solidFill>
                  <a:srgbClr val="2E3517"/>
                </a:solidFill>
                <a:latin typeface="Calibri"/>
              </a:rPr>
              <a:t>input features</a:t>
            </a:r>
          </a:p>
        </p:txBody>
      </p:sp>
      <p:sp>
        <p:nvSpPr>
          <p:cNvPr id="24" name="TextBox 23"/>
          <p:cNvSpPr txBox="1"/>
          <p:nvPr/>
        </p:nvSpPr>
        <p:spPr>
          <a:xfrm>
            <a:off x="973293" y="14502883"/>
            <a:ext cx="11160000" cy="2456497"/>
          </a:xfrm>
          <a:prstGeom prst="rect">
            <a:avLst/>
          </a:prstGeom>
          <a:noFill/>
        </p:spPr>
        <p:txBody>
          <a:bodyPr wrap="square" lIns="36000" tIns="36000" rIns="36000" bIns="36000" anchor="t">
            <a:spAutoFit/>
          </a:bodyPr>
          <a:lstStyle/>
          <a:p>
            <a:pPr>
              <a:lnSpc>
                <a:spcPct val="106000"/>
              </a:lnSpc>
              <a:spcAft>
                <a:spcPts val="400"/>
              </a:spcAft>
            </a:pPr>
            <a:r>
              <a:rPr lang="en-US" sz="2400" b="1" dirty="0">
                <a:solidFill>
                  <a:schemeClr val="tx2">
                    <a:lumMod val="75000"/>
                  </a:schemeClr>
                </a:solidFill>
              </a:rPr>
              <a:t>Unified 10-minute master dataset, May 29 – Sep 21, 2025:</a:t>
            </a:r>
            <a:br>
              <a:rPr lang="en-US" sz="2400" dirty="0">
                <a:solidFill>
                  <a:schemeClr val="tx2">
                    <a:lumMod val="75000"/>
                  </a:schemeClr>
                </a:solidFill>
              </a:rPr>
            </a:br>
            <a:r>
              <a:rPr lang="en-US" sz="2400" b="1" dirty="0">
                <a:solidFill>
                  <a:srgbClr val="5E6E2E"/>
                </a:solidFill>
              </a:rPr>
              <a:t>▪</a:t>
            </a:r>
            <a:r>
              <a:rPr lang="en-US" sz="2400" dirty="0">
                <a:solidFill>
                  <a:schemeClr val="tx2">
                    <a:lumMod val="75000"/>
                  </a:schemeClr>
                </a:solidFill>
              </a:rPr>
              <a:t> </a:t>
            </a:r>
            <a:r>
              <a:rPr lang="en-US" sz="2400" b="1" dirty="0">
                <a:solidFill>
                  <a:schemeClr val="tx2">
                    <a:lumMod val="75000"/>
                  </a:schemeClr>
                </a:solidFill>
              </a:rPr>
              <a:t>External weather &amp; solar radiation — </a:t>
            </a:r>
            <a:r>
              <a:rPr lang="en-US" sz="2400" dirty="0">
                <a:solidFill>
                  <a:schemeClr val="tx2">
                    <a:lumMod val="75000"/>
                  </a:schemeClr>
                </a:solidFill>
              </a:rPr>
              <a:t>weather station and solar sensor</a:t>
            </a:r>
          </a:p>
          <a:p>
            <a:pPr>
              <a:lnSpc>
                <a:spcPct val="106000"/>
              </a:lnSpc>
              <a:spcAft>
                <a:spcPts val="400"/>
              </a:spcAft>
            </a:pPr>
            <a:r>
              <a:rPr lang="en-US" sz="2400" b="1" dirty="0">
                <a:solidFill>
                  <a:srgbClr val="5E6E2E"/>
                </a:solidFill>
              </a:rPr>
              <a:t>▪</a:t>
            </a:r>
            <a:r>
              <a:rPr lang="en-US" sz="2400" dirty="0">
                <a:solidFill>
                  <a:schemeClr val="tx2">
                    <a:lumMod val="75000"/>
                  </a:schemeClr>
                </a:solidFill>
              </a:rPr>
              <a:t> </a:t>
            </a:r>
            <a:r>
              <a:rPr lang="en-US" sz="2400" b="1" dirty="0">
                <a:solidFill>
                  <a:schemeClr val="tx2">
                    <a:lumMod val="75000"/>
                  </a:schemeClr>
                </a:solidFill>
              </a:rPr>
              <a:t>Greenhouse microclimate </a:t>
            </a:r>
            <a:r>
              <a:rPr lang="en-US" sz="2400" dirty="0"/>
              <a:t>— </a:t>
            </a:r>
            <a:r>
              <a:rPr lang="en-US" sz="2400" dirty="0">
                <a:solidFill>
                  <a:schemeClr val="tx2">
                    <a:lumMod val="75000"/>
                  </a:schemeClr>
                </a:solidFill>
              </a:rPr>
              <a:t>internal sensor data</a:t>
            </a:r>
            <a:br>
              <a:rPr lang="en-US" sz="2400" dirty="0">
                <a:solidFill>
                  <a:schemeClr val="tx2">
                    <a:lumMod val="75000"/>
                  </a:schemeClr>
                </a:solidFill>
              </a:rPr>
            </a:br>
            <a:r>
              <a:rPr lang="en-US" sz="2400" b="1" dirty="0">
                <a:solidFill>
                  <a:srgbClr val="5E6E2E"/>
                </a:solidFill>
              </a:rPr>
              <a:t>▪</a:t>
            </a:r>
            <a:r>
              <a:rPr lang="en-US" sz="2400" dirty="0">
                <a:solidFill>
                  <a:schemeClr val="tx2">
                    <a:lumMod val="75000"/>
                  </a:schemeClr>
                </a:solidFill>
              </a:rPr>
              <a:t> </a:t>
            </a:r>
            <a:r>
              <a:rPr lang="en-US" sz="2400" b="1" dirty="0">
                <a:solidFill>
                  <a:schemeClr val="tx2">
                    <a:lumMod val="75000"/>
                  </a:schemeClr>
                </a:solidFill>
              </a:rPr>
              <a:t>Irrigation &amp; fertigation </a:t>
            </a:r>
            <a:r>
              <a:rPr lang="en-US" sz="2400" dirty="0"/>
              <a:t>— </a:t>
            </a:r>
            <a:r>
              <a:rPr lang="en-US" sz="2400" dirty="0">
                <a:solidFill>
                  <a:schemeClr val="tx2">
                    <a:lumMod val="75000"/>
                  </a:schemeClr>
                </a:solidFill>
              </a:rPr>
              <a:t>scheduled management inputs</a:t>
            </a:r>
            <a:br>
              <a:rPr lang="en-US" sz="2400" dirty="0">
                <a:solidFill>
                  <a:schemeClr val="tx2">
                    <a:lumMod val="75000"/>
                  </a:schemeClr>
                </a:solidFill>
              </a:rPr>
            </a:br>
            <a:r>
              <a:rPr lang="en-US" sz="2400" b="1" dirty="0">
                <a:solidFill>
                  <a:srgbClr val="5E6E2E"/>
                </a:solidFill>
              </a:rPr>
              <a:t>▪</a:t>
            </a:r>
            <a:r>
              <a:rPr lang="en-US" sz="2400" dirty="0">
                <a:solidFill>
                  <a:schemeClr val="tx2">
                    <a:lumMod val="75000"/>
                  </a:schemeClr>
                </a:solidFill>
              </a:rPr>
              <a:t> </a:t>
            </a:r>
            <a:r>
              <a:rPr lang="en-US" sz="2400" b="1" dirty="0">
                <a:solidFill>
                  <a:schemeClr val="tx2">
                    <a:lumMod val="75000"/>
                  </a:schemeClr>
                </a:solidFill>
              </a:rPr>
              <a:t>Crop-state features </a:t>
            </a:r>
            <a:r>
              <a:rPr lang="en-US" sz="2400" dirty="0"/>
              <a:t>— </a:t>
            </a:r>
            <a:r>
              <a:rPr lang="en-US" sz="2400" dirty="0">
                <a:solidFill>
                  <a:schemeClr val="tx2">
                    <a:lumMod val="75000"/>
                  </a:schemeClr>
                </a:solidFill>
              </a:rPr>
              <a:t>canopy-cover observations</a:t>
            </a:r>
            <a:br>
              <a:rPr lang="en-US" sz="2400" dirty="0">
                <a:solidFill>
                  <a:schemeClr val="tx2">
                    <a:lumMod val="75000"/>
                  </a:schemeClr>
                </a:solidFill>
              </a:rPr>
            </a:br>
            <a:r>
              <a:rPr lang="en-US" sz="2400" b="1" dirty="0">
                <a:solidFill>
                  <a:srgbClr val="5E6E2E"/>
                </a:solidFill>
              </a:rPr>
              <a:t>▪</a:t>
            </a:r>
            <a:r>
              <a:rPr lang="en-US" sz="2400" dirty="0">
                <a:solidFill>
                  <a:schemeClr val="tx2">
                    <a:lumMod val="75000"/>
                  </a:schemeClr>
                </a:solidFill>
              </a:rPr>
              <a:t> </a:t>
            </a:r>
            <a:r>
              <a:rPr lang="en-US" sz="2400" b="1" dirty="0">
                <a:solidFill>
                  <a:schemeClr val="tx2">
                    <a:lumMod val="75000"/>
                  </a:schemeClr>
                </a:solidFill>
              </a:rPr>
              <a:t>Manual pH &amp; EC measurements </a:t>
            </a:r>
            <a:r>
              <a:rPr lang="en-US" sz="2400" dirty="0"/>
              <a:t>— </a:t>
            </a:r>
            <a:r>
              <a:rPr lang="en-US" sz="2400" dirty="0">
                <a:solidFill>
                  <a:schemeClr val="tx2">
                    <a:lumMod val="75000"/>
                  </a:schemeClr>
                </a:solidFill>
              </a:rPr>
              <a:t>lab-measured model labels</a:t>
            </a:r>
            <a:endParaRPr lang="en-US" sz="2400" dirty="0">
              <a:solidFill>
                <a:schemeClr val="tx2">
                  <a:lumMod val="75000"/>
                </a:schemeClr>
              </a:solidFill>
              <a:latin typeface="Calibri"/>
            </a:endParaRPr>
          </a:p>
        </p:txBody>
      </p:sp>
      <p:sp>
        <p:nvSpPr>
          <p:cNvPr id="25" name="Rounded Rectangle 24"/>
          <p:cNvSpPr/>
          <p:nvPr/>
        </p:nvSpPr>
        <p:spPr>
          <a:xfrm>
            <a:off x="667293" y="17469603"/>
            <a:ext cx="11664000" cy="7200000"/>
          </a:xfrm>
          <a:prstGeom prst="roundRect">
            <a:avLst>
              <a:gd name="adj" fmla="val 30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37292" y="17721604"/>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04</a:t>
            </a:r>
          </a:p>
        </p:txBody>
      </p:sp>
      <p:sp>
        <p:nvSpPr>
          <p:cNvPr id="27" name="TextBox 26"/>
          <p:cNvSpPr txBox="1"/>
          <p:nvPr/>
        </p:nvSpPr>
        <p:spPr>
          <a:xfrm>
            <a:off x="1693293" y="17712453"/>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Method</a:t>
            </a:r>
          </a:p>
        </p:txBody>
      </p:sp>
      <p:sp>
        <p:nvSpPr>
          <p:cNvPr id="28" name="Rectangle 27"/>
          <p:cNvSpPr/>
          <p:nvPr/>
        </p:nvSpPr>
        <p:spPr>
          <a:xfrm>
            <a:off x="955293" y="18412803"/>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73293" y="18531604"/>
            <a:ext cx="11052000" cy="4195307"/>
          </a:xfrm>
          <a:prstGeom prst="rect">
            <a:avLst/>
          </a:prstGeom>
          <a:noFill/>
        </p:spPr>
        <p:txBody>
          <a:bodyPr wrap="square" lIns="36000" tIns="36000" rIns="36000" bIns="36000" anchor="t">
            <a:spAutoFit/>
          </a:bodyPr>
          <a:lstStyle/>
          <a:p>
            <a:pPr>
              <a:lnSpc>
                <a:spcPct val="106000"/>
              </a:lnSpc>
              <a:spcAft>
                <a:spcPts val="600"/>
              </a:spcAft>
            </a:pPr>
            <a:r>
              <a:rPr lang="en-US" sz="2400" b="1" dirty="0">
                <a:solidFill>
                  <a:schemeClr val="tx2">
                    <a:lumMod val="75000"/>
                  </a:schemeClr>
                </a:solidFill>
              </a:rPr>
              <a:t>Two-stage prediction pipeline:</a:t>
            </a:r>
          </a:p>
          <a:p>
            <a:pPr>
              <a:lnSpc>
                <a:spcPct val="106000"/>
              </a:lnSpc>
              <a:spcAft>
                <a:spcPts val="600"/>
              </a:spcAft>
            </a:pPr>
            <a:r>
              <a:rPr lang="en-US" sz="2400" dirty="0">
                <a:solidFill>
                  <a:schemeClr val="tx2">
                    <a:lumMod val="75000"/>
                  </a:schemeClr>
                </a:solidFill>
              </a:rPr>
              <a:t>1. Forecast internal greenhouse microclimate from external weather and radiation.</a:t>
            </a:r>
          </a:p>
          <a:p>
            <a:pPr>
              <a:lnSpc>
                <a:spcPct val="106000"/>
              </a:lnSpc>
              <a:spcAft>
                <a:spcPts val="600"/>
              </a:spcAft>
            </a:pPr>
            <a:r>
              <a:rPr lang="en-US" sz="2400" dirty="0">
                <a:solidFill>
                  <a:schemeClr val="tx2">
                    <a:lumMod val="75000"/>
                  </a:schemeClr>
                </a:solidFill>
              </a:rPr>
              <a:t>2. Predict t₀ → t₁ ΔpH/ΔEC from forecast climate, crop state, and planned events.</a:t>
            </a: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p:txBody>
      </p:sp>
      <p:sp>
        <p:nvSpPr>
          <p:cNvPr id="31" name="Rounded Rectangle 30"/>
          <p:cNvSpPr/>
          <p:nvPr/>
        </p:nvSpPr>
        <p:spPr>
          <a:xfrm>
            <a:off x="667293" y="24883803"/>
            <a:ext cx="11664000" cy="10440000"/>
          </a:xfrm>
          <a:prstGeom prst="roundRect">
            <a:avLst>
              <a:gd name="adj" fmla="val 2069"/>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937292" y="25135803"/>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05</a:t>
            </a:r>
          </a:p>
        </p:txBody>
      </p:sp>
      <p:sp>
        <p:nvSpPr>
          <p:cNvPr id="33" name="TextBox 32"/>
          <p:cNvSpPr txBox="1"/>
          <p:nvPr/>
        </p:nvSpPr>
        <p:spPr>
          <a:xfrm>
            <a:off x="1693293" y="25126653"/>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Algorithms &amp; Model Choice</a:t>
            </a:r>
          </a:p>
        </p:txBody>
      </p:sp>
      <p:sp>
        <p:nvSpPr>
          <p:cNvPr id="34" name="Rectangle 33"/>
          <p:cNvSpPr/>
          <p:nvPr/>
        </p:nvSpPr>
        <p:spPr>
          <a:xfrm>
            <a:off x="955293" y="25827003"/>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73293" y="26760303"/>
            <a:ext cx="5418000" cy="2649599"/>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t"/>
          <a:lstStyle/>
          <a:p>
            <a:pPr algn="l">
              <a:lnSpc>
                <a:spcPct val="100000"/>
              </a:lnSpc>
              <a:spcBef>
                <a:spcPts val="0"/>
              </a:spcBef>
              <a:spcAft>
                <a:spcPts val="300"/>
              </a:spcAft>
            </a:pPr>
            <a:r>
              <a:rPr sz="2800" b="1" dirty="0">
                <a:solidFill>
                  <a:srgbClr val="5E6E2E"/>
                </a:solidFill>
                <a:latin typeface="Calibri"/>
              </a:rPr>
              <a:t>Gradient Boosting</a:t>
            </a:r>
          </a:p>
          <a:p>
            <a:pPr>
              <a:lnSpc>
                <a:spcPct val="104000"/>
              </a:lnSpc>
            </a:pPr>
            <a:r>
              <a:rPr lang="en-US" sz="2400" dirty="0">
                <a:solidFill>
                  <a:srgbClr val="2E3517"/>
                </a:solidFill>
              </a:rPr>
              <a:t>Main nonlinear model for tabular greenhouse data.</a:t>
            </a:r>
            <a:br>
              <a:rPr lang="en-US" sz="2400" dirty="0">
                <a:solidFill>
                  <a:srgbClr val="2E3517"/>
                </a:solidFill>
              </a:rPr>
            </a:br>
            <a:r>
              <a:rPr lang="en-US" sz="2400" dirty="0">
                <a:solidFill>
                  <a:srgbClr val="2E3517"/>
                </a:solidFill>
              </a:rPr>
              <a:t>Captures interactions between climate, irrigation, fertigation, crop state, and baseline pH/EC.</a:t>
            </a:r>
            <a:endParaRPr lang="en-US" sz="2400" b="0" dirty="0">
              <a:solidFill>
                <a:srgbClr val="2E3517"/>
              </a:solidFill>
              <a:latin typeface="Calibri"/>
            </a:endParaRPr>
          </a:p>
        </p:txBody>
      </p:sp>
      <p:sp>
        <p:nvSpPr>
          <p:cNvPr id="38" name="Rounded Rectangle 37"/>
          <p:cNvSpPr/>
          <p:nvPr/>
        </p:nvSpPr>
        <p:spPr>
          <a:xfrm>
            <a:off x="6607293" y="26760303"/>
            <a:ext cx="5418000" cy="2649599"/>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t"/>
          <a:lstStyle/>
          <a:p>
            <a:pPr algn="l">
              <a:lnSpc>
                <a:spcPct val="100000"/>
              </a:lnSpc>
              <a:spcBef>
                <a:spcPts val="0"/>
              </a:spcBef>
              <a:spcAft>
                <a:spcPts val="300"/>
              </a:spcAft>
            </a:pPr>
            <a:r>
              <a:rPr sz="2800" b="1" dirty="0">
                <a:solidFill>
                  <a:srgbClr val="5E6E2E"/>
                </a:solidFill>
                <a:latin typeface="Calibri"/>
              </a:rPr>
              <a:t>Huber Regressor</a:t>
            </a:r>
          </a:p>
          <a:p>
            <a:pPr>
              <a:lnSpc>
                <a:spcPct val="104000"/>
              </a:lnSpc>
            </a:pPr>
            <a:r>
              <a:rPr lang="en-US" sz="2400" dirty="0">
                <a:solidFill>
                  <a:srgbClr val="2E3517"/>
                </a:solidFill>
              </a:rPr>
              <a:t>Robust companion model for sharp pH/EC shifts.</a:t>
            </a:r>
            <a:br>
              <a:rPr lang="en-US" sz="2400" dirty="0">
                <a:solidFill>
                  <a:srgbClr val="2E3517"/>
                </a:solidFill>
              </a:rPr>
            </a:br>
            <a:r>
              <a:rPr lang="en-US" sz="2400" dirty="0">
                <a:solidFill>
                  <a:srgbClr val="2E3517"/>
                </a:solidFill>
              </a:rPr>
              <a:t>Reduces sensitivity to extreme intervals linked to acid, fertigation, or salinity changes.</a:t>
            </a:r>
            <a:endParaRPr lang="en-US" sz="2400" b="0" dirty="0">
              <a:solidFill>
                <a:srgbClr val="2E3517"/>
              </a:solidFill>
              <a:latin typeface="Calibri"/>
            </a:endParaRPr>
          </a:p>
        </p:txBody>
      </p:sp>
      <p:sp>
        <p:nvSpPr>
          <p:cNvPr id="39" name="Rounded Rectangle 38"/>
          <p:cNvSpPr/>
          <p:nvPr/>
        </p:nvSpPr>
        <p:spPr>
          <a:xfrm>
            <a:off x="12907292" y="11263904"/>
            <a:ext cx="11664000" cy="7848000"/>
          </a:xfrm>
          <a:prstGeom prst="roundRect">
            <a:avLst>
              <a:gd name="adj" fmla="val 2752"/>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13177292" y="11515904"/>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07</a:t>
            </a:r>
            <a:endParaRPr sz="3600" b="1" i="0" dirty="0">
              <a:solidFill>
                <a:srgbClr val="FFFFFF"/>
              </a:solidFill>
              <a:latin typeface="+mj-lt"/>
            </a:endParaRPr>
          </a:p>
        </p:txBody>
      </p:sp>
      <p:sp>
        <p:nvSpPr>
          <p:cNvPr id="41" name="TextBox 40"/>
          <p:cNvSpPr txBox="1"/>
          <p:nvPr/>
        </p:nvSpPr>
        <p:spPr>
          <a:xfrm>
            <a:off x="13933293" y="11506754"/>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lang="en-US" sz="3600" b="1" dirty="0">
                <a:solidFill>
                  <a:srgbClr val="3D4A1F"/>
                </a:solidFill>
                <a:latin typeface="+mj-lt"/>
              </a:rPr>
              <a:t>M</a:t>
            </a:r>
            <a:r>
              <a:rPr lang="en-US" sz="3600" b="1" i="0" dirty="0">
                <a:solidFill>
                  <a:srgbClr val="3D4A1F"/>
                </a:solidFill>
                <a:latin typeface="+mj-lt"/>
              </a:rPr>
              <a:t>icroclimate</a:t>
            </a:r>
            <a:r>
              <a:rPr sz="3600" b="1" i="0" dirty="0">
                <a:solidFill>
                  <a:srgbClr val="3D4A1F"/>
                </a:solidFill>
                <a:latin typeface="+mj-lt"/>
              </a:rPr>
              <a:t> Model</a:t>
            </a:r>
          </a:p>
        </p:txBody>
      </p:sp>
      <p:sp>
        <p:nvSpPr>
          <p:cNvPr id="42" name="Rectangle 41"/>
          <p:cNvSpPr/>
          <p:nvPr/>
        </p:nvSpPr>
        <p:spPr>
          <a:xfrm>
            <a:off x="13195292" y="12207104"/>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3213293" y="12325904"/>
            <a:ext cx="11052000" cy="1320417"/>
          </a:xfrm>
          <a:prstGeom prst="rect">
            <a:avLst/>
          </a:prstGeom>
          <a:noFill/>
        </p:spPr>
        <p:txBody>
          <a:bodyPr wrap="square" lIns="36000" tIns="36000" rIns="36000" bIns="36000" anchor="t">
            <a:spAutoFit/>
          </a:bodyPr>
          <a:lstStyle/>
          <a:p>
            <a:pPr>
              <a:lnSpc>
                <a:spcPct val="106000"/>
              </a:lnSpc>
              <a:spcAft>
                <a:spcPts val="700"/>
              </a:spcAft>
            </a:pPr>
            <a:r>
              <a:rPr lang="en-US" sz="2400" dirty="0">
                <a:solidFill>
                  <a:schemeClr val="tx2">
                    <a:lumMod val="75000"/>
                  </a:schemeClr>
                </a:solidFill>
              </a:rPr>
              <a:t>▪ Predicts internal greenhouse microclimate from external weather and radiation.</a:t>
            </a:r>
          </a:p>
          <a:p>
            <a:pPr>
              <a:lnSpc>
                <a:spcPct val="106000"/>
              </a:lnSpc>
              <a:spcAft>
                <a:spcPts val="700"/>
              </a:spcAft>
            </a:pPr>
            <a:r>
              <a:rPr lang="en-US" sz="2400" dirty="0">
                <a:solidFill>
                  <a:schemeClr val="tx2">
                    <a:lumMod val="75000"/>
                  </a:schemeClr>
                </a:solidFill>
              </a:rPr>
              <a:t>▪ Generates continuous inputs for the root-zone model: temperature, RH, radiation, ET₀, and soil temperature.</a:t>
            </a:r>
          </a:p>
        </p:txBody>
      </p:sp>
      <p:sp>
        <p:nvSpPr>
          <p:cNvPr id="50" name="Rounded Rectangle 49"/>
          <p:cNvSpPr/>
          <p:nvPr/>
        </p:nvSpPr>
        <p:spPr>
          <a:xfrm>
            <a:off x="12907292" y="19339803"/>
            <a:ext cx="11664000" cy="8100000"/>
          </a:xfrm>
          <a:prstGeom prst="roundRect">
            <a:avLst>
              <a:gd name="adj" fmla="val 2667"/>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13177292" y="19591804"/>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08</a:t>
            </a:r>
          </a:p>
        </p:txBody>
      </p:sp>
      <p:sp>
        <p:nvSpPr>
          <p:cNvPr id="52" name="TextBox 51"/>
          <p:cNvSpPr txBox="1"/>
          <p:nvPr/>
        </p:nvSpPr>
        <p:spPr>
          <a:xfrm>
            <a:off x="13933293" y="19582653"/>
            <a:ext cx="10440000" cy="626701"/>
          </a:xfrm>
          <a:prstGeom prst="rect">
            <a:avLst/>
          </a:prstGeom>
          <a:noFill/>
        </p:spPr>
        <p:txBody>
          <a:bodyPr wrap="square" lIns="36000" tIns="36000" rIns="36000" bIns="36000" anchor="ctr">
            <a:spAutoFit/>
          </a:bodyPr>
          <a:lstStyle/>
          <a:p>
            <a:r>
              <a:rPr lang="en-US" sz="3600" b="1" dirty="0">
                <a:solidFill>
                  <a:srgbClr val="3D4A1F"/>
                </a:solidFill>
                <a:latin typeface="+mj-lt"/>
              </a:rPr>
              <a:t>Root-zone Model Results — Walk-forward Test</a:t>
            </a:r>
          </a:p>
        </p:txBody>
      </p:sp>
      <p:sp>
        <p:nvSpPr>
          <p:cNvPr id="53" name="Rectangle 52"/>
          <p:cNvSpPr/>
          <p:nvPr/>
        </p:nvSpPr>
        <p:spPr>
          <a:xfrm>
            <a:off x="13195292" y="20283003"/>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a:spLocks noChangeAspect="1"/>
          </p:cNvSpPr>
          <p:nvPr/>
        </p:nvSpPr>
        <p:spPr>
          <a:xfrm>
            <a:off x="13217943" y="20400046"/>
            <a:ext cx="2837928" cy="518653"/>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lang="en-US" sz="3600" b="1" i="0" dirty="0">
                <a:solidFill>
                  <a:srgbClr val="3D4A1F"/>
                </a:solidFill>
                <a:latin typeface="Calibri"/>
              </a:rPr>
              <a:t>0.33 </a:t>
            </a:r>
            <a:r>
              <a:rPr lang="en-US" sz="3600" b="1" i="0" dirty="0">
                <a:solidFill>
                  <a:srgbClr val="2E3517"/>
                </a:solidFill>
                <a:latin typeface="Calibri"/>
              </a:rPr>
              <a:t>pH MAE</a:t>
            </a:r>
          </a:p>
        </p:txBody>
      </p:sp>
      <p:sp>
        <p:nvSpPr>
          <p:cNvPr id="55" name="Rounded Rectangle 54"/>
          <p:cNvSpPr>
            <a:spLocks noChangeAspect="1"/>
          </p:cNvSpPr>
          <p:nvPr/>
        </p:nvSpPr>
        <p:spPr>
          <a:xfrm>
            <a:off x="16219818" y="20413118"/>
            <a:ext cx="2837928" cy="518653"/>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latin typeface="Calibri"/>
              </a:rPr>
              <a:t>0.93</a:t>
            </a:r>
            <a:r>
              <a:rPr lang="he-IL" sz="3600" b="1" i="0" dirty="0">
                <a:solidFill>
                  <a:srgbClr val="3D4A1F"/>
                </a:solidFill>
                <a:latin typeface="Calibri"/>
              </a:rPr>
              <a:t> </a:t>
            </a:r>
            <a:r>
              <a:rPr sz="3600" b="1" i="0" dirty="0">
                <a:solidFill>
                  <a:srgbClr val="2E3517"/>
                </a:solidFill>
                <a:latin typeface="Calibri"/>
              </a:rPr>
              <a:t>pH R²</a:t>
            </a:r>
          </a:p>
        </p:txBody>
      </p:sp>
      <p:sp>
        <p:nvSpPr>
          <p:cNvPr id="56" name="Rounded Rectangle 55"/>
          <p:cNvSpPr>
            <a:spLocks noChangeAspect="1"/>
          </p:cNvSpPr>
          <p:nvPr/>
        </p:nvSpPr>
        <p:spPr>
          <a:xfrm>
            <a:off x="19221693" y="20383805"/>
            <a:ext cx="5048250" cy="533728"/>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lang="en-US" sz="3600" b="1" i="0" dirty="0">
                <a:solidFill>
                  <a:srgbClr val="B98212"/>
                </a:solidFill>
                <a:latin typeface="Calibri"/>
              </a:rPr>
              <a:t>+62% </a:t>
            </a:r>
            <a:r>
              <a:rPr lang="en-US" sz="3600" b="1" i="0" dirty="0">
                <a:solidFill>
                  <a:srgbClr val="2E3517"/>
                </a:solidFill>
                <a:latin typeface="Calibri"/>
              </a:rPr>
              <a:t>pH MAE reduction</a:t>
            </a:r>
          </a:p>
        </p:txBody>
      </p:sp>
      <p:sp>
        <p:nvSpPr>
          <p:cNvPr id="57" name="Rounded Rectangle 56"/>
          <p:cNvSpPr>
            <a:spLocks noChangeAspect="1"/>
          </p:cNvSpPr>
          <p:nvPr/>
        </p:nvSpPr>
        <p:spPr>
          <a:xfrm>
            <a:off x="13213293" y="21022264"/>
            <a:ext cx="2842578" cy="517326"/>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rPr>
              <a:t>0.1</a:t>
            </a:r>
            <a:r>
              <a:rPr lang="en-US" sz="3600" b="1" i="0" dirty="0">
                <a:solidFill>
                  <a:srgbClr val="3D4A1F"/>
                </a:solidFill>
              </a:rPr>
              <a:t>3 </a:t>
            </a:r>
            <a:r>
              <a:rPr sz="3600" b="1" i="0" dirty="0">
                <a:solidFill>
                  <a:srgbClr val="2E3517"/>
                </a:solidFill>
              </a:rPr>
              <a:t>EC</a:t>
            </a:r>
            <a:r>
              <a:rPr lang="he-IL" sz="3600" b="1" i="0" dirty="0">
                <a:solidFill>
                  <a:srgbClr val="2E3517"/>
                </a:solidFill>
              </a:rPr>
              <a:t> </a:t>
            </a:r>
            <a:r>
              <a:rPr sz="3600" b="1" i="0" dirty="0">
                <a:solidFill>
                  <a:srgbClr val="2E3517"/>
                </a:solidFill>
              </a:rPr>
              <a:t>MA</a:t>
            </a:r>
            <a:r>
              <a:rPr lang="en-US" sz="3600" b="1" i="0" dirty="0">
                <a:solidFill>
                  <a:srgbClr val="2E3517"/>
                </a:solidFill>
              </a:rPr>
              <a:t>E</a:t>
            </a:r>
            <a:endParaRPr sz="3600" b="1" i="0" dirty="0">
              <a:solidFill>
                <a:srgbClr val="2E3517"/>
              </a:solidFill>
            </a:endParaRPr>
          </a:p>
        </p:txBody>
      </p:sp>
      <p:sp>
        <p:nvSpPr>
          <p:cNvPr id="58" name="Rounded Rectangle 57"/>
          <p:cNvSpPr>
            <a:spLocks noChangeAspect="1"/>
          </p:cNvSpPr>
          <p:nvPr/>
        </p:nvSpPr>
        <p:spPr>
          <a:xfrm>
            <a:off x="16219818" y="21035336"/>
            <a:ext cx="2837928" cy="517326"/>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latin typeface="Calibri"/>
              </a:rPr>
              <a:t>0.98</a:t>
            </a:r>
            <a:r>
              <a:rPr lang="he-IL" sz="3600" b="1" i="0" dirty="0">
                <a:solidFill>
                  <a:srgbClr val="3D4A1F"/>
                </a:solidFill>
                <a:latin typeface="Calibri"/>
              </a:rPr>
              <a:t> </a:t>
            </a:r>
            <a:r>
              <a:rPr sz="3600" b="1" i="0" dirty="0">
                <a:solidFill>
                  <a:srgbClr val="2E3517"/>
                </a:solidFill>
                <a:latin typeface="Calibri"/>
              </a:rPr>
              <a:t>EC R²</a:t>
            </a:r>
          </a:p>
        </p:txBody>
      </p:sp>
      <p:sp>
        <p:nvSpPr>
          <p:cNvPr id="59" name="Rounded Rectangle 58"/>
          <p:cNvSpPr>
            <a:spLocks noChangeAspect="1"/>
          </p:cNvSpPr>
          <p:nvPr/>
        </p:nvSpPr>
        <p:spPr>
          <a:xfrm>
            <a:off x="19221693" y="21022264"/>
            <a:ext cx="5066248" cy="533728"/>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B98212"/>
                </a:solidFill>
                <a:latin typeface="Calibri"/>
              </a:rPr>
              <a:t>+35%</a:t>
            </a:r>
            <a:r>
              <a:rPr lang="he-IL" sz="3600" b="1" i="0" dirty="0">
                <a:solidFill>
                  <a:srgbClr val="B98212"/>
                </a:solidFill>
                <a:latin typeface="Calibri"/>
              </a:rPr>
              <a:t> </a:t>
            </a:r>
            <a:r>
              <a:rPr lang="en-US" sz="3600" b="1" i="0" dirty="0">
                <a:solidFill>
                  <a:srgbClr val="2E3517"/>
                </a:solidFill>
                <a:latin typeface="Calibri"/>
              </a:rPr>
              <a:t>EC MAE reduction</a:t>
            </a:r>
            <a:endParaRPr sz="3600" b="1" i="0" dirty="0">
              <a:solidFill>
                <a:srgbClr val="2E3517"/>
              </a:solidFill>
              <a:latin typeface="Calibri"/>
            </a:endParaRPr>
          </a:p>
        </p:txBody>
      </p:sp>
      <p:pic>
        <p:nvPicPr>
          <p:cNvPr id="60" name="Picture 59" descr="parity_ph.png"/>
          <p:cNvPicPr>
            <a:picLocks noChangeAspect="1"/>
          </p:cNvPicPr>
          <p:nvPr/>
        </p:nvPicPr>
        <p:blipFill>
          <a:blip r:embed="rId2"/>
          <a:stretch>
            <a:fillRect/>
          </a:stretch>
        </p:blipFill>
        <p:spPr>
          <a:xfrm>
            <a:off x="13159293" y="22104831"/>
            <a:ext cx="5648818" cy="5295767"/>
          </a:xfrm>
          <a:prstGeom prst="rect">
            <a:avLst/>
          </a:prstGeom>
        </p:spPr>
      </p:pic>
      <p:pic>
        <p:nvPicPr>
          <p:cNvPr id="61" name="Picture 60" descr="parity_ec.png"/>
          <p:cNvPicPr>
            <a:picLocks noChangeAspect="1"/>
          </p:cNvPicPr>
          <p:nvPr/>
        </p:nvPicPr>
        <p:blipFill>
          <a:blip r:embed="rId3"/>
          <a:stretch>
            <a:fillRect/>
          </a:stretch>
        </p:blipFill>
        <p:spPr>
          <a:xfrm>
            <a:off x="18808111" y="22104831"/>
            <a:ext cx="5645364" cy="5292529"/>
          </a:xfrm>
          <a:prstGeom prst="rect">
            <a:avLst/>
          </a:prstGeom>
        </p:spPr>
      </p:pic>
      <p:sp>
        <p:nvSpPr>
          <p:cNvPr id="62" name="Rounded Rectangle 61"/>
          <p:cNvSpPr/>
          <p:nvPr/>
        </p:nvSpPr>
        <p:spPr>
          <a:xfrm>
            <a:off x="12907292" y="27694704"/>
            <a:ext cx="11664000" cy="3717539"/>
          </a:xfrm>
          <a:prstGeom prst="roundRect">
            <a:avLst>
              <a:gd name="adj" fmla="val 581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62"/>
          <p:cNvSpPr/>
          <p:nvPr/>
        </p:nvSpPr>
        <p:spPr>
          <a:xfrm>
            <a:off x="13177292" y="27946705"/>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09</a:t>
            </a:r>
          </a:p>
        </p:txBody>
      </p:sp>
      <p:sp>
        <p:nvSpPr>
          <p:cNvPr id="64" name="TextBox 63"/>
          <p:cNvSpPr txBox="1"/>
          <p:nvPr/>
        </p:nvSpPr>
        <p:spPr>
          <a:xfrm>
            <a:off x="13933293" y="27937555"/>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Conclusions</a:t>
            </a:r>
          </a:p>
        </p:txBody>
      </p:sp>
      <p:sp>
        <p:nvSpPr>
          <p:cNvPr id="65" name="Rectangle 64"/>
          <p:cNvSpPr/>
          <p:nvPr/>
        </p:nvSpPr>
        <p:spPr>
          <a:xfrm>
            <a:off x="13195292" y="28637905"/>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3213293" y="28770796"/>
            <a:ext cx="11087999" cy="2559089"/>
          </a:xfrm>
          <a:prstGeom prst="rect">
            <a:avLst/>
          </a:prstGeom>
          <a:noFill/>
        </p:spPr>
        <p:txBody>
          <a:bodyPr wrap="square" lIns="36000" tIns="36000" rIns="36000" bIns="36000" anchor="t">
            <a:spAutoFit/>
          </a:bodyPr>
          <a:lstStyle/>
          <a:p>
            <a:pPr>
              <a:lnSpc>
                <a:spcPct val="106000"/>
              </a:lnSpc>
              <a:spcAft>
                <a:spcPts val="600"/>
              </a:spcAft>
            </a:pPr>
            <a:r>
              <a:rPr lang="en-US" sz="2400" dirty="0">
                <a:solidFill>
                  <a:schemeClr val="tx2">
                    <a:lumMod val="75000"/>
                  </a:schemeClr>
                </a:solidFill>
              </a:rPr>
              <a:t>▪ </a:t>
            </a:r>
            <a:r>
              <a:rPr lang="en-US" sz="2400" b="1" dirty="0">
                <a:solidFill>
                  <a:schemeClr val="tx2">
                    <a:lumMod val="75000"/>
                  </a:schemeClr>
                </a:solidFill>
              </a:rPr>
              <a:t>Prediction value →</a:t>
            </a:r>
            <a:r>
              <a:rPr lang="en-US" sz="2400" dirty="0">
                <a:solidFill>
                  <a:schemeClr val="tx2">
                    <a:lumMod val="75000"/>
                  </a:schemeClr>
                </a:solidFill>
              </a:rPr>
              <a:t> Reduced MAE vs. baseline (+62% pH, +35% EC), supporting earlier pH/EC drift detection.</a:t>
            </a:r>
          </a:p>
          <a:p>
            <a:pPr>
              <a:lnSpc>
                <a:spcPct val="106000"/>
              </a:lnSpc>
              <a:spcAft>
                <a:spcPts val="600"/>
              </a:spcAft>
            </a:pPr>
            <a:r>
              <a:rPr lang="en-US" sz="2400" dirty="0">
                <a:solidFill>
                  <a:schemeClr val="tx2">
                    <a:lumMod val="75000"/>
                  </a:schemeClr>
                </a:solidFill>
              </a:rPr>
              <a:t>▪ </a:t>
            </a:r>
            <a:r>
              <a:rPr lang="en-US" sz="2400" b="1" dirty="0">
                <a:solidFill>
                  <a:schemeClr val="tx2">
                    <a:lumMod val="75000"/>
                  </a:schemeClr>
                </a:solidFill>
              </a:rPr>
              <a:t>Decision-support prototype → </a:t>
            </a:r>
            <a:r>
              <a:rPr lang="en-US" sz="2400" dirty="0">
                <a:solidFill>
                  <a:schemeClr val="tx2">
                    <a:lumMod val="75000"/>
                  </a:schemeClr>
                </a:solidFill>
              </a:rPr>
              <a:t>Allows growers to test planned irrigation/fertigation actions before applying them.</a:t>
            </a:r>
          </a:p>
          <a:p>
            <a:pPr>
              <a:lnSpc>
                <a:spcPct val="106000"/>
              </a:lnSpc>
              <a:spcAft>
                <a:spcPts val="600"/>
              </a:spcAft>
            </a:pPr>
            <a:r>
              <a:rPr lang="en-US" sz="2400" dirty="0">
                <a:solidFill>
                  <a:schemeClr val="tx2">
                    <a:lumMod val="75000"/>
                  </a:schemeClr>
                </a:solidFill>
              </a:rPr>
              <a:t>▪ </a:t>
            </a:r>
            <a:r>
              <a:rPr lang="en-US" sz="2400" b="1" dirty="0">
                <a:solidFill>
                  <a:schemeClr val="tx2">
                    <a:lumMod val="75000"/>
                  </a:schemeClr>
                </a:solidFill>
              </a:rPr>
              <a:t>Soft-sensor feasibility →</a:t>
            </a:r>
            <a:r>
              <a:rPr lang="en-US" sz="2400" dirty="0">
                <a:solidFill>
                  <a:schemeClr val="tx2">
                    <a:lumMod val="75000"/>
                  </a:schemeClr>
                </a:solidFill>
              </a:rPr>
              <a:t> Sparse samples can produce useful forecasts when combined with dense greenhouse data.</a:t>
            </a:r>
            <a:endParaRPr lang="en-US" sz="2400" dirty="0">
              <a:solidFill>
                <a:schemeClr val="tx2">
                  <a:lumMod val="75000"/>
                </a:schemeClr>
              </a:solidFill>
              <a:latin typeface="Calibri"/>
            </a:endParaRPr>
          </a:p>
        </p:txBody>
      </p:sp>
      <p:sp>
        <p:nvSpPr>
          <p:cNvPr id="67" name="Rounded Rectangle 66"/>
          <p:cNvSpPr/>
          <p:nvPr/>
        </p:nvSpPr>
        <p:spPr>
          <a:xfrm>
            <a:off x="12907292" y="31661340"/>
            <a:ext cx="11664000" cy="3662463"/>
          </a:xfrm>
          <a:prstGeom prst="roundRect">
            <a:avLst>
              <a:gd name="adj" fmla="val 5898"/>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8" name="Rounded Rectangle 67"/>
          <p:cNvSpPr/>
          <p:nvPr/>
        </p:nvSpPr>
        <p:spPr>
          <a:xfrm>
            <a:off x="13177292" y="31995051"/>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10</a:t>
            </a:r>
          </a:p>
        </p:txBody>
      </p:sp>
      <p:sp>
        <p:nvSpPr>
          <p:cNvPr id="69" name="TextBox 68"/>
          <p:cNvSpPr txBox="1"/>
          <p:nvPr/>
        </p:nvSpPr>
        <p:spPr>
          <a:xfrm>
            <a:off x="13933293" y="31985901"/>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Challenges &amp; Limitations</a:t>
            </a:r>
          </a:p>
        </p:txBody>
      </p:sp>
      <p:sp>
        <p:nvSpPr>
          <p:cNvPr id="70" name="Rectangle 69"/>
          <p:cNvSpPr/>
          <p:nvPr/>
        </p:nvSpPr>
        <p:spPr>
          <a:xfrm>
            <a:off x="13195292" y="32733143"/>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13181942" y="32883275"/>
            <a:ext cx="11105999" cy="2167572"/>
          </a:xfrm>
          <a:prstGeom prst="rect">
            <a:avLst/>
          </a:prstGeom>
          <a:noFill/>
        </p:spPr>
        <p:txBody>
          <a:bodyPr wrap="square" lIns="36000" tIns="36000" rIns="36000" bIns="36000" anchor="t">
            <a:spAutoFit/>
          </a:bodyPr>
          <a:lstStyle/>
          <a:p>
            <a:pPr>
              <a:lnSpc>
                <a:spcPct val="106000"/>
              </a:lnSpc>
              <a:spcAft>
                <a:spcPts val="300"/>
              </a:spcAft>
            </a:pPr>
            <a:r>
              <a:rPr lang="en-US" sz="2400" b="1" dirty="0">
                <a:solidFill>
                  <a:schemeClr val="tx2">
                    <a:lumMod val="75000"/>
                  </a:schemeClr>
                </a:solidFill>
                <a:latin typeface="Calibri"/>
              </a:rPr>
              <a:t>▪ Sparse pH/EC labels → </a:t>
            </a:r>
            <a:r>
              <a:rPr lang="en-US" sz="2400" dirty="0">
                <a:solidFill>
                  <a:schemeClr val="tx2">
                    <a:lumMod val="75000"/>
                  </a:schemeClr>
                </a:solidFill>
                <a:latin typeface="Calibri"/>
              </a:rPr>
              <a:t>modeled </a:t>
            </a:r>
            <a:r>
              <a:rPr lang="el-GR" sz="2400" dirty="0">
                <a:solidFill>
                  <a:schemeClr val="tx2">
                    <a:lumMod val="75000"/>
                  </a:schemeClr>
                </a:solidFill>
                <a:latin typeface="Calibri"/>
              </a:rPr>
              <a:t>Δ</a:t>
            </a:r>
            <a:r>
              <a:rPr lang="en-US" sz="2400" dirty="0">
                <a:solidFill>
                  <a:schemeClr val="tx2">
                    <a:lumMod val="75000"/>
                  </a:schemeClr>
                </a:solidFill>
              </a:rPr>
              <a:t>pH</a:t>
            </a:r>
            <a:r>
              <a:rPr lang="en-US" sz="2400" dirty="0">
                <a:solidFill>
                  <a:schemeClr val="tx2">
                    <a:lumMod val="75000"/>
                  </a:schemeClr>
                </a:solidFill>
                <a:latin typeface="Calibri"/>
              </a:rPr>
              <a:t>/</a:t>
            </a:r>
            <a:r>
              <a:rPr lang="el-GR" sz="2400" dirty="0">
                <a:solidFill>
                  <a:schemeClr val="tx2">
                    <a:lumMod val="75000"/>
                  </a:schemeClr>
                </a:solidFill>
                <a:latin typeface="Calibri"/>
              </a:rPr>
              <a:t>Δ</a:t>
            </a:r>
            <a:r>
              <a:rPr lang="en-US" sz="2400" dirty="0">
                <a:solidFill>
                  <a:schemeClr val="tx2">
                    <a:lumMod val="75000"/>
                  </a:schemeClr>
                </a:solidFill>
                <a:latin typeface="Calibri"/>
              </a:rPr>
              <a:t>EC between measured samples</a:t>
            </a:r>
          </a:p>
          <a:p>
            <a:pPr algn="l">
              <a:lnSpc>
                <a:spcPct val="106000"/>
              </a:lnSpc>
              <a:spcBef>
                <a:spcPts val="0"/>
              </a:spcBef>
              <a:spcAft>
                <a:spcPts val="300"/>
              </a:spcAft>
            </a:pPr>
            <a:r>
              <a:rPr lang="en-US" sz="2400" b="1" dirty="0">
                <a:solidFill>
                  <a:schemeClr val="tx2">
                    <a:lumMod val="75000"/>
                  </a:schemeClr>
                </a:solidFill>
                <a:latin typeface="Calibri"/>
              </a:rPr>
              <a:t>▪ Missing climate inputs → </a:t>
            </a:r>
            <a:r>
              <a:rPr lang="en-US" sz="2400" dirty="0">
                <a:solidFill>
                  <a:schemeClr val="tx2">
                    <a:lumMod val="75000"/>
                  </a:schemeClr>
                </a:solidFill>
                <a:latin typeface="Calibri"/>
              </a:rPr>
              <a:t>filled greenhouse gaps with microclimate predictions</a:t>
            </a:r>
          </a:p>
          <a:p>
            <a:pPr algn="l">
              <a:lnSpc>
                <a:spcPct val="106000"/>
              </a:lnSpc>
              <a:spcBef>
                <a:spcPts val="0"/>
              </a:spcBef>
              <a:spcAft>
                <a:spcPts val="300"/>
              </a:spcAft>
            </a:pPr>
            <a:r>
              <a:rPr lang="en-US" sz="2400" b="1" dirty="0">
                <a:solidFill>
                  <a:schemeClr val="tx2">
                    <a:lumMod val="75000"/>
                  </a:schemeClr>
                </a:solidFill>
                <a:latin typeface="Calibri"/>
              </a:rPr>
              <a:t>▪ Irregular sampling → </a:t>
            </a:r>
            <a:r>
              <a:rPr lang="en-US" sz="2400" dirty="0">
                <a:solidFill>
                  <a:schemeClr val="tx2">
                    <a:lumMod val="75000"/>
                  </a:schemeClr>
                </a:solidFill>
                <a:latin typeface="Calibri"/>
              </a:rPr>
              <a:t>used time-gap and window aggregation features</a:t>
            </a:r>
          </a:p>
          <a:p>
            <a:pPr algn="l">
              <a:lnSpc>
                <a:spcPct val="106000"/>
              </a:lnSpc>
              <a:spcBef>
                <a:spcPts val="0"/>
              </a:spcBef>
              <a:spcAft>
                <a:spcPts val="300"/>
              </a:spcAft>
            </a:pPr>
            <a:r>
              <a:rPr lang="en-US" sz="2400" b="1" dirty="0">
                <a:solidFill>
                  <a:schemeClr val="tx2">
                    <a:lumMod val="75000"/>
                  </a:schemeClr>
                </a:solidFill>
                <a:latin typeface="Calibri"/>
              </a:rPr>
              <a:t>▪ Small EC changes → </a:t>
            </a:r>
            <a:r>
              <a:rPr lang="en-US" sz="2400" dirty="0">
                <a:solidFill>
                  <a:schemeClr val="tx2">
                    <a:lumMod val="75000"/>
                  </a:schemeClr>
                </a:solidFill>
                <a:latin typeface="Calibri"/>
              </a:rPr>
              <a:t>modeled relative EC change and evaluated with MAE</a:t>
            </a:r>
          </a:p>
          <a:p>
            <a:pPr algn="l">
              <a:lnSpc>
                <a:spcPct val="106000"/>
              </a:lnSpc>
              <a:spcBef>
                <a:spcPts val="0"/>
              </a:spcBef>
              <a:spcAft>
                <a:spcPts val="300"/>
              </a:spcAft>
            </a:pPr>
            <a:r>
              <a:rPr lang="en-US" sz="2400" b="1" dirty="0">
                <a:solidFill>
                  <a:schemeClr val="tx2">
                    <a:lumMod val="75000"/>
                  </a:schemeClr>
                </a:solidFill>
                <a:latin typeface="Calibri"/>
              </a:rPr>
              <a:t>▪ Limited generalization → </a:t>
            </a:r>
            <a:r>
              <a:rPr lang="en-US" sz="2400" dirty="0">
                <a:solidFill>
                  <a:schemeClr val="tx2">
                    <a:lumMod val="75000"/>
                  </a:schemeClr>
                </a:solidFill>
                <a:latin typeface="Calibri"/>
              </a:rPr>
              <a:t>requires testing across more seasons, crops, and greenhouses</a:t>
            </a:r>
          </a:p>
        </p:txBody>
      </p:sp>
      <p:pic>
        <p:nvPicPr>
          <p:cNvPr id="72" name="Picture 71" descr="download-Photoroom.png"/>
          <p:cNvPicPr>
            <a:picLocks noChangeAspect="1"/>
          </p:cNvPicPr>
          <p:nvPr/>
        </p:nvPicPr>
        <p:blipFill>
          <a:blip r:embed="rId4"/>
          <a:stretch>
            <a:fillRect/>
          </a:stretch>
        </p:blipFill>
        <p:spPr>
          <a:xfrm>
            <a:off x="523292" y="880486"/>
            <a:ext cx="2365200" cy="2375843"/>
          </a:xfrm>
          <a:prstGeom prst="rect">
            <a:avLst/>
          </a:prstGeom>
        </p:spPr>
      </p:pic>
      <p:pic>
        <p:nvPicPr>
          <p:cNvPr id="73" name="Picture 72" descr="Volcani_logo.png"/>
          <p:cNvPicPr>
            <a:picLocks noChangeAspect="1"/>
          </p:cNvPicPr>
          <p:nvPr/>
        </p:nvPicPr>
        <p:blipFill>
          <a:blip r:embed="rId5"/>
          <a:stretch>
            <a:fillRect/>
          </a:stretch>
        </p:blipFill>
        <p:spPr>
          <a:xfrm>
            <a:off x="22242093" y="880486"/>
            <a:ext cx="2467800" cy="2375997"/>
          </a:xfrm>
          <a:prstGeom prst="rect">
            <a:avLst/>
          </a:prstGeom>
        </p:spPr>
      </p:pic>
      <p:sp>
        <p:nvSpPr>
          <p:cNvPr id="30" name="Rounded Rectangle 44"/>
          <p:cNvSpPr/>
          <p:nvPr/>
        </p:nvSpPr>
        <p:spPr>
          <a:xfrm>
            <a:off x="12911942" y="3856129"/>
            <a:ext cx="11664000" cy="7200000"/>
          </a:xfrm>
          <a:prstGeom prst="roundRect">
            <a:avLst>
              <a:gd name="adj" fmla="val 30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7" name="Rounded Rectangle 45"/>
          <p:cNvSpPr/>
          <p:nvPr/>
        </p:nvSpPr>
        <p:spPr>
          <a:xfrm>
            <a:off x="13181942" y="410812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06</a:t>
            </a:r>
            <a:endParaRPr sz="3600" b="1" i="0" dirty="0">
              <a:solidFill>
                <a:srgbClr val="FFFFFF"/>
              </a:solidFill>
              <a:latin typeface="+mj-lt"/>
            </a:endParaRPr>
          </a:p>
        </p:txBody>
      </p:sp>
      <p:sp>
        <p:nvSpPr>
          <p:cNvPr id="74" name="TextBox 46"/>
          <p:cNvSpPr txBox="1"/>
          <p:nvPr/>
        </p:nvSpPr>
        <p:spPr>
          <a:xfrm>
            <a:off x="13937943" y="409897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Validation Strategy</a:t>
            </a:r>
          </a:p>
        </p:txBody>
      </p:sp>
      <p:sp>
        <p:nvSpPr>
          <p:cNvPr id="77" name="Rectangle 47"/>
          <p:cNvSpPr/>
          <p:nvPr/>
        </p:nvSpPr>
        <p:spPr>
          <a:xfrm>
            <a:off x="13199942" y="479932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48"/>
          <p:cNvSpPr txBox="1"/>
          <p:nvPr/>
        </p:nvSpPr>
        <p:spPr>
          <a:xfrm>
            <a:off x="13217943" y="4831045"/>
            <a:ext cx="11052000" cy="1711934"/>
          </a:xfrm>
          <a:prstGeom prst="rect">
            <a:avLst/>
          </a:prstGeom>
          <a:noFill/>
        </p:spPr>
        <p:txBody>
          <a:bodyPr wrap="square" lIns="36000" tIns="36000" rIns="36000" bIns="36000" anchor="t">
            <a:spAutoFit/>
          </a:bodyPr>
          <a:lstStyle/>
          <a:p>
            <a:pPr>
              <a:lnSpc>
                <a:spcPct val="106000"/>
              </a:lnSpc>
              <a:spcAft>
                <a:spcPts val="700"/>
              </a:spcAft>
            </a:pPr>
            <a:r>
              <a:rPr lang="en-US" sz="2400" dirty="0">
                <a:solidFill>
                  <a:schemeClr val="tx2">
                    <a:lumMod val="75000"/>
                  </a:schemeClr>
                </a:solidFill>
              </a:rPr>
              <a:t>▪ Walk-forward validation matches deployment: future pH/EC is predicted using only past pH/EC measurements, forecast climate, and planned irrigation/fertigation.</a:t>
            </a:r>
          </a:p>
          <a:p>
            <a:pPr>
              <a:lnSpc>
                <a:spcPct val="106000"/>
              </a:lnSpc>
              <a:spcAft>
                <a:spcPts val="700"/>
              </a:spcAft>
            </a:pPr>
            <a:r>
              <a:rPr lang="en-US" sz="2400" dirty="0">
                <a:solidFill>
                  <a:schemeClr val="tx2">
                    <a:lumMod val="75000"/>
                  </a:schemeClr>
                </a:solidFill>
              </a:rPr>
              <a:t>▪ Future pH/EC samples are withheld from training until they become available, preventing data leakage.</a:t>
            </a:r>
          </a:p>
        </p:txBody>
      </p:sp>
      <p:sp>
        <p:nvSpPr>
          <p:cNvPr id="36" name="TextBox 28">
            <a:extLst>
              <a:ext uri="{FF2B5EF4-FFF2-40B4-BE49-F238E27FC236}">
                <a16:creationId xmlns:a16="http://schemas.microsoft.com/office/drawing/2014/main" id="{D7029A2C-F3E0-AE8F-8357-D486234A18DE}"/>
              </a:ext>
            </a:extLst>
          </p:cNvPr>
          <p:cNvSpPr txBox="1"/>
          <p:nvPr/>
        </p:nvSpPr>
        <p:spPr>
          <a:xfrm>
            <a:off x="955293" y="26057403"/>
            <a:ext cx="11052000" cy="447614"/>
          </a:xfrm>
          <a:prstGeom prst="rect">
            <a:avLst/>
          </a:prstGeom>
          <a:noFill/>
        </p:spPr>
        <p:txBody>
          <a:bodyPr wrap="square" lIns="36000" tIns="36000" rIns="36000" bIns="36000" anchor="t">
            <a:spAutoFit/>
          </a:bodyPr>
          <a:lstStyle/>
          <a:p>
            <a:pPr>
              <a:lnSpc>
                <a:spcPct val="106000"/>
              </a:lnSpc>
              <a:spcAft>
                <a:spcPts val="600"/>
              </a:spcAft>
            </a:pPr>
            <a:r>
              <a:rPr lang="en-US" sz="2400" b="1" dirty="0">
                <a:solidFill>
                  <a:schemeClr val="tx2">
                    <a:lumMod val="75000"/>
                  </a:schemeClr>
                </a:solidFill>
              </a:rPr>
              <a:t>Hybrid model choice: nonlinear prediction + robustness to sharp-change intervals.</a:t>
            </a:r>
          </a:p>
        </p:txBody>
      </p:sp>
      <p:sp>
        <p:nvSpPr>
          <p:cNvPr id="88" name="TextBox 65">
            <a:extLst>
              <a:ext uri="{FF2B5EF4-FFF2-40B4-BE49-F238E27FC236}">
                <a16:creationId xmlns:a16="http://schemas.microsoft.com/office/drawing/2014/main" id="{841AA824-C4E4-3F20-DC69-A52D5A79131B}"/>
              </a:ext>
            </a:extLst>
          </p:cNvPr>
          <p:cNvSpPr txBox="1"/>
          <p:nvPr/>
        </p:nvSpPr>
        <p:spPr>
          <a:xfrm>
            <a:off x="13103200" y="21583568"/>
            <a:ext cx="11039388" cy="447614"/>
          </a:xfrm>
          <a:prstGeom prst="rect">
            <a:avLst/>
          </a:prstGeom>
          <a:noFill/>
        </p:spPr>
        <p:txBody>
          <a:bodyPr wrap="square" lIns="36000" tIns="36000" rIns="36000" bIns="36000" anchor="t">
            <a:spAutoFit/>
          </a:bodyPr>
          <a:lstStyle/>
          <a:p>
            <a:pPr algn="ctr">
              <a:lnSpc>
                <a:spcPct val="106000"/>
              </a:lnSpc>
              <a:spcAft>
                <a:spcPts val="600"/>
              </a:spcAft>
            </a:pPr>
            <a:r>
              <a:rPr lang="en-US" sz="2400" dirty="0">
                <a:solidFill>
                  <a:schemeClr val="tx2">
                    <a:lumMod val="75000"/>
                  </a:schemeClr>
                </a:solidFill>
              </a:rPr>
              <a:t>n = 57 prediction intervals · MAE reduction vs. persistence baseline</a:t>
            </a:r>
            <a:endParaRPr lang="en-US" sz="2400" dirty="0">
              <a:solidFill>
                <a:schemeClr val="tx2">
                  <a:lumMod val="75000"/>
                </a:schemeClr>
              </a:solidFill>
              <a:latin typeface="Calibri"/>
            </a:endParaRPr>
          </a:p>
        </p:txBody>
      </p:sp>
      <p:pic>
        <p:nvPicPr>
          <p:cNvPr id="75" name="תמונה 74">
            <a:extLst>
              <a:ext uri="{FF2B5EF4-FFF2-40B4-BE49-F238E27FC236}">
                <a16:creationId xmlns:a16="http://schemas.microsoft.com/office/drawing/2014/main" id="{EF9051DB-7576-ADF9-7715-FA05F91030F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93293" y="29494795"/>
            <a:ext cx="7812822" cy="5716699"/>
          </a:xfrm>
          <a:prstGeom prst="rect">
            <a:avLst/>
          </a:prstGeom>
        </p:spPr>
      </p:pic>
      <p:pic>
        <p:nvPicPr>
          <p:cNvPr id="80" name="תמונה 79">
            <a:extLst>
              <a:ext uri="{FF2B5EF4-FFF2-40B4-BE49-F238E27FC236}">
                <a16:creationId xmlns:a16="http://schemas.microsoft.com/office/drawing/2014/main" id="{D2A98B16-F5DD-507C-ED3A-87BFD618E25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968293" y="6491905"/>
            <a:ext cx="7470794" cy="4499043"/>
          </a:xfrm>
          <a:prstGeom prst="rect">
            <a:avLst/>
          </a:prstGeom>
        </p:spPr>
      </p:pic>
      <p:pic>
        <p:nvPicPr>
          <p:cNvPr id="46" name="תמונה 45">
            <a:extLst>
              <a:ext uri="{FF2B5EF4-FFF2-40B4-BE49-F238E27FC236}">
                <a16:creationId xmlns:a16="http://schemas.microsoft.com/office/drawing/2014/main" id="{1FA6EF36-289C-AFBD-6F9F-776F060CEFD6}"/>
              </a:ext>
            </a:extLst>
          </p:cNvPr>
          <p:cNvPicPr>
            <a:picLocks noChangeAspect="1"/>
          </p:cNvPicPr>
          <p:nvPr/>
        </p:nvPicPr>
        <p:blipFill>
          <a:blip r:embed="rId8"/>
          <a:stretch>
            <a:fillRect/>
          </a:stretch>
        </p:blipFill>
        <p:spPr>
          <a:xfrm>
            <a:off x="14035832" y="13749407"/>
            <a:ext cx="8755599" cy="5338780"/>
          </a:xfrm>
          <a:prstGeom prst="rect">
            <a:avLst/>
          </a:prstGeom>
        </p:spPr>
      </p:pic>
      <p:pic>
        <p:nvPicPr>
          <p:cNvPr id="49" name="תמונה 48">
            <a:extLst>
              <a:ext uri="{FF2B5EF4-FFF2-40B4-BE49-F238E27FC236}">
                <a16:creationId xmlns:a16="http://schemas.microsoft.com/office/drawing/2014/main" id="{A1A5C893-1DD2-18BA-0607-4718B5E6E930}"/>
              </a:ext>
            </a:extLst>
          </p:cNvPr>
          <p:cNvPicPr>
            <a:picLocks noChangeAspect="1"/>
          </p:cNvPicPr>
          <p:nvPr/>
        </p:nvPicPr>
        <p:blipFill>
          <a:blip r:embed="rId9"/>
          <a:stretch>
            <a:fillRect/>
          </a:stretch>
        </p:blipFill>
        <p:spPr>
          <a:xfrm>
            <a:off x="823721" y="20089717"/>
            <a:ext cx="11357992" cy="4391757"/>
          </a:xfrm>
          <a:prstGeom prst="rect">
            <a:avLst/>
          </a:prstGeom>
        </p:spPr>
      </p:pic>
    </p:spTree>
    <p:extLst>
      <p:ext uri="{BB962C8B-B14F-4D97-AF65-F5344CB8AC3E}">
        <p14:creationId xmlns:p14="http://schemas.microsoft.com/office/powerpoint/2010/main" val="1587688478"/>
      </p:ext>
    </p:extLst>
  </p:cSld>
  <p:clrMapOvr>
    <a:masterClrMapping/>
  </p:clrMapOvr>
</p:sld>
</file>

<file path=ppt/theme/theme1.xml><?xml version="1.0" encoding="utf-8"?>
<a:theme xmlns:a="http://schemas.openxmlformats.org/drawingml/2006/main" name="PosterPresentations.com-70CMx100CM">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Without Quick Guides">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Classic - Wide Center">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498</TotalTime>
  <Words>627</Words>
  <Application>Microsoft Office PowerPoint</Application>
  <PresentationFormat>מותאם אישית</PresentationFormat>
  <Paragraphs>66</Paragraphs>
  <Slides>1</Slides>
  <Notes>0</Notes>
  <HiddenSlides>0</HiddenSlides>
  <MMClips>0</MMClips>
  <ScaleCrop>false</ScaleCrop>
  <HeadingPairs>
    <vt:vector size="6" baseType="variant">
      <vt:variant>
        <vt:lpstr>גופנים בשימוש</vt:lpstr>
      </vt:variant>
      <vt:variant>
        <vt:i4>6</vt:i4>
      </vt:variant>
      <vt:variant>
        <vt:lpstr>ערכת נושא</vt:lpstr>
      </vt:variant>
      <vt:variant>
        <vt:i4>3</vt:i4>
      </vt:variant>
      <vt:variant>
        <vt:lpstr>כותרות שקופיות</vt:lpstr>
      </vt:variant>
      <vt:variant>
        <vt:i4>1</vt:i4>
      </vt:variant>
    </vt:vector>
  </HeadingPairs>
  <TitlesOfParts>
    <vt:vector size="10" baseType="lpstr">
      <vt:lpstr>Arial</vt:lpstr>
      <vt:lpstr>Arial Black</vt:lpstr>
      <vt:lpstr>Calibri</vt:lpstr>
      <vt:lpstr>Cambria</vt:lpstr>
      <vt:lpstr>Times New Roman</vt:lpstr>
      <vt:lpstr>Trebuchet MS</vt:lpstr>
      <vt:lpstr>PosterPresentations.com-70CMx100CM</vt:lpstr>
      <vt:lpstr>Without Quick Guides</vt:lpstr>
      <vt:lpstr>Classic - Wide Center</vt:lpstr>
      <vt:lpstr>מצגת של PowerPoint‏</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עדן אליהו</cp:lastModifiedBy>
  <cp:revision>119</cp:revision>
  <dcterms:created xsi:type="dcterms:W3CDTF">2012-02-10T00:10:15Z</dcterms:created>
  <dcterms:modified xsi:type="dcterms:W3CDTF">2026-07-01T16:26:39Z</dcterms:modified>
</cp:coreProperties>
</file>