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5203150" cy="36004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852" autoAdjust="0"/>
    <p:restoredTop sz="94658"/>
  </p:normalViewPr>
  <p:slideViewPr>
    <p:cSldViewPr snapToGrid="0">
      <p:cViewPr>
        <p:scale>
          <a:sx n="50" d="100"/>
          <a:sy n="50" d="100"/>
        </p:scale>
        <p:origin x="461" y="-79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מלבן 165">
            <a:extLst>
              <a:ext uri="{FF2B5EF4-FFF2-40B4-BE49-F238E27FC236}">
                <a16:creationId xmlns:a16="http://schemas.microsoft.com/office/drawing/2014/main" id="{322588C4-4ECE-4AD6-8AB8-5DF3EF824B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5203150" cy="4714875"/>
          </a:xfrm>
          <a:prstGeom prst="rect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218D923-D510-4C31-927E-23F74C918FD4}"/>
              </a:ext>
            </a:extLst>
          </p:cNvPr>
          <p:cNvSpPr>
            <a:spLocks noGrp="1"/>
          </p:cNvSpPr>
          <p:nvPr/>
        </p:nvSpPr>
        <p:spPr>
          <a:xfrm>
            <a:off x="0" y="4171950"/>
            <a:ext cx="25203150" cy="171450"/>
          </a:xfrm>
          <a:prstGeom prst="rect">
            <a:avLst/>
          </a:prstGeom>
          <a:solidFill>
            <a:srgbClr val="2A8A80"/>
          </a:solidFill>
          <a:ln w="9525">
            <a:solidFill>
              <a:srgbClr val="2A8A80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B2A9C94-EF8A-4406-9A3F-53DEABEC799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619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400" b="1">
                <a:solidFill>
                  <a:srgbClr val="E7F1ED"/>
                </a:solidFill>
                <a:latin typeface="Aptos"/>
                <a:ea typeface="Aptos"/>
                <a:cs typeface="Aptos"/>
              </a:defRPr>
            </a:pPr>
            <a:r>
              <a:rPr sz="3200" dirty="0"/>
              <a:t>Ruppin Academic Center | Department of Computer Science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3CC17CB-36A4-4401-A204-9A289617A42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428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875" b="0">
                <a:solidFill>
                  <a:srgbClr val="C9DCE6"/>
                </a:solidFill>
                <a:latin typeface="Aptos"/>
                <a:ea typeface="Aptos"/>
                <a:cs typeface="Aptos"/>
              </a:defRPr>
            </a:pPr>
            <a:r>
              <a:rPr sz="2800" dirty="0"/>
              <a:t>Artificial Intelligence and Data Science Specialization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CC7BB3B-708A-403B-B40A-14BE1B97FE6D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238315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0" dirty="0"/>
              <a:t>Predictive Modeling of Root-Zone Variables Using Greenhouse Data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A0B902E5-49C0-4CAE-9313-7DB151D60AF4}"/>
              </a:ext>
            </a:extLst>
          </p:cNvPr>
          <p:cNvSpPr>
            <a:spLocks noGrp="1"/>
          </p:cNvSpPr>
          <p:nvPr/>
        </p:nvSpPr>
        <p:spPr>
          <a:xfrm>
            <a:off x="723900" y="2290030"/>
            <a:ext cx="18669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550" b="0">
                <a:solidFill>
                  <a:srgbClr val="EDF6F3"/>
                </a:solidFill>
                <a:latin typeface="Aptos"/>
                <a:ea typeface="Aptos"/>
                <a:cs typeface="Aptos"/>
              </a:defRPr>
            </a:pPr>
            <a:r>
              <a:rPr sz="3600" dirty="0"/>
              <a:t>Machine-learning soft sensor for pH and EC prediction between sparse manual measurements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2DD36F5-EC58-4566-8888-9587BBC36F10}"/>
              </a:ext>
            </a:extLst>
          </p:cNvPr>
          <p:cNvSpPr>
            <a:spLocks noGrp="1"/>
          </p:cNvSpPr>
          <p:nvPr/>
        </p:nvSpPr>
        <p:spPr>
          <a:xfrm>
            <a:off x="723900" y="3220917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DF6F3"/>
                </a:solidFill>
                <a:latin typeface="Aptos"/>
                <a:ea typeface="Aptos"/>
                <a:cs typeface="Aptos"/>
              </a:defRPr>
            </a:pPr>
            <a:r>
              <a:rPr sz="3600" dirty="0"/>
              <a:t>Students: Eden Eliyahu, Oren Chaushu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BE5A0CF-B70B-47F4-A0C2-02DB31F120D7}"/>
              </a:ext>
            </a:extLst>
          </p:cNvPr>
          <p:cNvSpPr>
            <a:spLocks noGrp="1"/>
          </p:cNvSpPr>
          <p:nvPr/>
        </p:nvSpPr>
        <p:spPr>
          <a:xfrm>
            <a:off x="9239250" y="3220917"/>
            <a:ext cx="942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DF6F3"/>
                </a:solidFill>
                <a:latin typeface="Aptos"/>
                <a:ea typeface="Aptos"/>
                <a:cs typeface="Aptos"/>
              </a:defRPr>
            </a:pPr>
            <a:r>
              <a:rPr sz="3600" dirty="0"/>
              <a:t>Supervisors: Dr. Avner Priel, Dr. Alaa Jamal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BA81B9EA-E29C-4E9D-830B-9BCFD86850A6}"/>
              </a:ext>
            </a:extLst>
          </p:cNvPr>
          <p:cNvSpPr>
            <a:spLocks noGrp="1"/>
          </p:cNvSpPr>
          <p:nvPr/>
        </p:nvSpPr>
        <p:spPr>
          <a:xfrm flipH="1">
            <a:off x="7191750" y="5238750"/>
            <a:ext cx="66675" cy="30765750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A2BEE83D-E62C-4A81-9D27-D25E74B33E86}"/>
              </a:ext>
            </a:extLst>
          </p:cNvPr>
          <p:cNvSpPr>
            <a:spLocks noGrp="1"/>
          </p:cNvSpPr>
          <p:nvPr/>
        </p:nvSpPr>
        <p:spPr>
          <a:xfrm flipH="1">
            <a:off x="15741750" y="5238750"/>
            <a:ext cx="66675" cy="30765750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5E89FC35-0E22-46FC-A0E4-9D3A2700D38B}"/>
              </a:ext>
            </a:extLst>
          </p:cNvPr>
          <p:cNvSpPr>
            <a:spLocks noGrp="1"/>
          </p:cNvSpPr>
          <p:nvPr/>
        </p:nvSpPr>
        <p:spPr>
          <a:xfrm>
            <a:off x="1260088" y="5319713"/>
            <a:ext cx="582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B3557"/>
                </a:solidFill>
                <a:latin typeface="Aptos"/>
              </a:rPr>
              <a:t>Motivation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14B12E4A-06B1-4D07-B032-3FF789B7F425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63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741D44A5-5F79-46CF-A14B-20F3D7C2372E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63000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457200" indent="-4572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Root-zone pH controls nutrient availability; EC reflects salinity and fertilizer concentration.</a:t>
            </a:r>
            <a:endParaRPr lang="he-IL" sz="2800" dirty="0"/>
          </a:p>
          <a:p>
            <a:pPr marL="457200" indent="-4572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Manual lab measurements are reliable, but sparse and reactive.</a:t>
            </a:r>
            <a:endParaRPr lang="he-IL" sz="2800" dirty="0"/>
          </a:p>
          <a:p>
            <a:pPr marL="457200" indent="-4572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Continuous sensors can drift, need calibration, and may not represent the whole root zone.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ACD2941F-8B1E-47F7-BBEA-C08F32B9195D}"/>
              </a:ext>
            </a:extLst>
          </p:cNvPr>
          <p:cNvSpPr>
            <a:spLocks noGrp="1"/>
          </p:cNvSpPr>
          <p:nvPr/>
        </p:nvSpPr>
        <p:spPr>
          <a:xfrm>
            <a:off x="1260088" y="9449531"/>
            <a:ext cx="582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B3557"/>
                </a:solidFill>
                <a:latin typeface="Aptos"/>
              </a:rPr>
              <a:t>Project Goal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38B9B7DE-D7BE-4C9C-806C-CDC3EB02783C}"/>
              </a:ext>
            </a:extLst>
          </p:cNvPr>
          <p:cNvSpPr>
            <a:spLocks noGrp="1"/>
          </p:cNvSpPr>
          <p:nvPr/>
        </p:nvSpPr>
        <p:spPr>
          <a:xfrm>
            <a:off x="666750" y="9923582"/>
            <a:ext cx="63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4EA6E98F-91CA-45B6-A23C-67470BAEA750}"/>
              </a:ext>
            </a:extLst>
          </p:cNvPr>
          <p:cNvSpPr>
            <a:spLocks noGrp="1"/>
          </p:cNvSpPr>
          <p:nvPr/>
        </p:nvSpPr>
        <p:spPr>
          <a:xfrm>
            <a:off x="887250" y="10287731"/>
            <a:ext cx="5859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Develop a machine-learning soft sensor that predicts root-zone pH and EC to support timely irrigation and fertigation decisions, maintain optimal root-zone conditions, and prevent salinity or pH imbalance.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5C4E89D1-F1E9-40DD-A80D-468605786C63}"/>
              </a:ext>
            </a:extLst>
          </p:cNvPr>
          <p:cNvSpPr>
            <a:spLocks noGrp="1"/>
          </p:cNvSpPr>
          <p:nvPr/>
        </p:nvSpPr>
        <p:spPr>
          <a:xfrm>
            <a:off x="1216907" y="21854483"/>
            <a:ext cx="582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B3557"/>
                </a:solidFill>
                <a:latin typeface="Aptos"/>
              </a:rPr>
              <a:t>Data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CF586515-0DB5-47CB-8D0A-0ADC9D803331}"/>
              </a:ext>
            </a:extLst>
          </p:cNvPr>
          <p:cNvSpPr>
            <a:spLocks noGrp="1"/>
          </p:cNvSpPr>
          <p:nvPr/>
        </p:nvSpPr>
        <p:spPr>
          <a:xfrm>
            <a:off x="666750" y="22359308"/>
            <a:ext cx="63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35" name="מלבן: פינות מעוגלות 34">
            <a:extLst>
              <a:ext uri="{FF2B5EF4-FFF2-40B4-BE49-F238E27FC236}">
                <a16:creationId xmlns:a16="http://schemas.microsoft.com/office/drawing/2014/main" id="{60DAC77E-274B-4B4D-9BD7-60C8B47CF1F0}"/>
              </a:ext>
            </a:extLst>
          </p:cNvPr>
          <p:cNvSpPr>
            <a:spLocks noGrp="1"/>
          </p:cNvSpPr>
          <p:nvPr/>
        </p:nvSpPr>
        <p:spPr>
          <a:xfrm>
            <a:off x="666750" y="22645058"/>
            <a:ext cx="1929375" cy="1619250"/>
          </a:xfrm>
          <a:prstGeom prst="roundRect">
            <a:avLst>
              <a:gd name="adj" fmla="val 4706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644D7D72-88C7-48F4-A4E0-F76AFD8EC0CC}"/>
              </a:ext>
            </a:extLst>
          </p:cNvPr>
          <p:cNvSpPr>
            <a:spLocks noGrp="1"/>
          </p:cNvSpPr>
          <p:nvPr/>
        </p:nvSpPr>
        <p:spPr>
          <a:xfrm>
            <a:off x="840000" y="22816508"/>
            <a:ext cx="1582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dirty="0"/>
              <a:t>16,682</a:t>
            </a:r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9D170818-534F-4C07-873C-BF3ADDF25E5B}"/>
              </a:ext>
            </a:extLst>
          </p:cNvPr>
          <p:cNvSpPr>
            <a:spLocks noGrp="1"/>
          </p:cNvSpPr>
          <p:nvPr/>
        </p:nvSpPr>
        <p:spPr>
          <a:xfrm>
            <a:off x="761250" y="23388008"/>
            <a:ext cx="183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10-minute rows</a:t>
            </a:r>
          </a:p>
        </p:txBody>
      </p:sp>
      <p:sp>
        <p:nvSpPr>
          <p:cNvPr id="39" name="מלבן: פינות מעוגלות 38">
            <a:extLst>
              <a:ext uri="{FF2B5EF4-FFF2-40B4-BE49-F238E27FC236}">
                <a16:creationId xmlns:a16="http://schemas.microsoft.com/office/drawing/2014/main" id="{0E88ED1C-4DE7-40B0-83FF-D752FEEB3E17}"/>
              </a:ext>
            </a:extLst>
          </p:cNvPr>
          <p:cNvSpPr>
            <a:spLocks noGrp="1"/>
          </p:cNvSpPr>
          <p:nvPr/>
        </p:nvSpPr>
        <p:spPr>
          <a:xfrm>
            <a:off x="2848125" y="22645058"/>
            <a:ext cx="1929375" cy="1619250"/>
          </a:xfrm>
          <a:prstGeom prst="roundRect">
            <a:avLst>
              <a:gd name="adj" fmla="val 4706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8FBB349D-8FF8-4C6A-B2B8-BB72B74F2153}"/>
              </a:ext>
            </a:extLst>
          </p:cNvPr>
          <p:cNvSpPr>
            <a:spLocks noGrp="1"/>
          </p:cNvSpPr>
          <p:nvPr/>
        </p:nvSpPr>
        <p:spPr>
          <a:xfrm>
            <a:off x="3021375" y="22816508"/>
            <a:ext cx="1582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174E63"/>
                </a:solidFill>
                <a:latin typeface="Aptos"/>
                <a:ea typeface="Aptos"/>
                <a:cs typeface="Aptos"/>
              </a:defRPr>
            </a:pPr>
            <a:r>
              <a:rPr dirty="0"/>
              <a:t>109</a:t>
            </a:r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47766463-F37D-4794-9304-911F28984357}"/>
              </a:ext>
            </a:extLst>
          </p:cNvPr>
          <p:cNvSpPr>
            <a:spLocks noGrp="1"/>
          </p:cNvSpPr>
          <p:nvPr/>
        </p:nvSpPr>
        <p:spPr>
          <a:xfrm>
            <a:off x="3005624" y="23388008"/>
            <a:ext cx="1582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pH/EC labels</a:t>
            </a:r>
          </a:p>
        </p:txBody>
      </p:sp>
      <p:sp>
        <p:nvSpPr>
          <p:cNvPr id="43" name="מלבן: פינות מעוגלות 42">
            <a:extLst>
              <a:ext uri="{FF2B5EF4-FFF2-40B4-BE49-F238E27FC236}">
                <a16:creationId xmlns:a16="http://schemas.microsoft.com/office/drawing/2014/main" id="{C49F687C-0D72-43EE-9685-039FCE063995}"/>
              </a:ext>
            </a:extLst>
          </p:cNvPr>
          <p:cNvSpPr>
            <a:spLocks noGrp="1"/>
          </p:cNvSpPr>
          <p:nvPr/>
        </p:nvSpPr>
        <p:spPr>
          <a:xfrm>
            <a:off x="5029500" y="22645058"/>
            <a:ext cx="1929375" cy="1619250"/>
          </a:xfrm>
          <a:prstGeom prst="roundRect">
            <a:avLst>
              <a:gd name="adj" fmla="val 4706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44" name="מלבן 43">
            <a:extLst>
              <a:ext uri="{FF2B5EF4-FFF2-40B4-BE49-F238E27FC236}">
                <a16:creationId xmlns:a16="http://schemas.microsoft.com/office/drawing/2014/main" id="{7E6412EC-0FE6-4363-B74D-8B6D86729208}"/>
              </a:ext>
            </a:extLst>
          </p:cNvPr>
          <p:cNvSpPr>
            <a:spLocks noGrp="1"/>
          </p:cNvSpPr>
          <p:nvPr/>
        </p:nvSpPr>
        <p:spPr>
          <a:xfrm>
            <a:off x="5202750" y="22816508"/>
            <a:ext cx="1582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5AB7C8"/>
                </a:solidFill>
                <a:latin typeface="Aptos"/>
                <a:ea typeface="Aptos"/>
                <a:cs typeface="Aptos"/>
              </a:defRPr>
            </a:pPr>
            <a:r>
              <a:rPr dirty="0"/>
              <a:t>20</a:t>
            </a:r>
          </a:p>
        </p:txBody>
      </p:sp>
      <p:sp>
        <p:nvSpPr>
          <p:cNvPr id="45" name="מלבן 44">
            <a:extLst>
              <a:ext uri="{FF2B5EF4-FFF2-40B4-BE49-F238E27FC236}">
                <a16:creationId xmlns:a16="http://schemas.microsoft.com/office/drawing/2014/main" id="{7CD93CCB-6052-424C-A6B5-86D4364F20D4}"/>
              </a:ext>
            </a:extLst>
          </p:cNvPr>
          <p:cNvSpPr>
            <a:spLocks noGrp="1"/>
          </p:cNvSpPr>
          <p:nvPr/>
        </p:nvSpPr>
        <p:spPr>
          <a:xfrm>
            <a:off x="5202750" y="23388008"/>
            <a:ext cx="171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Input </a:t>
            </a:r>
            <a:r>
              <a:rPr sz="2400" dirty="0"/>
              <a:t>features</a:t>
            </a:r>
          </a:p>
        </p:txBody>
      </p:sp>
      <p:sp>
        <p:nvSpPr>
          <p:cNvPr id="47" name="מלבן 46">
            <a:extLst>
              <a:ext uri="{FF2B5EF4-FFF2-40B4-BE49-F238E27FC236}">
                <a16:creationId xmlns:a16="http://schemas.microsoft.com/office/drawing/2014/main" id="{F6D264E5-CBD2-481C-8630-B0AD8985BF1E}"/>
              </a:ext>
            </a:extLst>
          </p:cNvPr>
          <p:cNvSpPr>
            <a:spLocks noGrp="1"/>
          </p:cNvSpPr>
          <p:nvPr/>
        </p:nvSpPr>
        <p:spPr>
          <a:xfrm>
            <a:off x="666750" y="24456274"/>
            <a:ext cx="630000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r>
              <a:rPr sz="2400" dirty="0">
                <a:latin typeface="Aptos" panose="020B0004020202020204" pitchFamily="34" charset="0"/>
              </a:rPr>
              <a:t>Unified 10-minute dataset combining climate, fertigation,</a:t>
            </a:r>
            <a:r>
              <a:rPr lang="he-IL" sz="2400" dirty="0">
                <a:latin typeface="Aptos" panose="020B0004020202020204" pitchFamily="34" charset="0"/>
              </a:rPr>
              <a:t> </a:t>
            </a:r>
            <a:r>
              <a:rPr sz="2400" dirty="0">
                <a:latin typeface="Aptos" panose="020B0004020202020204" pitchFamily="34" charset="0"/>
              </a:rPr>
              <a:t>crop state, and manual pH/EC labels.</a:t>
            </a:r>
            <a:endParaRPr lang="he-IL" sz="2400" dirty="0">
              <a:latin typeface="Aptos" panose="020B0004020202020204" pitchFamily="34" charset="0"/>
            </a:endParaRPr>
          </a:p>
          <a:p>
            <a:endParaRPr sz="2400" dirty="0">
              <a:latin typeface="Aptos" panose="020B0004020202020204" pitchFamily="34" charset="0"/>
            </a:endParaRPr>
          </a:p>
          <a:p>
            <a:r>
              <a:rPr sz="2400" dirty="0">
                <a:latin typeface="Aptos" panose="020B0004020202020204" pitchFamily="34" charset="0"/>
              </a:rPr>
              <a:t>May 29-Sep 21, 2025 | sparse target labels</a:t>
            </a:r>
          </a:p>
        </p:txBody>
      </p:sp>
      <p:sp>
        <p:nvSpPr>
          <p:cNvPr id="51" name="אליפסה 50">
            <a:extLst>
              <a:ext uri="{FF2B5EF4-FFF2-40B4-BE49-F238E27FC236}">
                <a16:creationId xmlns:a16="http://schemas.microsoft.com/office/drawing/2014/main" id="{C41956FE-D518-4463-9926-7171EBF0D275}"/>
              </a:ext>
            </a:extLst>
          </p:cNvPr>
          <p:cNvSpPr>
            <a:spLocks noGrp="1"/>
          </p:cNvSpPr>
          <p:nvPr/>
        </p:nvSpPr>
        <p:spPr>
          <a:xfrm>
            <a:off x="7416000" y="5276400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05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2" name="מלבן 51">
            <a:extLst>
              <a:ext uri="{FF2B5EF4-FFF2-40B4-BE49-F238E27FC236}">
                <a16:creationId xmlns:a16="http://schemas.microsoft.com/office/drawing/2014/main" id="{07B0EB20-ABA2-4AAD-8A42-3FDE9F56F908}"/>
              </a:ext>
            </a:extLst>
          </p:cNvPr>
          <p:cNvSpPr>
            <a:spLocks noGrp="1"/>
          </p:cNvSpPr>
          <p:nvPr/>
        </p:nvSpPr>
        <p:spPr>
          <a:xfrm>
            <a:off x="8024250" y="5334000"/>
            <a:ext cx="749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0B3557"/>
                </a:solidFill>
                <a:latin typeface="Aptos"/>
              </a:rPr>
              <a:t>Method</a:t>
            </a:r>
          </a:p>
        </p:txBody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D85E2508-C83D-4EF2-A5E7-F0A81D1580D0}"/>
              </a:ext>
            </a:extLst>
          </p:cNvPr>
          <p:cNvSpPr>
            <a:spLocks noGrp="1"/>
          </p:cNvSpPr>
          <p:nvPr/>
        </p:nvSpPr>
        <p:spPr>
          <a:xfrm>
            <a:off x="7416750" y="5810250"/>
            <a:ext cx="81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54" name="מלבן 53">
            <a:extLst>
              <a:ext uri="{FF2B5EF4-FFF2-40B4-BE49-F238E27FC236}">
                <a16:creationId xmlns:a16="http://schemas.microsoft.com/office/drawing/2014/main" id="{141F5A7A-B1D0-4CE4-8CAB-D36BDD6B740E}"/>
              </a:ext>
            </a:extLst>
          </p:cNvPr>
          <p:cNvSpPr>
            <a:spLocks noGrp="1"/>
          </p:cNvSpPr>
          <p:nvPr/>
        </p:nvSpPr>
        <p:spPr>
          <a:xfrm>
            <a:off x="7416750" y="6076950"/>
            <a:ext cx="8100000" cy="2266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Stage 1 predicts greenhouse microclimate from external weather and radiation.</a:t>
            </a:r>
            <a:endParaRPr lang="he-IL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Stage 2 predicts future root-zone pH and EC from a known anchor measurement at t0.</a:t>
            </a:r>
            <a:endParaRPr lang="he-IL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The model learns interval change from t0 to t1 instead of treating every timestamp as a label.</a:t>
            </a:r>
          </a:p>
        </p:txBody>
      </p:sp>
      <p:sp>
        <p:nvSpPr>
          <p:cNvPr id="55" name="מלבן: פינות מעוגלות 54">
            <a:extLst>
              <a:ext uri="{FF2B5EF4-FFF2-40B4-BE49-F238E27FC236}">
                <a16:creationId xmlns:a16="http://schemas.microsoft.com/office/drawing/2014/main" id="{14259530-09D0-4508-A744-4AACB8AA2B89}"/>
              </a:ext>
            </a:extLst>
          </p:cNvPr>
          <p:cNvSpPr>
            <a:spLocks noGrp="1"/>
          </p:cNvSpPr>
          <p:nvPr/>
        </p:nvSpPr>
        <p:spPr>
          <a:xfrm>
            <a:off x="7416750" y="8620125"/>
            <a:ext cx="8100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849294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66" name="מלבן 65">
            <a:extLst>
              <a:ext uri="{FF2B5EF4-FFF2-40B4-BE49-F238E27FC236}">
                <a16:creationId xmlns:a16="http://schemas.microsoft.com/office/drawing/2014/main" id="{23EF5210-1567-49E3-89D0-F8C99E6CC2EA}"/>
              </a:ext>
            </a:extLst>
          </p:cNvPr>
          <p:cNvSpPr>
            <a:spLocks noGrp="1"/>
          </p:cNvSpPr>
          <p:nvPr/>
        </p:nvSpPr>
        <p:spPr>
          <a:xfrm>
            <a:off x="9320250" y="10563225"/>
            <a:ext cx="42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2025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endParaRPr dirty="0"/>
          </a:p>
        </p:txBody>
      </p:sp>
      <p:sp>
        <p:nvSpPr>
          <p:cNvPr id="82" name="אליפסה 81">
            <a:extLst>
              <a:ext uri="{FF2B5EF4-FFF2-40B4-BE49-F238E27FC236}">
                <a16:creationId xmlns:a16="http://schemas.microsoft.com/office/drawing/2014/main" id="{AEA9C91C-9EA6-4B1A-A8D8-E9B16D7FA20F}"/>
              </a:ext>
            </a:extLst>
          </p:cNvPr>
          <p:cNvSpPr>
            <a:spLocks noGrp="1"/>
          </p:cNvSpPr>
          <p:nvPr/>
        </p:nvSpPr>
        <p:spPr>
          <a:xfrm>
            <a:off x="7416000" y="21820975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3" name="מלבן 82">
            <a:extLst>
              <a:ext uri="{FF2B5EF4-FFF2-40B4-BE49-F238E27FC236}">
                <a16:creationId xmlns:a16="http://schemas.microsoft.com/office/drawing/2014/main" id="{A6FEDDA5-B135-4C04-8AF0-9EB0E58126CA}"/>
              </a:ext>
            </a:extLst>
          </p:cNvPr>
          <p:cNvSpPr>
            <a:spLocks noGrp="1"/>
          </p:cNvSpPr>
          <p:nvPr/>
        </p:nvSpPr>
        <p:spPr>
          <a:xfrm>
            <a:off x="8024250" y="21878575"/>
            <a:ext cx="749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r>
              <a:rPr sz="2800" b="1" dirty="0">
                <a:solidFill>
                  <a:srgbClr val="0B3557"/>
                </a:solidFill>
                <a:latin typeface="Aptos"/>
              </a:rPr>
              <a:t>Support Model: </a:t>
            </a:r>
            <a:r>
              <a:rPr sz="2800" b="1" dirty="0">
                <a:solidFill>
                  <a:srgbClr val="0B3557"/>
                </a:solidFill>
                <a:latin typeface="Aptos" panose="020B0004020202020204" pitchFamily="34" charset="0"/>
              </a:rPr>
              <a:t>Micro-Climate</a:t>
            </a:r>
          </a:p>
        </p:txBody>
      </p:sp>
      <p:sp>
        <p:nvSpPr>
          <p:cNvPr id="84" name="מלבן 83">
            <a:extLst>
              <a:ext uri="{FF2B5EF4-FFF2-40B4-BE49-F238E27FC236}">
                <a16:creationId xmlns:a16="http://schemas.microsoft.com/office/drawing/2014/main" id="{8BC6F9C4-7901-4810-BEB2-44CBD76FCC2F}"/>
              </a:ext>
            </a:extLst>
          </p:cNvPr>
          <p:cNvSpPr>
            <a:spLocks noGrp="1"/>
          </p:cNvSpPr>
          <p:nvPr/>
        </p:nvSpPr>
        <p:spPr>
          <a:xfrm>
            <a:off x="7416750" y="22378271"/>
            <a:ext cx="81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85" name="מלבן: פינות מעוגלות 84">
            <a:extLst>
              <a:ext uri="{FF2B5EF4-FFF2-40B4-BE49-F238E27FC236}">
                <a16:creationId xmlns:a16="http://schemas.microsoft.com/office/drawing/2014/main" id="{D52A26CD-B7DD-4AEA-BA4E-D64E01F85A6F}"/>
              </a:ext>
            </a:extLst>
          </p:cNvPr>
          <p:cNvSpPr>
            <a:spLocks noGrp="1"/>
          </p:cNvSpPr>
          <p:nvPr/>
        </p:nvSpPr>
        <p:spPr>
          <a:xfrm>
            <a:off x="7416750" y="25298360"/>
            <a:ext cx="8100000" cy="9829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849294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91" name="אליפסה 90">
            <a:extLst>
              <a:ext uri="{FF2B5EF4-FFF2-40B4-BE49-F238E27FC236}">
                <a16:creationId xmlns:a16="http://schemas.microsoft.com/office/drawing/2014/main" id="{945C478D-468F-419B-BEFE-5FCADCC3011B}"/>
              </a:ext>
            </a:extLst>
          </p:cNvPr>
          <p:cNvSpPr>
            <a:spLocks noGrp="1"/>
          </p:cNvSpPr>
          <p:nvPr/>
        </p:nvSpPr>
        <p:spPr>
          <a:xfrm>
            <a:off x="7416000" y="14182275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92" name="מלבן 91">
            <a:extLst>
              <a:ext uri="{FF2B5EF4-FFF2-40B4-BE49-F238E27FC236}">
                <a16:creationId xmlns:a16="http://schemas.microsoft.com/office/drawing/2014/main" id="{A19079AE-8BC6-410C-815E-4BEE7C9FF766}"/>
              </a:ext>
            </a:extLst>
          </p:cNvPr>
          <p:cNvSpPr>
            <a:spLocks noGrp="1"/>
          </p:cNvSpPr>
          <p:nvPr/>
        </p:nvSpPr>
        <p:spPr>
          <a:xfrm>
            <a:off x="8024250" y="14239875"/>
            <a:ext cx="749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r>
              <a:rPr sz="2800" b="1">
                <a:solidFill>
                  <a:srgbClr val="0B3557"/>
                </a:solidFill>
                <a:latin typeface="Aptos"/>
              </a:rPr>
              <a:t>Validation Strategy</a:t>
            </a:r>
          </a:p>
        </p:txBody>
      </p:sp>
      <p:sp>
        <p:nvSpPr>
          <p:cNvPr id="93" name="מלבן 92">
            <a:extLst>
              <a:ext uri="{FF2B5EF4-FFF2-40B4-BE49-F238E27FC236}">
                <a16:creationId xmlns:a16="http://schemas.microsoft.com/office/drawing/2014/main" id="{18A435DD-8821-42A6-ADB4-83BBEF1542D0}"/>
              </a:ext>
            </a:extLst>
          </p:cNvPr>
          <p:cNvSpPr>
            <a:spLocks noGrp="1"/>
          </p:cNvSpPr>
          <p:nvPr/>
        </p:nvSpPr>
        <p:spPr>
          <a:xfrm>
            <a:off x="7416750" y="14716125"/>
            <a:ext cx="81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94" name="מלבן 93">
            <a:extLst>
              <a:ext uri="{FF2B5EF4-FFF2-40B4-BE49-F238E27FC236}">
                <a16:creationId xmlns:a16="http://schemas.microsoft.com/office/drawing/2014/main" id="{9CF39BF1-A5E2-4B34-9D3D-174558E5956E}"/>
              </a:ext>
            </a:extLst>
          </p:cNvPr>
          <p:cNvSpPr>
            <a:spLocks noGrp="1"/>
          </p:cNvSpPr>
          <p:nvPr/>
        </p:nvSpPr>
        <p:spPr>
          <a:xfrm>
            <a:off x="7416750" y="14910435"/>
            <a:ext cx="8100000" cy="17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Walk-forward validation: train only on past observations and predict future samples.</a:t>
            </a:r>
            <a:endParaRPr lang="he-IL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Skipped-interval holdout: remove selected target intervals from training and predict them later.</a:t>
            </a:r>
            <a:endParaRPr lang="he-IL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Metrics are interpreted per target: pH and EC mS/cm</a:t>
            </a:r>
          </a:p>
        </p:txBody>
      </p:sp>
      <p:sp>
        <p:nvSpPr>
          <p:cNvPr id="95" name="מלבן: פינות מעוגלות 94">
            <a:extLst>
              <a:ext uri="{FF2B5EF4-FFF2-40B4-BE49-F238E27FC236}">
                <a16:creationId xmlns:a16="http://schemas.microsoft.com/office/drawing/2014/main" id="{188E1650-EA89-4429-A9A7-5072A88AAE1D}"/>
              </a:ext>
            </a:extLst>
          </p:cNvPr>
          <p:cNvSpPr>
            <a:spLocks noGrp="1"/>
          </p:cNvSpPr>
          <p:nvPr/>
        </p:nvSpPr>
        <p:spPr>
          <a:xfrm>
            <a:off x="7416750" y="16900000"/>
            <a:ext cx="8100000" cy="42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849294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98" name="אליפסה 97">
            <a:extLst>
              <a:ext uri="{FF2B5EF4-FFF2-40B4-BE49-F238E27FC236}">
                <a16:creationId xmlns:a16="http://schemas.microsoft.com/office/drawing/2014/main" id="{8F39A0B2-DBEB-4993-B412-7B7236E52878}"/>
              </a:ext>
            </a:extLst>
          </p:cNvPr>
          <p:cNvSpPr>
            <a:spLocks noGrp="1"/>
          </p:cNvSpPr>
          <p:nvPr/>
        </p:nvSpPr>
        <p:spPr>
          <a:xfrm>
            <a:off x="15966000" y="5276400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08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9" name="מלבן 98">
            <a:extLst>
              <a:ext uri="{FF2B5EF4-FFF2-40B4-BE49-F238E27FC236}">
                <a16:creationId xmlns:a16="http://schemas.microsoft.com/office/drawing/2014/main" id="{1A31CCA6-B54A-4BA5-9AB7-D123C00C7875}"/>
              </a:ext>
            </a:extLst>
          </p:cNvPr>
          <p:cNvSpPr>
            <a:spLocks noGrp="1"/>
          </p:cNvSpPr>
          <p:nvPr/>
        </p:nvSpPr>
        <p:spPr>
          <a:xfrm>
            <a:off x="16608000" y="5334000"/>
            <a:ext cx="790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B3557"/>
                </a:solidFill>
                <a:latin typeface="Aptos"/>
              </a:rPr>
              <a:t>Key Results</a:t>
            </a:r>
          </a:p>
        </p:txBody>
      </p:sp>
      <p:sp>
        <p:nvSpPr>
          <p:cNvPr id="100" name="מלבן 99">
            <a:extLst>
              <a:ext uri="{FF2B5EF4-FFF2-40B4-BE49-F238E27FC236}">
                <a16:creationId xmlns:a16="http://schemas.microsoft.com/office/drawing/2014/main" id="{3707DE44-60C7-4231-910C-A7128819F78E}"/>
              </a:ext>
            </a:extLst>
          </p:cNvPr>
          <p:cNvSpPr>
            <a:spLocks noGrp="1"/>
          </p:cNvSpPr>
          <p:nvPr/>
        </p:nvSpPr>
        <p:spPr>
          <a:xfrm>
            <a:off x="15966750" y="5810250"/>
            <a:ext cx="855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1" name="מלבן: פינות מעוגלות 100">
            <a:extLst>
              <a:ext uri="{FF2B5EF4-FFF2-40B4-BE49-F238E27FC236}">
                <a16:creationId xmlns:a16="http://schemas.microsoft.com/office/drawing/2014/main" id="{898B053B-5DE3-4C1A-90E5-1349F308F54A}"/>
              </a:ext>
            </a:extLst>
          </p:cNvPr>
          <p:cNvSpPr>
            <a:spLocks noGrp="1"/>
          </p:cNvSpPr>
          <p:nvPr/>
        </p:nvSpPr>
        <p:spPr>
          <a:xfrm>
            <a:off x="15966750" y="6076950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2" name="מלבן 101">
            <a:extLst>
              <a:ext uri="{FF2B5EF4-FFF2-40B4-BE49-F238E27FC236}">
                <a16:creationId xmlns:a16="http://schemas.microsoft.com/office/drawing/2014/main" id="{56CA182B-473F-45FC-AA71-DE196CD56B9B}"/>
              </a:ext>
            </a:extLst>
          </p:cNvPr>
          <p:cNvSpPr>
            <a:spLocks noGrp="1"/>
          </p:cNvSpPr>
          <p:nvPr/>
        </p:nvSpPr>
        <p:spPr>
          <a:xfrm>
            <a:off x="16201750" y="6246950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2A8A80"/>
                </a:solidFill>
                <a:latin typeface="Aptos"/>
                <a:ea typeface="Aptos"/>
                <a:cs typeface="Aptos"/>
              </a:defRPr>
            </a:pPr>
            <a:r>
              <a:rPr sz="3750" b="1" dirty="0">
                <a:solidFill>
                  <a:srgbClr val="2A8A80"/>
                </a:solidFill>
                <a:latin typeface="Aptos"/>
              </a:rPr>
              <a:t>0.33</a:t>
            </a:r>
          </a:p>
        </p:txBody>
      </p:sp>
      <p:sp>
        <p:nvSpPr>
          <p:cNvPr id="103" name="מלבן 102">
            <a:extLst>
              <a:ext uri="{FF2B5EF4-FFF2-40B4-BE49-F238E27FC236}">
                <a16:creationId xmlns:a16="http://schemas.microsoft.com/office/drawing/2014/main" id="{739A4054-3A29-4FD9-8315-2DF570B0D010}"/>
              </a:ext>
            </a:extLst>
          </p:cNvPr>
          <p:cNvSpPr>
            <a:spLocks noGrp="1"/>
          </p:cNvSpPr>
          <p:nvPr/>
        </p:nvSpPr>
        <p:spPr>
          <a:xfrm>
            <a:off x="16201750" y="6826950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C2A33"/>
                </a:solidFill>
                <a:latin typeface="Aptos"/>
              </a:rPr>
              <a:t>pH MAE</a:t>
            </a:r>
          </a:p>
        </p:txBody>
      </p:sp>
      <p:sp>
        <p:nvSpPr>
          <p:cNvPr id="105" name="מלבן: פינות מעוגלות 104">
            <a:extLst>
              <a:ext uri="{FF2B5EF4-FFF2-40B4-BE49-F238E27FC236}">
                <a16:creationId xmlns:a16="http://schemas.microsoft.com/office/drawing/2014/main" id="{A577EAE8-0E0E-4D2B-BF74-F5F846A7B417}"/>
              </a:ext>
            </a:extLst>
          </p:cNvPr>
          <p:cNvSpPr>
            <a:spLocks noGrp="1"/>
          </p:cNvSpPr>
          <p:nvPr/>
        </p:nvSpPr>
        <p:spPr>
          <a:xfrm>
            <a:off x="18927188" y="6076950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6" name="מלבן 105">
            <a:extLst>
              <a:ext uri="{FF2B5EF4-FFF2-40B4-BE49-F238E27FC236}">
                <a16:creationId xmlns:a16="http://schemas.microsoft.com/office/drawing/2014/main" id="{43DEE021-5457-4327-9B12-80808FD4072B}"/>
              </a:ext>
            </a:extLst>
          </p:cNvPr>
          <p:cNvSpPr>
            <a:spLocks noGrp="1"/>
          </p:cNvSpPr>
          <p:nvPr/>
        </p:nvSpPr>
        <p:spPr>
          <a:xfrm>
            <a:off x="19162188" y="6246950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486F8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A8A80"/>
                </a:solidFill>
                <a:latin typeface="Aptos"/>
              </a:rPr>
              <a:t>62%</a:t>
            </a:r>
          </a:p>
        </p:txBody>
      </p:sp>
      <p:sp>
        <p:nvSpPr>
          <p:cNvPr id="107" name="מלבן 106">
            <a:extLst>
              <a:ext uri="{FF2B5EF4-FFF2-40B4-BE49-F238E27FC236}">
                <a16:creationId xmlns:a16="http://schemas.microsoft.com/office/drawing/2014/main" id="{9C1436EC-7B66-4F3F-BE4D-1F58E5ABD6C5}"/>
              </a:ext>
            </a:extLst>
          </p:cNvPr>
          <p:cNvSpPr>
            <a:spLocks noGrp="1"/>
          </p:cNvSpPr>
          <p:nvPr/>
        </p:nvSpPr>
        <p:spPr>
          <a:xfrm>
            <a:off x="19162188" y="6826950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pH gain</a:t>
            </a:r>
          </a:p>
        </p:txBody>
      </p:sp>
      <p:sp>
        <p:nvSpPr>
          <p:cNvPr id="109" name="מלבן: פינות מעוגלות 108">
            <a:extLst>
              <a:ext uri="{FF2B5EF4-FFF2-40B4-BE49-F238E27FC236}">
                <a16:creationId xmlns:a16="http://schemas.microsoft.com/office/drawing/2014/main" id="{6273FF4D-7B9E-41AD-9056-EBAAE35456BF}"/>
              </a:ext>
            </a:extLst>
          </p:cNvPr>
          <p:cNvSpPr>
            <a:spLocks noGrp="1"/>
          </p:cNvSpPr>
          <p:nvPr/>
        </p:nvSpPr>
        <p:spPr>
          <a:xfrm>
            <a:off x="21887625" y="6076950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0" name="מלבן 109">
            <a:extLst>
              <a:ext uri="{FF2B5EF4-FFF2-40B4-BE49-F238E27FC236}">
                <a16:creationId xmlns:a16="http://schemas.microsoft.com/office/drawing/2014/main" id="{79A5524C-CD4F-47A9-92D4-477E279BF9C2}"/>
              </a:ext>
            </a:extLst>
          </p:cNvPr>
          <p:cNvSpPr>
            <a:spLocks noGrp="1"/>
          </p:cNvSpPr>
          <p:nvPr/>
        </p:nvSpPr>
        <p:spPr>
          <a:xfrm>
            <a:off x="22122625" y="6246950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2A8A80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A8A80"/>
                </a:solidFill>
                <a:latin typeface="Aptos"/>
              </a:rPr>
              <a:t>0.932</a:t>
            </a:r>
          </a:p>
        </p:txBody>
      </p:sp>
      <p:sp>
        <p:nvSpPr>
          <p:cNvPr id="111" name="מלבן 110">
            <a:extLst>
              <a:ext uri="{FF2B5EF4-FFF2-40B4-BE49-F238E27FC236}">
                <a16:creationId xmlns:a16="http://schemas.microsoft.com/office/drawing/2014/main" id="{096906C5-CF2B-4F07-A6F0-F525F28F49E8}"/>
              </a:ext>
            </a:extLst>
          </p:cNvPr>
          <p:cNvSpPr>
            <a:spLocks noGrp="1"/>
          </p:cNvSpPr>
          <p:nvPr/>
        </p:nvSpPr>
        <p:spPr>
          <a:xfrm>
            <a:off x="22122625" y="6826950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pH R2</a:t>
            </a:r>
          </a:p>
        </p:txBody>
      </p:sp>
      <p:sp>
        <p:nvSpPr>
          <p:cNvPr id="113" name="מלבן: פינות מעוגלות 112">
            <a:extLst>
              <a:ext uri="{FF2B5EF4-FFF2-40B4-BE49-F238E27FC236}">
                <a16:creationId xmlns:a16="http://schemas.microsoft.com/office/drawing/2014/main" id="{755F476C-0112-437F-A7B0-959636A372D4}"/>
              </a:ext>
            </a:extLst>
          </p:cNvPr>
          <p:cNvSpPr>
            <a:spLocks noGrp="1"/>
          </p:cNvSpPr>
          <p:nvPr/>
        </p:nvSpPr>
        <p:spPr>
          <a:xfrm>
            <a:off x="15966750" y="7953375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4" name="מלבן 113">
            <a:extLst>
              <a:ext uri="{FF2B5EF4-FFF2-40B4-BE49-F238E27FC236}">
                <a16:creationId xmlns:a16="http://schemas.microsoft.com/office/drawing/2014/main" id="{909D2A83-F63D-4F44-863C-C991B2595C51}"/>
              </a:ext>
            </a:extLst>
          </p:cNvPr>
          <p:cNvSpPr>
            <a:spLocks noGrp="1"/>
          </p:cNvSpPr>
          <p:nvPr/>
        </p:nvSpPr>
        <p:spPr>
          <a:xfrm>
            <a:off x="16201750" y="8123375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2A8A80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486F8F"/>
                </a:solidFill>
                <a:latin typeface="Aptos"/>
              </a:rPr>
              <a:t>0.127</a:t>
            </a:r>
          </a:p>
        </p:txBody>
      </p:sp>
      <p:sp>
        <p:nvSpPr>
          <p:cNvPr id="115" name="מלבן 114">
            <a:extLst>
              <a:ext uri="{FF2B5EF4-FFF2-40B4-BE49-F238E27FC236}">
                <a16:creationId xmlns:a16="http://schemas.microsoft.com/office/drawing/2014/main" id="{DC2B2EC6-F261-48F2-9864-C644D36CB7D0}"/>
              </a:ext>
            </a:extLst>
          </p:cNvPr>
          <p:cNvSpPr>
            <a:spLocks noGrp="1"/>
          </p:cNvSpPr>
          <p:nvPr/>
        </p:nvSpPr>
        <p:spPr>
          <a:xfrm>
            <a:off x="16201750" y="8703375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EC MAE</a:t>
            </a:r>
          </a:p>
        </p:txBody>
      </p:sp>
      <p:sp>
        <p:nvSpPr>
          <p:cNvPr id="117" name="מלבן: פינות מעוגלות 116">
            <a:extLst>
              <a:ext uri="{FF2B5EF4-FFF2-40B4-BE49-F238E27FC236}">
                <a16:creationId xmlns:a16="http://schemas.microsoft.com/office/drawing/2014/main" id="{473E17E4-F368-4A47-A9FF-13078665577E}"/>
              </a:ext>
            </a:extLst>
          </p:cNvPr>
          <p:cNvSpPr>
            <a:spLocks noGrp="1"/>
          </p:cNvSpPr>
          <p:nvPr/>
        </p:nvSpPr>
        <p:spPr>
          <a:xfrm>
            <a:off x="18927188" y="7953375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8" name="מלבן 117">
            <a:extLst>
              <a:ext uri="{FF2B5EF4-FFF2-40B4-BE49-F238E27FC236}">
                <a16:creationId xmlns:a16="http://schemas.microsoft.com/office/drawing/2014/main" id="{FC00D6F6-8865-44D5-BEBA-F870445AB89C}"/>
              </a:ext>
            </a:extLst>
          </p:cNvPr>
          <p:cNvSpPr>
            <a:spLocks noGrp="1"/>
          </p:cNvSpPr>
          <p:nvPr/>
        </p:nvSpPr>
        <p:spPr>
          <a:xfrm>
            <a:off x="19162188" y="8123375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486F8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486F8F"/>
                </a:solidFill>
                <a:latin typeface="Aptos"/>
              </a:rPr>
              <a:t>35%</a:t>
            </a:r>
          </a:p>
        </p:txBody>
      </p:sp>
      <p:sp>
        <p:nvSpPr>
          <p:cNvPr id="119" name="מלבן 118">
            <a:extLst>
              <a:ext uri="{FF2B5EF4-FFF2-40B4-BE49-F238E27FC236}">
                <a16:creationId xmlns:a16="http://schemas.microsoft.com/office/drawing/2014/main" id="{2BC5EBEF-E1B2-4B3C-88E7-86C0ED5BC60D}"/>
              </a:ext>
            </a:extLst>
          </p:cNvPr>
          <p:cNvSpPr>
            <a:spLocks noGrp="1"/>
          </p:cNvSpPr>
          <p:nvPr/>
        </p:nvSpPr>
        <p:spPr>
          <a:xfrm>
            <a:off x="19162188" y="8703375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EC gain</a:t>
            </a:r>
          </a:p>
        </p:txBody>
      </p:sp>
      <p:sp>
        <p:nvSpPr>
          <p:cNvPr id="121" name="מלבן: פינות מעוגלות 120">
            <a:extLst>
              <a:ext uri="{FF2B5EF4-FFF2-40B4-BE49-F238E27FC236}">
                <a16:creationId xmlns:a16="http://schemas.microsoft.com/office/drawing/2014/main" id="{BF93C98F-C25D-408B-83C9-E23DF603B325}"/>
              </a:ext>
            </a:extLst>
          </p:cNvPr>
          <p:cNvSpPr>
            <a:spLocks noGrp="1"/>
          </p:cNvSpPr>
          <p:nvPr/>
        </p:nvSpPr>
        <p:spPr>
          <a:xfrm>
            <a:off x="21887625" y="7953375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22" name="מלבן 121">
            <a:extLst>
              <a:ext uri="{FF2B5EF4-FFF2-40B4-BE49-F238E27FC236}">
                <a16:creationId xmlns:a16="http://schemas.microsoft.com/office/drawing/2014/main" id="{F7A028CB-6F5D-403A-B1E9-B8FB182FAE8A}"/>
              </a:ext>
            </a:extLst>
          </p:cNvPr>
          <p:cNvSpPr>
            <a:spLocks noGrp="1"/>
          </p:cNvSpPr>
          <p:nvPr/>
        </p:nvSpPr>
        <p:spPr>
          <a:xfrm>
            <a:off x="22122625" y="8123375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486F8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486F8F"/>
                </a:solidFill>
                <a:latin typeface="Aptos"/>
              </a:rPr>
              <a:t>0.982</a:t>
            </a:r>
          </a:p>
        </p:txBody>
      </p:sp>
      <p:sp>
        <p:nvSpPr>
          <p:cNvPr id="123" name="מלבן 122">
            <a:extLst>
              <a:ext uri="{FF2B5EF4-FFF2-40B4-BE49-F238E27FC236}">
                <a16:creationId xmlns:a16="http://schemas.microsoft.com/office/drawing/2014/main" id="{02B6E206-C549-4CCD-841A-182E957388E7}"/>
              </a:ext>
            </a:extLst>
          </p:cNvPr>
          <p:cNvSpPr>
            <a:spLocks noGrp="1"/>
          </p:cNvSpPr>
          <p:nvPr/>
        </p:nvSpPr>
        <p:spPr>
          <a:xfrm>
            <a:off x="22122625" y="8703375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EC R2</a:t>
            </a:r>
          </a:p>
        </p:txBody>
      </p:sp>
      <p:sp>
        <p:nvSpPr>
          <p:cNvPr id="126" name="מלבן: פינות מעוגלות 125">
            <a:extLst>
              <a:ext uri="{FF2B5EF4-FFF2-40B4-BE49-F238E27FC236}">
                <a16:creationId xmlns:a16="http://schemas.microsoft.com/office/drawing/2014/main" id="{F556401A-3B43-4F5F-BE1A-167703646941}"/>
              </a:ext>
            </a:extLst>
          </p:cNvPr>
          <p:cNvSpPr>
            <a:spLocks noGrp="1"/>
          </p:cNvSpPr>
          <p:nvPr/>
        </p:nvSpPr>
        <p:spPr>
          <a:xfrm>
            <a:off x="16016750" y="9845191"/>
            <a:ext cx="8450000" cy="8296124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0160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29" name="אליפסה 128">
            <a:extLst>
              <a:ext uri="{FF2B5EF4-FFF2-40B4-BE49-F238E27FC236}">
                <a16:creationId xmlns:a16="http://schemas.microsoft.com/office/drawing/2014/main" id="{69472A0C-92F4-4ECD-BCC4-C954BB21DD65}"/>
              </a:ext>
            </a:extLst>
          </p:cNvPr>
          <p:cNvSpPr>
            <a:spLocks noGrp="1"/>
          </p:cNvSpPr>
          <p:nvPr/>
        </p:nvSpPr>
        <p:spPr>
          <a:xfrm>
            <a:off x="15966000" y="26816675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09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0" name="מלבן 129">
            <a:extLst>
              <a:ext uri="{FF2B5EF4-FFF2-40B4-BE49-F238E27FC236}">
                <a16:creationId xmlns:a16="http://schemas.microsoft.com/office/drawing/2014/main" id="{AC3EEF63-F93E-4C9E-82FC-23AD11EB54D9}"/>
              </a:ext>
            </a:extLst>
          </p:cNvPr>
          <p:cNvSpPr>
            <a:spLocks noGrp="1"/>
          </p:cNvSpPr>
          <p:nvPr/>
        </p:nvSpPr>
        <p:spPr>
          <a:xfrm>
            <a:off x="16608000" y="26874275"/>
            <a:ext cx="790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B3557"/>
                </a:solidFill>
                <a:latin typeface="Aptos"/>
              </a:rPr>
              <a:t>Conclusions</a:t>
            </a:r>
          </a:p>
        </p:txBody>
      </p:sp>
      <p:sp>
        <p:nvSpPr>
          <p:cNvPr id="131" name="מלבן 130">
            <a:extLst>
              <a:ext uri="{FF2B5EF4-FFF2-40B4-BE49-F238E27FC236}">
                <a16:creationId xmlns:a16="http://schemas.microsoft.com/office/drawing/2014/main" id="{2E9AD52C-1A47-4025-BFBB-673882FA1804}"/>
              </a:ext>
            </a:extLst>
          </p:cNvPr>
          <p:cNvSpPr>
            <a:spLocks noGrp="1"/>
          </p:cNvSpPr>
          <p:nvPr/>
        </p:nvSpPr>
        <p:spPr>
          <a:xfrm>
            <a:off x="15966750" y="27350525"/>
            <a:ext cx="855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32" name="מלבן 131">
            <a:extLst>
              <a:ext uri="{FF2B5EF4-FFF2-40B4-BE49-F238E27FC236}">
                <a16:creationId xmlns:a16="http://schemas.microsoft.com/office/drawing/2014/main" id="{66AC1EBE-75B6-421B-9113-0072E717A76A}"/>
              </a:ext>
            </a:extLst>
          </p:cNvPr>
          <p:cNvSpPr>
            <a:spLocks noGrp="1"/>
          </p:cNvSpPr>
          <p:nvPr/>
        </p:nvSpPr>
        <p:spPr>
          <a:xfrm>
            <a:off x="16201750" y="27607577"/>
            <a:ext cx="8550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9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A soft sensor can estimate root-zone pH and EC despite sparse target labels.</a:t>
            </a:r>
            <a:endParaRPr lang="he-IL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19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Combining climate, fertigation, crop state and previous pH/EC improves prediction over carry-forward baselines.</a:t>
            </a: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19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T</a:t>
            </a:r>
            <a:r>
              <a:rPr sz="2400" dirty="0"/>
              <a:t>he model supports earlier irrigation and fertigation decisions, not autonomous control.</a:t>
            </a:r>
          </a:p>
        </p:txBody>
      </p:sp>
      <p:sp>
        <p:nvSpPr>
          <p:cNvPr id="133" name="אליפסה 132">
            <a:extLst>
              <a:ext uri="{FF2B5EF4-FFF2-40B4-BE49-F238E27FC236}">
                <a16:creationId xmlns:a16="http://schemas.microsoft.com/office/drawing/2014/main" id="{B4806B33-9878-4E02-9669-4B57222F64E8}"/>
              </a:ext>
            </a:extLst>
          </p:cNvPr>
          <p:cNvSpPr>
            <a:spLocks noGrp="1"/>
          </p:cNvSpPr>
          <p:nvPr/>
        </p:nvSpPr>
        <p:spPr>
          <a:xfrm>
            <a:off x="15966000" y="30698477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10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4" name="מלבן 133">
            <a:extLst>
              <a:ext uri="{FF2B5EF4-FFF2-40B4-BE49-F238E27FC236}">
                <a16:creationId xmlns:a16="http://schemas.microsoft.com/office/drawing/2014/main" id="{842A8764-8213-44B9-B727-842BA159C99F}"/>
              </a:ext>
            </a:extLst>
          </p:cNvPr>
          <p:cNvSpPr>
            <a:spLocks noGrp="1"/>
          </p:cNvSpPr>
          <p:nvPr/>
        </p:nvSpPr>
        <p:spPr>
          <a:xfrm>
            <a:off x="16608000" y="30756077"/>
            <a:ext cx="790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B3557"/>
                </a:solidFill>
                <a:latin typeface="Aptos"/>
              </a:rPr>
              <a:t>Limitations</a:t>
            </a:r>
          </a:p>
        </p:txBody>
      </p:sp>
      <p:sp>
        <p:nvSpPr>
          <p:cNvPr id="135" name="מלבן 134">
            <a:extLst>
              <a:ext uri="{FF2B5EF4-FFF2-40B4-BE49-F238E27FC236}">
                <a16:creationId xmlns:a16="http://schemas.microsoft.com/office/drawing/2014/main" id="{C15D74AF-F4F7-41B8-9149-886BB3D7EE11}"/>
              </a:ext>
            </a:extLst>
          </p:cNvPr>
          <p:cNvSpPr>
            <a:spLocks noGrp="1"/>
          </p:cNvSpPr>
          <p:nvPr/>
        </p:nvSpPr>
        <p:spPr>
          <a:xfrm>
            <a:off x="15966750" y="31232327"/>
            <a:ext cx="855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37" name="מלבן 136">
            <a:extLst>
              <a:ext uri="{FF2B5EF4-FFF2-40B4-BE49-F238E27FC236}">
                <a16:creationId xmlns:a16="http://schemas.microsoft.com/office/drawing/2014/main" id="{9891B3EE-55CA-4B06-9F5B-B6FE2556CA0F}"/>
              </a:ext>
            </a:extLst>
          </p:cNvPr>
          <p:cNvSpPr>
            <a:spLocks noGrp="1"/>
          </p:cNvSpPr>
          <p:nvPr/>
        </p:nvSpPr>
        <p:spPr>
          <a:xfrm>
            <a:off x="16266000" y="31822877"/>
            <a:ext cx="795150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Only 109 labeled pH/EC measurements.</a:t>
            </a:r>
            <a:endParaRPr lang="he-IL" sz="2400" dirty="0"/>
          </a:p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Evaluated on one growing season.</a:t>
            </a:r>
            <a:endParaRPr lang="he-IL" sz="2400" dirty="0"/>
          </a:p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Low EC values remain difficult because small absolute errors become large relative errors.</a:t>
            </a:r>
            <a:endParaRPr lang="he-IL" sz="2400" dirty="0"/>
          </a:p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Future work: more seasons, crops, greenhouses and online monitoring.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5575AA46-2D1B-5328-1D06-E4068E1D5501}"/>
              </a:ext>
            </a:extLst>
          </p:cNvPr>
          <p:cNvSpPr>
            <a:spLocks noGrp="1"/>
          </p:cNvSpPr>
          <p:nvPr/>
        </p:nvSpPr>
        <p:spPr>
          <a:xfrm>
            <a:off x="16016750" y="18611850"/>
            <a:ext cx="8450000" cy="800000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0160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67" name="Rounded Rectangle 166"/>
          <p:cNvSpPr/>
          <p:nvPr/>
        </p:nvSpPr>
        <p:spPr>
          <a:xfrm>
            <a:off x="666750" y="26739154"/>
            <a:ext cx="6299999" cy="1508760"/>
          </a:xfrm>
          <a:prstGeom prst="roundRect">
            <a:avLst/>
          </a:prstGeom>
          <a:solidFill>
            <a:srgbClr val="FFFDF7"/>
          </a:solidFill>
          <a:ln w="14604">
            <a:solidFill>
              <a:srgbClr val="C9D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666750" y="26739154"/>
            <a:ext cx="801360" cy="1508760"/>
          </a:xfrm>
          <a:prstGeom prst="roundRect">
            <a:avLst/>
          </a:prstGeom>
          <a:solidFill>
            <a:srgbClr val="5AB7C8"/>
          </a:solidFill>
          <a:ln w="10160">
            <a:solidFill>
              <a:srgbClr val="5AB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923790" y="27251218"/>
            <a:ext cx="2872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634430" y="26986042"/>
            <a:ext cx="2663999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 dirty="0">
                <a:solidFill>
                  <a:srgbClr val="0B3557"/>
                </a:solidFill>
                <a:latin typeface="Aptos" panose="020B0004020202020204" pitchFamily="34" charset="0"/>
              </a:rPr>
              <a:t>Climate conditions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634430" y="27571258"/>
            <a:ext cx="367677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dirty="0">
                <a:solidFill>
                  <a:srgbClr val="14242E"/>
                </a:solidFill>
                <a:latin typeface="Aptos" panose="020B0004020202020204" pitchFamily="34" charset="0"/>
              </a:rPr>
              <a:t>temperature · humidity · radiation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66750" y="28476514"/>
            <a:ext cx="6299999" cy="1508760"/>
          </a:xfrm>
          <a:prstGeom prst="roundRect">
            <a:avLst/>
          </a:prstGeom>
          <a:solidFill>
            <a:srgbClr val="FFFDF7"/>
          </a:solidFill>
          <a:ln w="14604">
            <a:solidFill>
              <a:srgbClr val="C9D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666750" y="28476514"/>
            <a:ext cx="801360" cy="1508760"/>
          </a:xfrm>
          <a:prstGeom prst="roundRect">
            <a:avLst/>
          </a:prstGeom>
          <a:solidFill>
            <a:srgbClr val="174E63"/>
          </a:solidFill>
          <a:ln w="10160">
            <a:solidFill>
              <a:srgbClr val="17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923790" y="28988578"/>
            <a:ext cx="2872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634430" y="28723402"/>
            <a:ext cx="3041474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 dirty="0">
                <a:solidFill>
                  <a:srgbClr val="0B3557"/>
                </a:solidFill>
                <a:latin typeface="Aptos" panose="020B0004020202020204" pitchFamily="34" charset="0"/>
              </a:rPr>
              <a:t>Irrigation &amp; fertigation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634430" y="29308618"/>
            <a:ext cx="3068340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dirty="0">
                <a:solidFill>
                  <a:srgbClr val="14242E"/>
                </a:solidFill>
                <a:latin typeface="Aptos" panose="020B0004020202020204" pitchFamily="34" charset="0"/>
              </a:rPr>
              <a:t>water · fertilizer · acid · salts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66750" y="30213874"/>
            <a:ext cx="6299999" cy="1508760"/>
          </a:xfrm>
          <a:prstGeom prst="roundRect">
            <a:avLst/>
          </a:prstGeom>
          <a:solidFill>
            <a:srgbClr val="FFFDF7"/>
          </a:solidFill>
          <a:ln w="14604">
            <a:solidFill>
              <a:srgbClr val="C9D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666750" y="30213874"/>
            <a:ext cx="801360" cy="1508760"/>
          </a:xfrm>
          <a:prstGeom prst="roundRect">
            <a:avLst/>
          </a:prstGeom>
          <a:solidFill>
            <a:srgbClr val="879497"/>
          </a:solidFill>
          <a:ln w="10160">
            <a:solidFill>
              <a:srgbClr val="87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923790" y="30725938"/>
            <a:ext cx="2872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634430" y="30460762"/>
            <a:ext cx="167661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 dirty="0">
                <a:solidFill>
                  <a:srgbClr val="0B3557"/>
                </a:solidFill>
                <a:latin typeface="Aptos" panose="020B0004020202020204" pitchFamily="34" charset="0"/>
              </a:rPr>
              <a:t>Plant status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634430" y="31045978"/>
            <a:ext cx="259853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dirty="0">
                <a:solidFill>
                  <a:srgbClr val="14242E"/>
                </a:solidFill>
                <a:latin typeface="Aptos" panose="020B0004020202020204" pitchFamily="34" charset="0"/>
              </a:rPr>
              <a:t>canopy cover · crop age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66750" y="31951234"/>
            <a:ext cx="6299999" cy="1508760"/>
          </a:xfrm>
          <a:prstGeom prst="roundRect">
            <a:avLst/>
          </a:prstGeom>
          <a:solidFill>
            <a:srgbClr val="FFFDF7"/>
          </a:solidFill>
          <a:ln w="14604">
            <a:solidFill>
              <a:srgbClr val="C9D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ounded Rectangle 182"/>
          <p:cNvSpPr/>
          <p:nvPr/>
        </p:nvSpPr>
        <p:spPr>
          <a:xfrm>
            <a:off x="666750" y="31951234"/>
            <a:ext cx="801360" cy="1508760"/>
          </a:xfrm>
          <a:prstGeom prst="roundRect">
            <a:avLst/>
          </a:prstGeom>
          <a:solidFill>
            <a:srgbClr val="0B3557"/>
          </a:solidFill>
          <a:ln w="10160">
            <a:solidFill>
              <a:srgbClr val="0B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923790" y="32463298"/>
            <a:ext cx="2872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1634430" y="32198122"/>
            <a:ext cx="3613297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 dirty="0">
                <a:solidFill>
                  <a:srgbClr val="0B3557"/>
                </a:solidFill>
                <a:latin typeface="Aptos" panose="020B0004020202020204" pitchFamily="34" charset="0"/>
              </a:rPr>
              <a:t>Root-zone measurements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634430" y="32783338"/>
            <a:ext cx="281237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dirty="0">
                <a:solidFill>
                  <a:srgbClr val="14242E"/>
                </a:solidFill>
                <a:latin typeface="Aptos" panose="020B0004020202020204" pitchFamily="34" charset="0"/>
              </a:rPr>
              <a:t>manual pH &amp; EC samples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66750" y="33688594"/>
            <a:ext cx="6299999" cy="1508760"/>
          </a:xfrm>
          <a:prstGeom prst="roundRect">
            <a:avLst/>
          </a:prstGeom>
          <a:solidFill>
            <a:srgbClr val="FFFDF7"/>
          </a:solidFill>
          <a:ln w="14604">
            <a:solidFill>
              <a:srgbClr val="C9D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666750" y="33719074"/>
            <a:ext cx="801360" cy="1508760"/>
          </a:xfrm>
          <a:prstGeom prst="roundRect">
            <a:avLst/>
          </a:prstGeom>
          <a:solidFill>
            <a:srgbClr val="486F8F"/>
          </a:solidFill>
          <a:ln w="10160">
            <a:solidFill>
              <a:srgbClr val="48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923790" y="34200657"/>
            <a:ext cx="2872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1634430" y="33935482"/>
            <a:ext cx="1986762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0B3557"/>
                </a:solidFill>
                <a:latin typeface="Aptos" panose="020B0004020202020204" pitchFamily="34" charset="0"/>
              </a:rPr>
              <a:t>Time &amp; history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634430" y="34520698"/>
            <a:ext cx="377051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dirty="0">
                <a:solidFill>
                  <a:srgbClr val="14242E"/>
                </a:solidFill>
                <a:latin typeface="Aptos" panose="020B0004020202020204" pitchFamily="34" charset="0"/>
              </a:rPr>
              <a:t>timestamps · gaps · previous state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A50F8E22-8E62-7BA9-2066-710C499624DB}"/>
              </a:ext>
            </a:extLst>
          </p:cNvPr>
          <p:cNvSpPr>
            <a:spLocks noGrp="1"/>
          </p:cNvSpPr>
          <p:nvPr/>
        </p:nvSpPr>
        <p:spPr>
          <a:xfrm>
            <a:off x="7639500" y="22525946"/>
            <a:ext cx="8100000" cy="21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2A33"/>
                </a:solidFill>
                <a:latin typeface="Aptos" panose="020B0004020202020204" pitchFamily="34" charset="0"/>
              </a:rPr>
              <a:t>Estimates internal greenhouse climate from external weather and radiation.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2A33"/>
                </a:solidFill>
                <a:latin typeface="Aptos" panose="020B0004020202020204" pitchFamily="34" charset="0"/>
              </a:rPr>
              <a:t>Creates continuous climate features for the root-zone prediction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2A33"/>
                </a:solidFill>
                <a:latin typeface="Aptos" panose="020B0004020202020204" pitchFamily="34" charset="0"/>
              </a:rPr>
              <a:t>Helps the pH/EC model account for plant stress, evaporation, and irrigation demand between sparse lab samples.</a:t>
            </a:r>
          </a:p>
        </p:txBody>
      </p:sp>
      <p:sp>
        <p:nvSpPr>
          <p:cNvPr id="11" name="Oval 192"/>
          <p:cNvSpPr/>
          <p:nvPr/>
        </p:nvSpPr>
        <p:spPr>
          <a:xfrm>
            <a:off x="666000" y="13110430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2" name="TextBox 193"/>
          <p:cNvSpPr txBox="1"/>
          <p:nvPr/>
        </p:nvSpPr>
        <p:spPr>
          <a:xfrm>
            <a:off x="1301750" y="13168030"/>
            <a:ext cx="330622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800" b="1">
                <a:solidFill>
                  <a:srgbClr val="073B5B"/>
                </a:solidFill>
                <a:latin typeface="Aptos"/>
              </a:rPr>
              <a:t>Prediction Use Case</a:t>
            </a:r>
          </a:p>
        </p:txBody>
      </p:sp>
      <p:sp>
        <p:nvSpPr>
          <p:cNvPr id="13" name="Rectangle 194"/>
          <p:cNvSpPr/>
          <p:nvPr/>
        </p:nvSpPr>
        <p:spPr>
          <a:xfrm>
            <a:off x="666750" y="13668030"/>
            <a:ext cx="6300000" cy="30000"/>
          </a:xfrm>
          <a:prstGeom prst="rect">
            <a:avLst/>
          </a:prstGeom>
          <a:solidFill>
            <a:srgbClr val="849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666750" y="13933030"/>
            <a:ext cx="6300000" cy="71669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849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1334019" y="14253030"/>
            <a:ext cx="4965462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073B5B"/>
                </a:solidFill>
                <a:latin typeface="Aptos"/>
              </a:rPr>
              <a:t>Forecast-driven fertigation decision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1496750" y="15053030"/>
            <a:ext cx="0" cy="4530000"/>
          </a:xfrm>
          <a:prstGeom prst="line">
            <a:avLst/>
          </a:prstGeom>
          <a:ln w="25400">
            <a:solidFill>
              <a:srgbClr val="8492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Oval 246"/>
          <p:cNvSpPr/>
          <p:nvPr/>
        </p:nvSpPr>
        <p:spPr>
          <a:xfrm>
            <a:off x="1256750" y="15168030"/>
            <a:ext cx="480000" cy="480000"/>
          </a:xfrm>
          <a:prstGeom prst="ellipse">
            <a:avLst/>
          </a:prstGeom>
          <a:solidFill>
            <a:srgbClr val="07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826750" y="14963030"/>
            <a:ext cx="4700000" cy="8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849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086750" y="15113030"/>
            <a:ext cx="121482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 dirty="0">
                <a:solidFill>
                  <a:srgbClr val="073B5B"/>
                </a:solidFill>
                <a:latin typeface="Aptos"/>
              </a:rPr>
              <a:t>Measure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086750" y="15453030"/>
            <a:ext cx="216732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0" dirty="0">
                <a:solidFill>
                  <a:srgbClr val="436D8D"/>
                </a:solidFill>
                <a:latin typeface="Aptos"/>
              </a:rPr>
              <a:t>manual pH/EC at t0</a:t>
            </a:r>
          </a:p>
        </p:txBody>
      </p:sp>
      <p:sp>
        <p:nvSpPr>
          <p:cNvPr id="251" name="Oval 250"/>
          <p:cNvSpPr/>
          <p:nvPr/>
        </p:nvSpPr>
        <p:spPr>
          <a:xfrm>
            <a:off x="1256750" y="16478030"/>
            <a:ext cx="480000" cy="480000"/>
          </a:xfrm>
          <a:prstGeom prst="ellipse">
            <a:avLst/>
          </a:prstGeom>
          <a:solidFill>
            <a:srgbClr val="55B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826750" y="16273030"/>
            <a:ext cx="4700000" cy="8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849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2086750" y="16423030"/>
            <a:ext cx="1221681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55B9C7"/>
                </a:solidFill>
                <a:latin typeface="Aptos"/>
              </a:rPr>
              <a:t>Forecast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086750" y="16763030"/>
            <a:ext cx="238879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0">
                <a:solidFill>
                  <a:srgbClr val="436D8D"/>
                </a:solidFill>
                <a:latin typeface="Aptos"/>
              </a:rPr>
              <a:t>predict pH/EC for 48h</a:t>
            </a:r>
          </a:p>
        </p:txBody>
      </p:sp>
      <p:sp>
        <p:nvSpPr>
          <p:cNvPr id="255" name="Oval 254"/>
          <p:cNvSpPr/>
          <p:nvPr/>
        </p:nvSpPr>
        <p:spPr>
          <a:xfrm>
            <a:off x="1256750" y="17788030"/>
            <a:ext cx="480000" cy="480000"/>
          </a:xfrm>
          <a:prstGeom prst="ellipse">
            <a:avLst/>
          </a:prstGeom>
          <a:solidFill>
            <a:srgbClr val="849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1826750" y="17583030"/>
            <a:ext cx="4700000" cy="8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849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2086750" y="17733030"/>
            <a:ext cx="1797159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849294"/>
                </a:solidFill>
                <a:latin typeface="Aptos"/>
              </a:rPr>
              <a:t>Evaluate risk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086750" y="18073030"/>
            <a:ext cx="3085588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0" dirty="0">
                <a:solidFill>
                  <a:srgbClr val="436D8D"/>
                </a:solidFill>
                <a:latin typeface="Aptos"/>
              </a:rPr>
              <a:t>compare with optimal range</a:t>
            </a:r>
          </a:p>
        </p:txBody>
      </p:sp>
      <p:sp>
        <p:nvSpPr>
          <p:cNvPr id="259" name="Oval 258"/>
          <p:cNvSpPr/>
          <p:nvPr/>
        </p:nvSpPr>
        <p:spPr>
          <a:xfrm>
            <a:off x="1256750" y="19098030"/>
            <a:ext cx="480000" cy="480000"/>
          </a:xfrm>
          <a:prstGeom prst="ellipse">
            <a:avLst/>
          </a:prstGeom>
          <a:solidFill>
            <a:srgbClr val="436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1826750" y="18893030"/>
            <a:ext cx="4700000" cy="8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849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2086750" y="19043030"/>
            <a:ext cx="89832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436D8D"/>
                </a:solidFill>
                <a:latin typeface="Aptos"/>
              </a:rPr>
              <a:t>Adjust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086750" y="19383030"/>
            <a:ext cx="322870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0">
                <a:solidFill>
                  <a:srgbClr val="436D8D"/>
                </a:solidFill>
                <a:latin typeface="Aptos"/>
              </a:rPr>
              <a:t>water, fertilizer, or acid timing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1056749" y="20080634"/>
            <a:ext cx="5560425" cy="72936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849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0" dirty="0">
                <a:solidFill>
                  <a:srgbClr val="436D8D"/>
                </a:solidFill>
                <a:latin typeface="Aptos"/>
              </a:rPr>
              <a:t>Goal: keep pH and EC near the optimal range between lab samples.</a:t>
            </a:r>
          </a:p>
        </p:txBody>
      </p:sp>
      <p:sp>
        <p:nvSpPr>
          <p:cNvPr id="14" name="Oval 192">
            <a:extLst>
              <a:ext uri="{FF2B5EF4-FFF2-40B4-BE49-F238E27FC236}">
                <a16:creationId xmlns:a16="http://schemas.microsoft.com/office/drawing/2014/main" id="{C07010E7-EE07-EB4B-6558-D087C087C0B6}"/>
              </a:ext>
            </a:extLst>
          </p:cNvPr>
          <p:cNvSpPr/>
          <p:nvPr/>
        </p:nvSpPr>
        <p:spPr>
          <a:xfrm>
            <a:off x="666000" y="9391931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02</a:t>
            </a:r>
            <a:endParaRPr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92">
            <a:extLst>
              <a:ext uri="{FF2B5EF4-FFF2-40B4-BE49-F238E27FC236}">
                <a16:creationId xmlns:a16="http://schemas.microsoft.com/office/drawing/2014/main" id="{23D3BC62-A68D-C81F-39CE-83EE4BB31425}"/>
              </a:ext>
            </a:extLst>
          </p:cNvPr>
          <p:cNvSpPr/>
          <p:nvPr/>
        </p:nvSpPr>
        <p:spPr>
          <a:xfrm>
            <a:off x="666000" y="5262113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9" name="Oval 192">
            <a:extLst>
              <a:ext uri="{FF2B5EF4-FFF2-40B4-BE49-F238E27FC236}">
                <a16:creationId xmlns:a16="http://schemas.microsoft.com/office/drawing/2014/main" id="{041A0687-1374-0DCE-3273-7557EE15619C}"/>
              </a:ext>
            </a:extLst>
          </p:cNvPr>
          <p:cNvSpPr/>
          <p:nvPr/>
        </p:nvSpPr>
        <p:spPr>
          <a:xfrm>
            <a:off x="666000" y="21796883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04</a:t>
            </a:r>
          </a:p>
        </p:txBody>
      </p:sp>
      <p:pic>
        <p:nvPicPr>
          <p:cNvPr id="30" name="תמונה 29">
            <a:extLst>
              <a:ext uri="{FF2B5EF4-FFF2-40B4-BE49-F238E27FC236}">
                <a16:creationId xmlns:a16="http://schemas.microsoft.com/office/drawing/2014/main" id="{ADB0DFF7-F7A0-8B8C-A846-3AB05D7BC66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750" y="17218951"/>
            <a:ext cx="7960000" cy="3562100"/>
          </a:xfrm>
          <a:prstGeom prst="rect">
            <a:avLst/>
          </a:prstGeom>
        </p:spPr>
      </p:pic>
      <p:pic>
        <p:nvPicPr>
          <p:cNvPr id="38" name="תמונה 37">
            <a:extLst>
              <a:ext uri="{FF2B5EF4-FFF2-40B4-BE49-F238E27FC236}">
                <a16:creationId xmlns:a16="http://schemas.microsoft.com/office/drawing/2014/main" id="{B63365B2-3C2A-4E20-7F21-720CCDD438F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7439" y="10105390"/>
            <a:ext cx="7788910" cy="7776210"/>
          </a:xfrm>
          <a:prstGeom prst="rect">
            <a:avLst/>
          </a:prstGeom>
        </p:spPr>
      </p:pic>
      <p:pic>
        <p:nvPicPr>
          <p:cNvPr id="46" name="תמונה 45">
            <a:extLst>
              <a:ext uri="{FF2B5EF4-FFF2-40B4-BE49-F238E27FC236}">
                <a16:creationId xmlns:a16="http://schemas.microsoft.com/office/drawing/2014/main" id="{245ACA07-9604-93E1-3BC1-F92ED1E866F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8570" y="18872200"/>
            <a:ext cx="7486650" cy="7480300"/>
          </a:xfrm>
          <a:prstGeom prst="rect">
            <a:avLst/>
          </a:prstGeom>
        </p:spPr>
      </p:pic>
      <p:pic>
        <p:nvPicPr>
          <p:cNvPr id="49" name="תמונה 48">
            <a:extLst>
              <a:ext uri="{FF2B5EF4-FFF2-40B4-BE49-F238E27FC236}">
                <a16:creationId xmlns:a16="http://schemas.microsoft.com/office/drawing/2014/main" id="{36441A9A-34A4-9E4F-2074-1234D012C2E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5628600"/>
            <a:ext cx="7696200" cy="9334500"/>
          </a:xfrm>
          <a:prstGeom prst="rect">
            <a:avLst/>
          </a:prstGeom>
        </p:spPr>
      </p:pic>
      <p:pic>
        <p:nvPicPr>
          <p:cNvPr id="17" name="Architecture uniform text palette">
            <a:extLst>
              <a:ext uri="{FF2B5EF4-FFF2-40B4-BE49-F238E27FC236}">
                <a16:creationId xmlns:a16="http://schemas.microsoft.com/office/drawing/2014/main" id="{56B2F658-42F6-EB38-87A6-14250EEBC3E1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116" y="8645125"/>
            <a:ext cx="8021267" cy="490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4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511</Words>
  <Application>Microsoft Office PowerPoint</Application>
  <DocSecurity>0</DocSecurity>
  <PresentationFormat>מותאם אישית</PresentationFormat>
  <Paragraphs>91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ChatGPT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עדן אליהו</cp:lastModifiedBy>
  <cp:revision>33</cp:revision>
  <dcterms:created xsi:type="dcterms:W3CDTF">2026-05-29T07:57:29Z</dcterms:created>
  <dcterms:modified xsi:type="dcterms:W3CDTF">2026-05-30T14:03:06Z</dcterms:modified>
</cp:coreProperties>
</file>