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50" d="100"/>
          <a:sy n="50" d="100"/>
        </p:scale>
        <p:origin x="2832" y="36"/>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43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36000" y="46618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4000" y="4679000"/>
            <a:ext cx="11376000" cy="3316476"/>
          </a:xfrm>
          <a:prstGeom prst="rect">
            <a:avLst/>
          </a:prstGeom>
          <a:noFill/>
        </p:spPr>
        <p:txBody>
          <a:bodyPr wrap="square" lIns="36000" tIns="36000" rIns="36000" bIns="36000" anchor="t">
            <a:spAutoFit/>
          </a:bodyPr>
          <a:lstStyle/>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Root-zone pH governs nutrient availability, while EC reflects salinity and fertilizer load - both directly affect crop health, growth and yield.</a:t>
            </a:r>
            <a:br>
              <a:rPr lang="en-US" sz="2400" dirty="0"/>
            </a:br>
            <a:r>
              <a:rPr sz="2400" b="1" dirty="0">
                <a:solidFill>
                  <a:srgbClr val="5E6E2E"/>
                </a:solidFill>
                <a:latin typeface="Calibri"/>
              </a:rPr>
              <a:t>▪  </a:t>
            </a:r>
            <a:r>
              <a:rPr lang="en-US" sz="2400" dirty="0">
                <a:solidFill>
                  <a:schemeClr val="tx2">
                    <a:lumMod val="75000"/>
                  </a:schemeClr>
                </a:solidFill>
              </a:rPr>
              <a:t>In soilless greenhouse systems, the root zone has low buffering capacity, so irrigation or fertigation errors can quickly affect plant conditions.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Manual laboratory pH/EC samples are accurate, but sparse, slow and reactive, leaving long blind gaps between measurements.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Continuous probes can provide dense data, but they may drift, require frequent calibration and represent only a single point in the root zone.</a:t>
            </a:r>
            <a:endParaRPr sz="2400" b="0" dirty="0">
              <a:solidFill>
                <a:schemeClr val="tx2">
                  <a:lumMod val="75000"/>
                </a:schemeClr>
              </a:solidFill>
              <a:latin typeface="Calibri"/>
            </a:endParaRPr>
          </a:p>
        </p:txBody>
      </p:sp>
      <p:sp>
        <p:nvSpPr>
          <p:cNvPr id="12" name="Rounded Rectangle 11"/>
          <p:cNvSpPr/>
          <p:nvPr/>
        </p:nvSpPr>
        <p:spPr>
          <a:xfrm>
            <a:off x="648000" y="8278200"/>
            <a:ext cx="11664000" cy="3384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17999" y="85302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74000" y="85210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36000" y="91960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9824" y="9173842"/>
            <a:ext cx="11160000" cy="2873663"/>
          </a:xfrm>
          <a:prstGeom prst="rect">
            <a:avLst/>
          </a:prstGeom>
          <a:noFill/>
        </p:spPr>
        <p:txBody>
          <a:bodyPr wrap="square" lIns="36000" tIns="36000" rIns="36000" bIns="36000" anchor="t">
            <a:spAutoFit/>
          </a:bodyPr>
          <a:lstStyle/>
          <a:p>
            <a:pPr>
              <a:lnSpc>
                <a:spcPct val="106000"/>
              </a:lnSpc>
              <a:spcAft>
                <a:spcPts val="600"/>
              </a:spcAft>
            </a:pP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Build a machine-learning soft sensor that estimates future root-zone pH and EC between sparse manual laboratory samples.</a:t>
            </a:r>
            <a:br>
              <a:rPr lang="en-US" sz="2400" dirty="0">
                <a:solidFill>
                  <a:schemeClr val="tx2">
                    <a:lumMod val="75000"/>
                  </a:schemeClr>
                </a:solidFill>
              </a:rPr>
            </a:b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Predict the change from a known baseline measurement at t₀ to a future target time t₁ using climate, irrigation, fertigation, crop-state and previous pH/EC information.</a:t>
            </a:r>
            <a:endParaRPr lang="he-IL" sz="2400" dirty="0">
              <a:solidFill>
                <a:schemeClr val="tx2">
                  <a:lumMod val="75000"/>
                </a:schemeClr>
              </a:solidFill>
            </a:endParaRPr>
          </a:p>
          <a:p>
            <a:pPr>
              <a:lnSpc>
                <a:spcPct val="106000"/>
              </a:lnSpc>
              <a:spcAft>
                <a:spcPts val="600"/>
              </a:spcAft>
            </a:pPr>
            <a:r>
              <a:rPr lang="he-IL" sz="2400" b="1" dirty="0">
                <a:solidFill>
                  <a:srgbClr val="5E6E2E"/>
                </a:solidFill>
              </a:rPr>
              <a:t>▪</a:t>
            </a:r>
            <a:r>
              <a:rPr lang="en-US" sz="2400" dirty="0">
                <a:solidFill>
                  <a:schemeClr val="tx2">
                    <a:lumMod val="75000"/>
                  </a:schemeClr>
                </a:solidFill>
              </a:rPr>
              <a:t> Provide reliable decision-support values that help growers detect pH or salinity drift earlier and maintain the root zone within an optimal operating range.</a:t>
            </a:r>
            <a:br>
              <a:rPr lang="en-US" sz="2400" dirty="0"/>
            </a:br>
            <a:endParaRPr sz="2400" b="0" dirty="0">
              <a:solidFill>
                <a:srgbClr val="2E3517"/>
              </a:solidFill>
              <a:latin typeface="Calibri"/>
            </a:endParaRP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400" b="1" i="0" dirty="0">
                <a:solidFill>
                  <a:srgbClr val="3D4A1F"/>
                </a:solidFill>
                <a:latin typeface="+mj-lt"/>
              </a:rPr>
              <a:t>20+</a:t>
            </a:r>
            <a:endParaRPr sz="4400" b="1" i="0" dirty="0">
              <a:solidFill>
                <a:srgbClr val="3D4A1F"/>
              </a:solidFill>
              <a:latin typeface="+mj-lt"/>
            </a:endParaRP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280399"/>
            <a:ext cx="11160000" cy="2796719"/>
          </a:xfrm>
          <a:prstGeom prst="rect">
            <a:avLst/>
          </a:prstGeom>
          <a:noFill/>
        </p:spPr>
        <p:txBody>
          <a:bodyPr wrap="square" lIns="36000" tIns="36000" rIns="36000" bIns="36000" anchor="t">
            <a:spAutoFit/>
          </a:bodyPr>
          <a:lstStyle/>
          <a:p>
            <a:pPr>
              <a:lnSpc>
                <a:spcPct val="106000"/>
              </a:lnSpc>
              <a:spcAft>
                <a:spcPts val="400"/>
              </a:spcAft>
            </a:pPr>
            <a:r>
              <a:rPr lang="he-IL" sz="2400" b="1" dirty="0">
                <a:solidFill>
                  <a:srgbClr val="5E6E2E"/>
                </a:solidFill>
              </a:rPr>
              <a:t>▪</a:t>
            </a:r>
            <a:r>
              <a:rPr lang="en-US" sz="2400" dirty="0">
                <a:solidFill>
                  <a:schemeClr val="tx2">
                    <a:lumMod val="75000"/>
                  </a:schemeClr>
                </a:solidFill>
              </a:rPr>
              <a:t> Unified 10-minute master dataset ·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External weather &amp; solar radiation — open-field weather and radiation measurements.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Greenhouse micro-climate — internal air temperature, relative humidity, radiation, ET₀ and soil temperature.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Irrigation &amp; fertigation — water volume, fertilizer, EC, acid dosing and event timing.</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Crop-state features — canopy cover, crop development and time-history variables.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Manual laboratory pH &amp; EC measurements.</a:t>
            </a:r>
            <a:endParaRPr sz="2400" b="0" dirty="0">
              <a:solidFill>
                <a:schemeClr val="tx2">
                  <a:lumMod val="75000"/>
                </a:schemeClr>
              </a:solidFill>
              <a:latin typeface="Calibri"/>
            </a:endParaRP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1307593"/>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Two-stage soft sensor </a:t>
            </a:r>
            <a:r>
              <a:rPr lang="he-IL" sz="2400" b="0" dirty="0">
                <a:solidFill>
                  <a:srgbClr val="2E3517"/>
                </a:solidFill>
                <a:latin typeface="Calibri"/>
              </a:rPr>
              <a:t>-</a:t>
            </a:r>
            <a:r>
              <a:rPr sz="2400" b="0" dirty="0">
                <a:solidFill>
                  <a:srgbClr val="2E3517"/>
                </a:solidFill>
                <a:latin typeface="Calibri"/>
              </a:rPr>
              <a:t> Stage 1 predicts greenhouse micro-climate from external weather; Stage 2 predicts root-zone pH &amp;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Models the t₀→t₁ interval change rather than labelling every timestamp.</a:t>
            </a: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ctr"/>
          <a:lstStyle/>
          <a:p>
            <a:pPr algn="l">
              <a:lnSpc>
                <a:spcPct val="100000"/>
              </a:lnSpc>
              <a:spcBef>
                <a:spcPts val="0"/>
              </a:spcBef>
              <a:spcAft>
                <a:spcPts val="300"/>
              </a:spcAft>
            </a:pPr>
            <a:r>
              <a:rPr sz="3000" b="1" dirty="0">
                <a:solidFill>
                  <a:srgbClr val="5E6E2E"/>
                </a:solidFill>
                <a:latin typeface="Calibri"/>
              </a:rPr>
              <a:t>Gradient Boosting</a:t>
            </a:r>
          </a:p>
          <a:p>
            <a:pPr algn="l">
              <a:lnSpc>
                <a:spcPct val="104000"/>
              </a:lnSpc>
              <a:spcBef>
                <a:spcPts val="0"/>
              </a:spcBef>
              <a:spcAft>
                <a:spcPts val="0"/>
              </a:spcAft>
            </a:pPr>
            <a:r>
              <a:rPr lang="en-US" sz="2400" b="0" dirty="0">
                <a:solidFill>
                  <a:srgbClr val="2E3517"/>
                </a:solidFill>
                <a:latin typeface="Calibri"/>
              </a:rPr>
              <a:t>Performs well on tabular greenhouse data; captures nonlinear interactions between climate, irrigation, fertigation, crop state and previous pH/EC. Suited to the hybrid interpolation / extrapolation task.</a:t>
            </a:r>
          </a:p>
        </p:txBody>
      </p:sp>
      <p:sp>
        <p:nvSpPr>
          <p:cNvPr id="38" name="Rounded Rectangle 37"/>
          <p:cNvSpPr/>
          <p:nvPr/>
        </p:nvSpPr>
        <p:spPr>
          <a:xfrm>
            <a:off x="6588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3000" b="1" dirty="0">
                <a:solidFill>
                  <a:srgbClr val="5E6E2E"/>
                </a:solidFill>
                <a:latin typeface="Calibri"/>
              </a:rPr>
              <a:t>Huber Regressor</a:t>
            </a:r>
          </a:p>
          <a:p>
            <a:pPr algn="l">
              <a:lnSpc>
                <a:spcPct val="104000"/>
              </a:lnSpc>
              <a:spcBef>
                <a:spcPts val="0"/>
              </a:spcBef>
              <a:spcAft>
                <a:spcPts val="0"/>
              </a:spcAft>
            </a:pPr>
            <a:r>
              <a:rPr lang="en-US" sz="2400" b="0" dirty="0">
                <a:solidFill>
                  <a:srgbClr val="2E3517"/>
                </a:solidFill>
                <a:latin typeface="Calibri"/>
              </a:rPr>
              <a:t>Robust to outliers and the sharp changes caused by fertigation, acid injection or salinity shifts. A stable, complementary model that handles noisy and extreme target behavior.</a:t>
            </a:r>
          </a:p>
        </p:txBody>
      </p:sp>
      <p:sp>
        <p:nvSpPr>
          <p:cNvPr id="39" name="Rounded Rectangle 38"/>
          <p:cNvSpPr/>
          <p:nvPr/>
        </p:nvSpPr>
        <p:spPr>
          <a:xfrm>
            <a:off x="12887999" y="11148100"/>
            <a:ext cx="11664000" cy="7848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114001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14000" y="113909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75999" y="120913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12210100"/>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16539" y="13542892"/>
            <a:ext cx="8754968" cy="5338780"/>
          </a:xfrm>
          <a:prstGeom prst="rect">
            <a:avLst/>
          </a:prstGeom>
        </p:spPr>
      </p:pic>
      <p:sp>
        <p:nvSpPr>
          <p:cNvPr id="50" name="Rounded Rectangle 49"/>
          <p:cNvSpPr/>
          <p:nvPr/>
        </p:nvSpPr>
        <p:spPr>
          <a:xfrm>
            <a:off x="12887999" y="19223999"/>
            <a:ext cx="11664000" cy="81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57999" y="1947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14000" y="19466849"/>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a:t>
            </a:r>
          </a:p>
        </p:txBody>
      </p:sp>
      <p:sp>
        <p:nvSpPr>
          <p:cNvPr id="53" name="Rectangle 52"/>
          <p:cNvSpPr/>
          <p:nvPr/>
        </p:nvSpPr>
        <p:spPr>
          <a:xfrm>
            <a:off x="13175999" y="20167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0.33</a:t>
            </a:r>
          </a:p>
          <a:p>
            <a:pPr algn="ctr">
              <a:lnSpc>
                <a:spcPct val="95000"/>
              </a:lnSpc>
              <a:spcBef>
                <a:spcPts val="100"/>
              </a:spcBef>
              <a:spcAft>
                <a:spcPts val="0"/>
              </a:spcAft>
            </a:pPr>
            <a:r>
              <a:rPr sz="1700" b="1" i="0" dirty="0">
                <a:solidFill>
                  <a:srgbClr val="2E3517"/>
                </a:solidFill>
                <a:latin typeface="Calibri"/>
              </a:rPr>
              <a:t>pH MAE</a:t>
            </a:r>
          </a:p>
        </p:txBody>
      </p:sp>
      <p:sp>
        <p:nvSpPr>
          <p:cNvPr id="55" name="Rounded Rectangle 54"/>
          <p:cNvSpPr/>
          <p:nvPr/>
        </p:nvSpPr>
        <p:spPr>
          <a:xfrm>
            <a:off x="16938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0.93</a:t>
            </a:r>
          </a:p>
          <a:p>
            <a:pPr algn="ctr">
              <a:lnSpc>
                <a:spcPct val="95000"/>
              </a:lnSpc>
              <a:spcBef>
                <a:spcPts val="100"/>
              </a:spcBef>
              <a:spcAft>
                <a:spcPts val="0"/>
              </a:spcAft>
            </a:pPr>
            <a:r>
              <a:rPr sz="1700" b="1" i="0" dirty="0">
                <a:solidFill>
                  <a:srgbClr val="2E3517"/>
                </a:solidFill>
                <a:latin typeface="Calibri"/>
              </a:rPr>
              <a:t>pH R²</a:t>
            </a:r>
          </a:p>
        </p:txBody>
      </p:sp>
      <p:sp>
        <p:nvSpPr>
          <p:cNvPr id="56" name="Rounded Rectangle 55"/>
          <p:cNvSpPr/>
          <p:nvPr/>
        </p:nvSpPr>
        <p:spPr>
          <a:xfrm>
            <a:off x="20682000" y="20268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+62%</a:t>
            </a:r>
          </a:p>
          <a:p>
            <a:pPr algn="ctr">
              <a:lnSpc>
                <a:spcPct val="95000"/>
              </a:lnSpc>
              <a:spcBef>
                <a:spcPts val="100"/>
              </a:spcBef>
              <a:spcAft>
                <a:spcPts val="0"/>
              </a:spcAft>
            </a:pPr>
            <a:r>
              <a:rPr sz="1700" b="1" i="0" dirty="0">
                <a:solidFill>
                  <a:srgbClr val="2E3517"/>
                </a:solidFill>
                <a:latin typeface="Calibri"/>
              </a:rPr>
              <a:t>pH MAE gain</a:t>
            </a:r>
          </a:p>
        </p:txBody>
      </p:sp>
      <p:sp>
        <p:nvSpPr>
          <p:cNvPr id="57" name="Rounded Rectangle 56"/>
          <p:cNvSpPr/>
          <p:nvPr/>
        </p:nvSpPr>
        <p:spPr>
          <a:xfrm>
            <a:off x="13194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0.127</a:t>
            </a:r>
          </a:p>
          <a:p>
            <a:pPr algn="ctr">
              <a:lnSpc>
                <a:spcPct val="95000"/>
              </a:lnSpc>
              <a:spcBef>
                <a:spcPts val="100"/>
              </a:spcBef>
              <a:spcAft>
                <a:spcPts val="0"/>
              </a:spcAft>
            </a:pPr>
            <a:r>
              <a:rPr sz="1700" b="1" i="0" dirty="0">
                <a:solidFill>
                  <a:srgbClr val="2E3517"/>
                </a:solidFill>
                <a:latin typeface="Calibri"/>
              </a:rPr>
              <a:t>EC MAE</a:t>
            </a:r>
          </a:p>
        </p:txBody>
      </p:sp>
      <p:sp>
        <p:nvSpPr>
          <p:cNvPr id="58" name="Rounded Rectangle 57"/>
          <p:cNvSpPr/>
          <p:nvPr/>
        </p:nvSpPr>
        <p:spPr>
          <a:xfrm>
            <a:off x="16938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0.98</a:t>
            </a:r>
          </a:p>
          <a:p>
            <a:pPr algn="ctr">
              <a:lnSpc>
                <a:spcPct val="95000"/>
              </a:lnSpc>
              <a:spcBef>
                <a:spcPts val="100"/>
              </a:spcBef>
              <a:spcAft>
                <a:spcPts val="0"/>
              </a:spcAft>
            </a:pPr>
            <a:r>
              <a:rPr sz="1700" b="1" i="0" dirty="0">
                <a:solidFill>
                  <a:srgbClr val="2E3517"/>
                </a:solidFill>
                <a:latin typeface="Calibri"/>
              </a:rPr>
              <a:t>EC R²</a:t>
            </a:r>
          </a:p>
        </p:txBody>
      </p:sp>
      <p:sp>
        <p:nvSpPr>
          <p:cNvPr id="59" name="Rounded Rectangle 58"/>
          <p:cNvSpPr/>
          <p:nvPr/>
        </p:nvSpPr>
        <p:spPr>
          <a:xfrm>
            <a:off x="20682000" y="21096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+35%</a:t>
            </a:r>
          </a:p>
          <a:p>
            <a:pPr algn="ctr">
              <a:lnSpc>
                <a:spcPct val="95000"/>
              </a:lnSpc>
              <a:spcBef>
                <a:spcPts val="100"/>
              </a:spcBef>
              <a:spcAft>
                <a:spcPts val="0"/>
              </a:spcAft>
            </a:pPr>
            <a:r>
              <a:rPr sz="1700" b="1" i="0" dirty="0">
                <a:solidFill>
                  <a:srgbClr val="2E3517"/>
                </a:solidFill>
                <a:latin typeface="Calibri"/>
              </a:rPr>
              <a:t>EC MAE gain</a:t>
            </a:r>
          </a:p>
        </p:txBody>
      </p:sp>
      <p:pic>
        <p:nvPicPr>
          <p:cNvPr id="60" name="Picture 59" descr="parity_ph.png"/>
          <p:cNvPicPr>
            <a:picLocks noChangeAspect="1"/>
          </p:cNvPicPr>
          <p:nvPr/>
        </p:nvPicPr>
        <p:blipFill>
          <a:blip r:embed="rId3"/>
          <a:stretch>
            <a:fillRect/>
          </a:stretch>
        </p:blipFill>
        <p:spPr>
          <a:xfrm>
            <a:off x="13157999" y="21960000"/>
            <a:ext cx="5472000" cy="5130000"/>
          </a:xfrm>
          <a:prstGeom prst="rect">
            <a:avLst/>
          </a:prstGeom>
        </p:spPr>
      </p:pic>
      <p:pic>
        <p:nvPicPr>
          <p:cNvPr id="61" name="Picture 60" descr="parity_ec.png"/>
          <p:cNvPicPr>
            <a:picLocks noChangeAspect="1"/>
          </p:cNvPicPr>
          <p:nvPr/>
        </p:nvPicPr>
        <p:blipFill>
          <a:blip r:embed="rId4"/>
          <a:stretch>
            <a:fillRect/>
          </a:stretch>
        </p:blipFill>
        <p:spPr>
          <a:xfrm>
            <a:off x="18810000" y="21960000"/>
            <a:ext cx="5472000" cy="5130000"/>
          </a:xfrm>
          <a:prstGeom prst="rect">
            <a:avLst/>
          </a:prstGeom>
        </p:spPr>
      </p:pic>
      <p:sp>
        <p:nvSpPr>
          <p:cNvPr id="62" name="Rounded Rectangle 61"/>
          <p:cNvSpPr/>
          <p:nvPr/>
        </p:nvSpPr>
        <p:spPr>
          <a:xfrm>
            <a:off x="12887999" y="27539999"/>
            <a:ext cx="11664000" cy="34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Acts as a soft sensor, estimating root-zone pH &amp; EC between sparse manual lab samples.</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The hybrid two-stage approach improves accuracy over the last-measurement baseline (+62% pH, +35%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Designed for decision support </a:t>
            </a:r>
            <a:r>
              <a:rPr lang="he-IL" sz="2400" b="0" dirty="0">
                <a:solidFill>
                  <a:srgbClr val="2E3517"/>
                </a:solidFill>
                <a:latin typeface="Calibri"/>
              </a:rPr>
              <a:t>-</a:t>
            </a:r>
            <a:r>
              <a:rPr sz="2400" b="0" dirty="0">
                <a:solidFill>
                  <a:srgbClr val="2E3517"/>
                </a:solidFill>
                <a:latin typeface="Calibri"/>
              </a:rPr>
              <a:t> guiding irrigation &amp; fertigation </a:t>
            </a:r>
            <a:r>
              <a:rPr lang="he-IL" sz="2400" b="0" dirty="0">
                <a:solidFill>
                  <a:srgbClr val="2E3517"/>
                </a:solidFill>
                <a:latin typeface="Calibri"/>
              </a:rPr>
              <a:t>-</a:t>
            </a:r>
            <a:r>
              <a:rPr sz="2400" b="0" dirty="0">
                <a:solidFill>
                  <a:srgbClr val="2E3517"/>
                </a:solidFill>
                <a:latin typeface="Calibri"/>
              </a:rPr>
              <a:t> not autonomous control.</a:t>
            </a:r>
          </a:p>
        </p:txBody>
      </p:sp>
      <p:sp>
        <p:nvSpPr>
          <p:cNvPr id="67" name="Rounded Rectangle 66"/>
          <p:cNvSpPr/>
          <p:nvPr/>
        </p:nvSpPr>
        <p:spPr>
          <a:xfrm>
            <a:off x="12887999" y="31175999"/>
            <a:ext cx="11664000" cy="396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13157999" y="31427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10</a:t>
            </a:r>
          </a:p>
        </p:txBody>
      </p:sp>
      <p:sp>
        <p:nvSpPr>
          <p:cNvPr id="69" name="TextBox 68"/>
          <p:cNvSpPr txBox="1"/>
          <p:nvPr/>
        </p:nvSpPr>
        <p:spPr>
          <a:xfrm>
            <a:off x="13914000" y="31418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Challenges &amp; Limitations</a:t>
            </a:r>
          </a:p>
        </p:txBody>
      </p:sp>
      <p:sp>
        <p:nvSpPr>
          <p:cNvPr id="70" name="Rectangle 69"/>
          <p:cNvSpPr/>
          <p:nvPr/>
        </p:nvSpPr>
        <p:spPr>
          <a:xfrm>
            <a:off x="13175999" y="32119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94000" y="32237999"/>
            <a:ext cx="11286000" cy="2597561"/>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Only 109 manual pH/EC labels against 16,682 dense sensor records.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No continuous ground-truth pH/EC between lab samples.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Irregular sampling intervals complicate interval modelling.</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Higher uncertainty in rare or extreme fertigation / salinity cases.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Limited generalization </a:t>
            </a:r>
            <a:r>
              <a:rPr lang="he-IL" sz="2400" b="0" dirty="0">
                <a:solidFill>
                  <a:srgbClr val="2E3517"/>
                </a:solidFill>
                <a:latin typeface="Calibri"/>
              </a:rPr>
              <a:t>-</a:t>
            </a:r>
            <a:r>
              <a:rPr sz="2400" b="0" dirty="0">
                <a:solidFill>
                  <a:srgbClr val="2E3517"/>
                </a:solidFill>
                <a:latin typeface="Calibri"/>
              </a:rPr>
              <a:t> data from a single season and one crop.</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More seasons, crops &amp; greenhouse conditions needed for stronger validation.</a:t>
            </a:r>
          </a:p>
        </p:txBody>
      </p:sp>
      <p:pic>
        <p:nvPicPr>
          <p:cNvPr id="72" name="Picture 71" descr="download-Photoroom.png"/>
          <p:cNvPicPr>
            <a:picLocks noChangeAspect="1"/>
          </p:cNvPicPr>
          <p:nvPr/>
        </p:nvPicPr>
        <p:blipFill>
          <a:blip r:embed="rId5"/>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7"/>
          <a:stretch>
            <a:fillRect/>
          </a:stretch>
        </p:blipFill>
        <p:spPr>
          <a:xfrm>
            <a:off x="2034942" y="29208601"/>
            <a:ext cx="7740000" cy="5663358"/>
          </a:xfrm>
          <a:prstGeom prst="rect">
            <a:avLst/>
          </a:prstGeom>
        </p:spPr>
      </p:pic>
      <p:pic>
        <p:nvPicPr>
          <p:cNvPr id="36" name="תמונה 35">
            <a:extLst>
              <a:ext uri="{FF2B5EF4-FFF2-40B4-BE49-F238E27FC236}">
                <a16:creationId xmlns:a16="http://schemas.microsoft.com/office/drawing/2014/main" id="{18970B83-5CF0-EC42-97E5-46849577E6BE}"/>
              </a:ext>
            </a:extLst>
          </p:cNvPr>
          <p:cNvPicPr>
            <a:picLocks noChangeAspect="1"/>
          </p:cNvPicPr>
          <p:nvPr/>
        </p:nvPicPr>
        <p:blipFill>
          <a:blip r:embed="rId8"/>
          <a:stretch>
            <a:fillRect/>
          </a:stretch>
        </p:blipFill>
        <p:spPr>
          <a:xfrm>
            <a:off x="710412" y="19985846"/>
            <a:ext cx="11539173" cy="4461813"/>
          </a:xfrm>
          <a:prstGeom prst="rect">
            <a:avLst/>
          </a:prstGeom>
        </p:spPr>
      </p:pic>
      <p:sp>
        <p:nvSpPr>
          <p:cNvPr id="30" name="Rounded Rectangle 44"/>
          <p:cNvSpPr/>
          <p:nvPr/>
        </p:nvSpPr>
        <p:spPr>
          <a:xfrm>
            <a:off x="12892649" y="3740325"/>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62649" y="399232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18650" y="398317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80649" y="468352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198650" y="4802325"/>
            <a:ext cx="11052000" cy="1318044"/>
          </a:xfrm>
          <a:prstGeom prst="rect">
            <a:avLst/>
          </a:prstGeom>
          <a:noFill/>
        </p:spPr>
        <p:txBody>
          <a:bodyPr wrap="square" lIns="36000" tIns="36000" rIns="36000" bIns="36000" anchor="t">
            <a:spAutoFit/>
          </a:bodyPr>
          <a:lstStyle/>
          <a:p>
            <a:pPr algn="l">
              <a:lnSpc>
                <a:spcPct val="106000"/>
              </a:lnSpc>
              <a:spcBef>
                <a:spcPts val="0"/>
              </a:spcBef>
              <a:spcAft>
                <a:spcPts val="700"/>
              </a:spcAft>
            </a:pPr>
            <a:r>
              <a:rPr sz="2400" b="1" i="0" dirty="0">
                <a:solidFill>
                  <a:srgbClr val="5E6E2E"/>
                </a:solidFill>
              </a:rPr>
              <a:t>▪  </a:t>
            </a:r>
            <a:r>
              <a:rPr sz="2400" b="0" i="0" dirty="0">
                <a:solidFill>
                  <a:srgbClr val="2E3517"/>
                </a:solidFill>
              </a:rPr>
              <a:t>Walk-forward validation: train only on past observations, predict future samples.</a:t>
            </a:r>
          </a:p>
          <a:p>
            <a:pPr>
              <a:lnSpc>
                <a:spcPct val="106000"/>
              </a:lnSpc>
              <a:spcAft>
                <a:spcPts val="700"/>
              </a:spcAft>
            </a:pPr>
            <a:r>
              <a:rPr lang="he-IL" sz="2400" b="1" dirty="0">
                <a:solidFill>
                  <a:srgbClr val="5E6E2E"/>
                </a:solidFill>
              </a:rPr>
              <a:t>▪</a:t>
            </a:r>
            <a:r>
              <a:rPr sz="2400" b="1" i="0" dirty="0">
                <a:solidFill>
                  <a:schemeClr val="tx2">
                    <a:lumMod val="75000"/>
                  </a:schemeClr>
                </a:solidFill>
              </a:rPr>
              <a:t> </a:t>
            </a:r>
            <a:r>
              <a:rPr lang="en-US" sz="2400" b="1" i="0" dirty="0">
                <a:solidFill>
                  <a:schemeClr val="tx2">
                    <a:lumMod val="75000"/>
                  </a:schemeClr>
                </a:solidFill>
              </a:rPr>
              <a:t> </a:t>
            </a:r>
            <a:r>
              <a:rPr lang="en-US" sz="2400" dirty="0">
                <a:solidFill>
                  <a:schemeClr val="tx2">
                    <a:lumMod val="75000"/>
                  </a:schemeClr>
                </a:solidFill>
              </a:rPr>
              <a:t>At each step, the next test interval becomes part of the following training period.</a:t>
            </a:r>
            <a:br>
              <a:rPr lang="en-US" sz="2400" dirty="0">
                <a:solidFill>
                  <a:schemeClr val="tx2">
                    <a:lumMod val="75000"/>
                  </a:schemeClr>
                </a:solidFill>
              </a:rPr>
            </a:br>
            <a:r>
              <a:rPr lang="he-IL" sz="2400" b="1" dirty="0">
                <a:solidFill>
                  <a:srgbClr val="5E6E2E"/>
                </a:solidFill>
              </a:rPr>
              <a:t>▪</a:t>
            </a:r>
            <a:r>
              <a:rPr sz="2400" b="1" i="0" dirty="0">
                <a:solidFill>
                  <a:schemeClr val="tx2">
                    <a:lumMod val="75000"/>
                  </a:schemeClr>
                </a:solidFill>
              </a:rPr>
              <a:t>  </a:t>
            </a:r>
            <a:r>
              <a:rPr sz="2400" b="0" i="0" dirty="0">
                <a:solidFill>
                  <a:schemeClr val="tx2">
                    <a:lumMod val="75000"/>
                  </a:schemeClr>
                </a:solidFill>
              </a:rPr>
              <a:t>Metrics interpreted per target </a:t>
            </a:r>
            <a:r>
              <a:rPr lang="he-IL" sz="2400" b="0" i="0" dirty="0">
                <a:solidFill>
                  <a:schemeClr val="tx2">
                    <a:lumMod val="75000"/>
                  </a:schemeClr>
                </a:solidFill>
              </a:rPr>
              <a:t>-</a:t>
            </a:r>
            <a:r>
              <a:rPr sz="2400" b="0" i="0" dirty="0">
                <a:solidFill>
                  <a:schemeClr val="tx2">
                    <a:lumMod val="75000"/>
                  </a:schemeClr>
                </a:solidFill>
              </a:rPr>
              <a:t> pH (units) and EC (mS/cm).</a:t>
            </a:r>
          </a:p>
        </p:txBody>
      </p:sp>
      <p:pic>
        <p:nvPicPr>
          <p:cNvPr id="79" name="Picture 75" descr="walkforward.png"/>
          <p:cNvPicPr>
            <a:picLocks noChangeAspect="1"/>
          </p:cNvPicPr>
          <p:nvPr/>
        </p:nvPicPr>
        <p:blipFill>
          <a:blip r:embed="rId9"/>
          <a:stretch>
            <a:fillRect/>
          </a:stretch>
        </p:blipFill>
        <p:spPr>
          <a:xfrm>
            <a:off x="14948999" y="6139419"/>
            <a:ext cx="7757797" cy="4730704"/>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133</TotalTime>
  <Words>692</Words>
  <Application>Microsoft Office PowerPoint</Application>
  <PresentationFormat>מותאם אישית</PresentationFormat>
  <Paragraphs>67</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50</cp:revision>
  <dcterms:created xsi:type="dcterms:W3CDTF">2012-02-10T00:10:15Z</dcterms:created>
  <dcterms:modified xsi:type="dcterms:W3CDTF">2026-05-31T10:49:37Z</dcterms:modified>
</cp:coreProperties>
</file>