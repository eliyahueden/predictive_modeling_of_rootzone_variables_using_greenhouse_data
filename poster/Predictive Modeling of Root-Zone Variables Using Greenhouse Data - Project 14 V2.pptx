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0" r:id="rId2"/>
    <p:sldMasterId id="2147483653" r:id="rId3"/>
  </p:sldMasterIdLst>
  <p:notesMasterIdLst>
    <p:notesMasterId r:id="rId5"/>
  </p:notesMasterIdLst>
  <p:handoutMasterIdLst>
    <p:handoutMasterId r:id="rId6"/>
  </p:handoutMasterIdLst>
  <p:sldIdLst>
    <p:sldId id="257" r:id="rId4"/>
  </p:sldIdLst>
  <p:sldSz cx="25192038" cy="35999738"/>
  <p:notesSz cx="6858000" cy="9144000"/>
  <p:defaultText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29">
          <p15:clr>
            <a:srgbClr val="A4A3A4"/>
          </p15:clr>
        </p15:guide>
        <p15:guide id="2" orient="horz" pos="315">
          <p15:clr>
            <a:srgbClr val="A4A3A4"/>
          </p15:clr>
        </p15:guide>
        <p15:guide id="3" orient="horz" pos="22047">
          <p15:clr>
            <a:srgbClr val="A4A3A4"/>
          </p15:clr>
        </p15:guide>
        <p15:guide id="4" orient="horz">
          <p15:clr>
            <a:srgbClr val="A4A3A4"/>
          </p15:clr>
        </p15:guide>
        <p15:guide id="5" pos="334">
          <p15:clr>
            <a:srgbClr val="A4A3A4"/>
          </p15:clr>
        </p15:guide>
        <p15:guide id="6" pos="1553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58" autoAdjust="0"/>
    <p:restoredTop sz="94694" autoAdjust="0"/>
  </p:normalViewPr>
  <p:slideViewPr>
    <p:cSldViewPr snapToGrid="0" snapToObjects="1" showGuides="1">
      <p:cViewPr>
        <p:scale>
          <a:sx n="100" d="100"/>
          <a:sy n="100" d="100"/>
        </p:scale>
        <p:origin x="1362" y="-11688"/>
      </p:cViewPr>
      <p:guideLst>
        <p:guide orient="horz" pos="3629"/>
        <p:guide orient="horz" pos="315"/>
        <p:guide orient="horz" pos="22047"/>
        <p:guide orient="horz"/>
        <p:guide pos="334"/>
        <p:guide pos="1553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5/31/2026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5/31/2026</a:t>
            </a:fld>
            <a:endParaRPr lang="en-US" dirty="0"/>
          </a:p>
        </p:txBody>
      </p:sp>
      <p:sp>
        <p:nvSpPr>
          <p:cNvPr id="4" name="Slide Image Placeholder 3"/>
          <p:cNvSpPr>
            <a:spLocks noGrp="1" noRot="1" noChangeAspect="1"/>
          </p:cNvSpPr>
          <p:nvPr>
            <p:ph type="sldImg" idx="2"/>
          </p:nvPr>
        </p:nvSpPr>
        <p:spPr>
          <a:xfrm>
            <a:off x="2228850" y="685800"/>
            <a:ext cx="24003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599776" rtl="0" eaLnBrk="1" latinLnBrk="0" hangingPunct="1">
      <a:defRPr sz="4800" kern="1200">
        <a:solidFill>
          <a:schemeClr val="tx1"/>
        </a:solidFill>
        <a:latin typeface="+mn-lt"/>
        <a:ea typeface="+mn-ea"/>
        <a:cs typeface="+mn-cs"/>
      </a:defRPr>
    </a:lvl1pPr>
    <a:lvl2pPr marL="1799889" algn="l" defTabSz="3599776" rtl="0" eaLnBrk="1" latinLnBrk="0" hangingPunct="1">
      <a:defRPr sz="4800" kern="1200">
        <a:solidFill>
          <a:schemeClr val="tx1"/>
        </a:solidFill>
        <a:latin typeface="+mn-lt"/>
        <a:ea typeface="+mn-ea"/>
        <a:cs typeface="+mn-cs"/>
      </a:defRPr>
    </a:lvl2pPr>
    <a:lvl3pPr marL="3599776" algn="l" defTabSz="3599776" rtl="0" eaLnBrk="1" latinLnBrk="0" hangingPunct="1">
      <a:defRPr sz="4800" kern="1200">
        <a:solidFill>
          <a:schemeClr val="tx1"/>
        </a:solidFill>
        <a:latin typeface="+mn-lt"/>
        <a:ea typeface="+mn-ea"/>
        <a:cs typeface="+mn-cs"/>
      </a:defRPr>
    </a:lvl3pPr>
    <a:lvl4pPr marL="5399664" algn="l" defTabSz="3599776" rtl="0" eaLnBrk="1" latinLnBrk="0" hangingPunct="1">
      <a:defRPr sz="4800" kern="1200">
        <a:solidFill>
          <a:schemeClr val="tx1"/>
        </a:solidFill>
        <a:latin typeface="+mn-lt"/>
        <a:ea typeface="+mn-ea"/>
        <a:cs typeface="+mn-cs"/>
      </a:defRPr>
    </a:lvl4pPr>
    <a:lvl5pPr marL="7199552" algn="l" defTabSz="3599776" rtl="0" eaLnBrk="1" latinLnBrk="0" hangingPunct="1">
      <a:defRPr sz="4800" kern="1200">
        <a:solidFill>
          <a:schemeClr val="tx1"/>
        </a:solidFill>
        <a:latin typeface="+mn-lt"/>
        <a:ea typeface="+mn-ea"/>
        <a:cs typeface="+mn-cs"/>
      </a:defRPr>
    </a:lvl5pPr>
    <a:lvl6pPr marL="8999441" algn="l" defTabSz="3599776" rtl="0" eaLnBrk="1" latinLnBrk="0" hangingPunct="1">
      <a:defRPr sz="4800" kern="1200">
        <a:solidFill>
          <a:schemeClr val="tx1"/>
        </a:solidFill>
        <a:latin typeface="+mn-lt"/>
        <a:ea typeface="+mn-ea"/>
        <a:cs typeface="+mn-cs"/>
      </a:defRPr>
    </a:lvl6pPr>
    <a:lvl7pPr marL="10799330" algn="l" defTabSz="3599776" rtl="0" eaLnBrk="1" latinLnBrk="0" hangingPunct="1">
      <a:defRPr sz="4800" kern="1200">
        <a:solidFill>
          <a:schemeClr val="tx1"/>
        </a:solidFill>
        <a:latin typeface="+mn-lt"/>
        <a:ea typeface="+mn-ea"/>
        <a:cs typeface="+mn-cs"/>
      </a:defRPr>
    </a:lvl7pPr>
    <a:lvl8pPr marL="12599217" algn="l" defTabSz="3599776" rtl="0" eaLnBrk="1" latinLnBrk="0" hangingPunct="1">
      <a:defRPr sz="4800" kern="1200">
        <a:solidFill>
          <a:schemeClr val="tx1"/>
        </a:solidFill>
        <a:latin typeface="+mn-lt"/>
        <a:ea typeface="+mn-ea"/>
        <a:cs typeface="+mn-cs"/>
      </a:defRPr>
    </a:lvl8pPr>
    <a:lvl9pPr marL="14399106" algn="l" defTabSz="3599776" rtl="0" eaLnBrk="1" latinLnBrk="0" hangingPunct="1">
      <a:defRPr sz="4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thout Quick Guide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12706269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508586"/>
            <a:ext cx="577226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529393" y="5758641"/>
            <a:ext cx="5767709" cy="659288"/>
          </a:xfrm>
          <a:prstGeom prst="rect">
            <a:avLst/>
          </a:prstGeom>
          <a:noFill/>
        </p:spPr>
        <p:txBody>
          <a:bodyPr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INTRODUCTION</a:t>
            </a:r>
          </a:p>
        </p:txBody>
      </p:sp>
      <p:sp>
        <p:nvSpPr>
          <p:cNvPr id="19" name="Text Placeholder 3"/>
          <p:cNvSpPr>
            <a:spLocks noGrp="1"/>
          </p:cNvSpPr>
          <p:nvPr>
            <p:ph type="body" sz="quarter" idx="19" hasCustomPrompt="1"/>
          </p:nvPr>
        </p:nvSpPr>
        <p:spPr>
          <a:xfrm>
            <a:off x="518060" y="16174952"/>
            <a:ext cx="577317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529391" y="15542881"/>
            <a:ext cx="576861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6650633" y="6508586"/>
            <a:ext cx="1189259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6650633" y="5758641"/>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6650633" y="23714639"/>
            <a:ext cx="118925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6650633" y="23047456"/>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18892159" y="5758641"/>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18892159" y="6508586"/>
            <a:ext cx="5766642"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18892159" y="15608744"/>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18913086" y="16275927"/>
            <a:ext cx="572478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18892159" y="28580547"/>
            <a:ext cx="5766642" cy="659288"/>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CONTACT</a:t>
            </a:r>
          </a:p>
        </p:txBody>
      </p:sp>
      <p:sp>
        <p:nvSpPr>
          <p:cNvPr id="30" name="Text Placeholder 3"/>
          <p:cNvSpPr>
            <a:spLocks noGrp="1"/>
          </p:cNvSpPr>
          <p:nvPr>
            <p:ph type="body" sz="quarter" idx="30" hasCustomPrompt="1"/>
          </p:nvPr>
        </p:nvSpPr>
        <p:spPr>
          <a:xfrm>
            <a:off x="18890715" y="29330961"/>
            <a:ext cx="576953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84"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85"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6" name="Text Placeholder 76"/>
          <p:cNvSpPr>
            <a:spLocks noGrp="1"/>
          </p:cNvSpPr>
          <p:nvPr>
            <p:ph type="body" sz="quarter" idx="178"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
        <p:nvSpPr>
          <p:cNvPr id="31" name="TextBox 30"/>
          <p:cNvSpPr txBox="1"/>
          <p:nvPr userDrawn="1"/>
        </p:nvSpPr>
        <p:spPr>
          <a:xfrm>
            <a:off x="8186057" y="10798629"/>
            <a:ext cx="6357257" cy="461665"/>
          </a:xfrm>
          <a:prstGeom prst="rect">
            <a:avLst/>
          </a:prstGeom>
          <a:noFill/>
        </p:spPr>
        <p:txBody>
          <a:bodyPr wrap="square" rtlCol="0" anchor="t" anchorCtr="0">
            <a:spAutoFit/>
          </a:bodyPr>
          <a:lstStyle/>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3.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6CA1A99B-ADFE-0946-BD42-BD5A646350D9}"/>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08DEEC71-333C-EB4F-94EA-63CA80BD11A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DACE849D-9518-E947-B822-CB297FE580F1}"/>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CFDD4-76B9-7B48-B709-EADB21739772}"/>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DFE4A334-6B3E-114C-A46F-86084BCD00CB}"/>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1505E797-B9BB-BF41-8A6D-FBBD7110479D}"/>
              </a:ext>
            </a:extLst>
          </p:cNvPr>
          <p:cNvGraphicFramePr>
            <a:graphicFrameLocks noGrp="1"/>
          </p:cNvGraphicFramePr>
          <p:nvPr userDrawn="1">
            <p:extLst>
              <p:ext uri="{D42A27DB-BD31-4B8C-83A1-F6EECF244321}">
                <p14:modId xmlns:p14="http://schemas.microsoft.com/office/powerpoint/2010/main" val="1760322990"/>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9"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F5351D2-4B9C-6B4B-AC02-8BA80ECA0317}"/>
              </a:ext>
            </a:extLst>
          </p:cNvPr>
          <p:cNvGrpSpPr/>
          <p:nvPr userDrawn="1"/>
        </p:nvGrpSpPr>
        <p:grpSpPr>
          <a:xfrm>
            <a:off x="-282256" y="-251209"/>
            <a:ext cx="25648282" cy="36391624"/>
            <a:chOff x="-282256" y="-251209"/>
            <a:chExt cx="25648282" cy="36391624"/>
          </a:xfrm>
        </p:grpSpPr>
        <p:sp>
          <p:nvSpPr>
            <p:cNvPr id="40" name="Freeform 39"/>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41"/>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7783235"/>
      </p:ext>
    </p:extLst>
  </p:cSld>
  <p:clrMap bg1="lt1" tx1="dk1" bg2="lt2" tx2="dk2" accent1="accent1" accent2="accent2" accent3="accent3" accent4="accent4" accent5="accent5" accent6="accent6" hlink="hlink" folHlink="folHlink"/>
  <p:sldLayoutIdLst>
    <p:sldLayoutId id="2147483661"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BE4C25E8-A394-434E-8360-04CD8A1473B8}"/>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EF4C1283-BAAA-6D41-8C60-C18DCEE718C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5A8CCE7E-6AD5-334C-B9DB-A6AFE8966A68}"/>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0E442-DFA0-7C45-A18E-391E6A121090}"/>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372B1B3A-5764-1141-AD33-81F113CC7BE4}"/>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AA930D81-2FAB-CD4D-AF1B-62386968629E}"/>
              </a:ext>
            </a:extLst>
          </p:cNvPr>
          <p:cNvGraphicFramePr>
            <a:graphicFrameLocks noGrp="1"/>
          </p:cNvGraphicFramePr>
          <p:nvPr userDrawn="1">
            <p:extLst>
              <p:ext uri="{D42A27DB-BD31-4B8C-83A1-F6EECF244321}">
                <p14:modId xmlns:p14="http://schemas.microsoft.com/office/powerpoint/2010/main" val="2042975874"/>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20000" y="404682"/>
            <a:ext cx="23760000" cy="468000"/>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200" b="1" i="0" dirty="0">
                <a:solidFill>
                  <a:srgbClr val="5E6E2E"/>
                </a:solidFill>
                <a:latin typeface="Calibri"/>
              </a:rPr>
              <a:t>RUPPIN ACADEMIC CENTER    ·    DEPARTMENT OF COMPUTER SCIENCE    ·    AI &amp; DATA SCIENCE SPECIALIZATION</a:t>
            </a:r>
          </a:p>
        </p:txBody>
      </p:sp>
      <p:sp>
        <p:nvSpPr>
          <p:cNvPr id="3" name="TextBox 2"/>
          <p:cNvSpPr txBox="1"/>
          <p:nvPr/>
        </p:nvSpPr>
        <p:spPr>
          <a:xfrm>
            <a:off x="3240000" y="1007501"/>
            <a:ext cx="18720000" cy="1734697"/>
          </a:xfrm>
          <a:prstGeom prst="rect">
            <a:avLst/>
          </a:prstGeom>
          <a:noFill/>
        </p:spPr>
        <p:txBody>
          <a:bodyPr wrap="square" lIns="36000" tIns="36000" rIns="36000" bIns="36000" anchor="ctr">
            <a:spAutoFit/>
          </a:bodyPr>
          <a:lstStyle/>
          <a:p>
            <a:pPr algn="ctr">
              <a:lnSpc>
                <a:spcPct val="100000"/>
              </a:lnSpc>
              <a:spcBef>
                <a:spcPts val="0"/>
              </a:spcBef>
              <a:spcAft>
                <a:spcPts val="0"/>
              </a:spcAft>
            </a:pPr>
            <a:r>
              <a:rPr sz="5400" b="1" i="0" dirty="0">
                <a:solidFill>
                  <a:srgbClr val="3D4A1F"/>
                </a:solidFill>
                <a:latin typeface="Cambria"/>
              </a:rPr>
              <a:t>Predictive Modeling of Root-Zone Variables
Using Greenhouse Data</a:t>
            </a:r>
          </a:p>
        </p:txBody>
      </p:sp>
      <p:sp>
        <p:nvSpPr>
          <p:cNvPr id="4" name="TextBox 3"/>
          <p:cNvSpPr txBox="1"/>
          <p:nvPr/>
        </p:nvSpPr>
        <p:spPr>
          <a:xfrm>
            <a:off x="3240000" y="2860041"/>
            <a:ext cx="8284343"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lang="en-US" sz="3600" b="1" i="0" dirty="0">
                <a:solidFill>
                  <a:srgbClr val="3D4A1F"/>
                </a:solidFill>
                <a:latin typeface="Calibri"/>
              </a:rPr>
              <a:t>Students: </a:t>
            </a:r>
            <a:r>
              <a:rPr sz="3600" b="1" i="0" dirty="0">
                <a:solidFill>
                  <a:srgbClr val="3D4A1F"/>
                </a:solidFill>
                <a:latin typeface="Calibri"/>
              </a:rPr>
              <a:t>Eden Eliyahu</a:t>
            </a:r>
            <a:r>
              <a:rPr lang="en-US" sz="3600" b="1" dirty="0">
                <a:solidFill>
                  <a:srgbClr val="3D4A1F"/>
                </a:solidFill>
                <a:latin typeface="Calibri"/>
              </a:rPr>
              <a:t>, </a:t>
            </a:r>
            <a:r>
              <a:rPr sz="3600" b="1" i="0" dirty="0">
                <a:solidFill>
                  <a:srgbClr val="3D4A1F"/>
                </a:solidFill>
                <a:latin typeface="Calibri"/>
              </a:rPr>
              <a:t>Oren Chaushu</a:t>
            </a:r>
          </a:p>
        </p:txBody>
      </p:sp>
      <p:sp>
        <p:nvSpPr>
          <p:cNvPr id="5" name="TextBox 4"/>
          <p:cNvSpPr txBox="1"/>
          <p:nvPr/>
        </p:nvSpPr>
        <p:spPr>
          <a:xfrm>
            <a:off x="12596019" y="2860040"/>
            <a:ext cx="9356019"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600" b="1" dirty="0">
                <a:solidFill>
                  <a:srgbClr val="2E3517"/>
                </a:solidFill>
                <a:latin typeface="Calibri"/>
              </a:rPr>
              <a:t>Supervisors:  Dr. Avner Priel</a:t>
            </a:r>
            <a:r>
              <a:rPr lang="en-US" sz="3600" b="1" dirty="0">
                <a:solidFill>
                  <a:srgbClr val="2E3517"/>
                </a:solidFill>
                <a:latin typeface="Calibri"/>
              </a:rPr>
              <a:t>, </a:t>
            </a:r>
            <a:r>
              <a:rPr sz="3600" b="1" dirty="0">
                <a:solidFill>
                  <a:srgbClr val="2E3517"/>
                </a:solidFill>
                <a:latin typeface="Calibri"/>
              </a:rPr>
              <a:t>Dr. Alaa Jamal</a:t>
            </a:r>
          </a:p>
        </p:txBody>
      </p:sp>
      <p:sp>
        <p:nvSpPr>
          <p:cNvPr id="6" name="Rounded Rectangle 5"/>
          <p:cNvSpPr/>
          <p:nvPr/>
        </p:nvSpPr>
        <p:spPr>
          <a:xfrm>
            <a:off x="1440000" y="3600000"/>
            <a:ext cx="22320000" cy="57600"/>
          </a:xfrm>
          <a:prstGeom prst="roundRect">
            <a:avLst>
              <a:gd name="adj" fmla="val 50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8000" y="3743999"/>
            <a:ext cx="11664000" cy="432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917999" y="39960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01</a:t>
            </a:r>
          </a:p>
        </p:txBody>
      </p:sp>
      <p:sp>
        <p:nvSpPr>
          <p:cNvPr id="9" name="TextBox 8"/>
          <p:cNvSpPr txBox="1"/>
          <p:nvPr/>
        </p:nvSpPr>
        <p:spPr>
          <a:xfrm>
            <a:off x="1674000" y="3986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Motivation</a:t>
            </a:r>
          </a:p>
        </p:txBody>
      </p:sp>
      <p:sp>
        <p:nvSpPr>
          <p:cNvPr id="10" name="Rectangle 9"/>
          <p:cNvSpPr/>
          <p:nvPr/>
        </p:nvSpPr>
        <p:spPr>
          <a:xfrm>
            <a:off x="936000" y="46618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54000" y="4679000"/>
            <a:ext cx="11376000" cy="3316476"/>
          </a:xfrm>
          <a:prstGeom prst="rect">
            <a:avLst/>
          </a:prstGeom>
          <a:noFill/>
        </p:spPr>
        <p:txBody>
          <a:bodyPr wrap="square" lIns="36000" tIns="36000" rIns="36000" bIns="36000" anchor="t">
            <a:spAutoFit/>
          </a:bodyPr>
          <a:lstStyle/>
          <a:p>
            <a:pPr>
              <a:lnSpc>
                <a:spcPct val="106000"/>
              </a:lnSpc>
              <a:spcAft>
                <a:spcPts val="500"/>
              </a:spcAft>
            </a:pPr>
            <a:r>
              <a:rPr sz="2400" b="1" dirty="0">
                <a:solidFill>
                  <a:srgbClr val="5E6E2E"/>
                </a:solidFill>
                <a:latin typeface="Calibri"/>
              </a:rPr>
              <a:t>▪  </a:t>
            </a:r>
            <a:r>
              <a:rPr lang="en-US" sz="2400" dirty="0">
                <a:solidFill>
                  <a:schemeClr val="tx2">
                    <a:lumMod val="75000"/>
                  </a:schemeClr>
                </a:solidFill>
              </a:rPr>
              <a:t>Root-zone pH governs nutrient availability, while EC reflects salinity and fertilizer load - both directly affect crop health, growth and yield.</a:t>
            </a:r>
            <a:br>
              <a:rPr lang="en-US" sz="2400" dirty="0"/>
            </a:br>
            <a:r>
              <a:rPr sz="2400" b="1" dirty="0">
                <a:solidFill>
                  <a:srgbClr val="5E6E2E"/>
                </a:solidFill>
                <a:latin typeface="Calibri"/>
              </a:rPr>
              <a:t>▪  </a:t>
            </a:r>
            <a:r>
              <a:rPr lang="en-US" sz="2400" dirty="0">
                <a:solidFill>
                  <a:schemeClr val="tx2">
                    <a:lumMod val="75000"/>
                  </a:schemeClr>
                </a:solidFill>
              </a:rPr>
              <a:t>In soilless greenhouse systems, the root zone has low buffering capacity, so irrigation or fertigation errors can quickly affect plant conditions.</a:t>
            </a:r>
            <a:endParaRPr lang="he-IL" sz="2400" dirty="0">
              <a:solidFill>
                <a:schemeClr val="tx2">
                  <a:lumMod val="75000"/>
                </a:schemeClr>
              </a:solidFill>
            </a:endParaRPr>
          </a:p>
          <a:p>
            <a:pPr>
              <a:lnSpc>
                <a:spcPct val="106000"/>
              </a:lnSpc>
              <a:spcAft>
                <a:spcPts val="500"/>
              </a:spcAft>
            </a:pPr>
            <a:r>
              <a:rPr sz="2400" b="1" dirty="0">
                <a:solidFill>
                  <a:srgbClr val="5E6E2E"/>
                </a:solidFill>
                <a:latin typeface="Calibri"/>
              </a:rPr>
              <a:t>▪  </a:t>
            </a:r>
            <a:r>
              <a:rPr lang="en-US" sz="2400" dirty="0">
                <a:solidFill>
                  <a:schemeClr val="tx2">
                    <a:lumMod val="75000"/>
                  </a:schemeClr>
                </a:solidFill>
              </a:rPr>
              <a:t>Manual laboratory pH/EC samples are accurate, but sparse, slow and reactive, leaving long blind gaps between measurements.</a:t>
            </a:r>
            <a:endParaRPr lang="he-IL" sz="2400" dirty="0">
              <a:solidFill>
                <a:schemeClr val="tx2">
                  <a:lumMod val="75000"/>
                </a:schemeClr>
              </a:solidFill>
            </a:endParaRPr>
          </a:p>
          <a:p>
            <a:pPr>
              <a:lnSpc>
                <a:spcPct val="106000"/>
              </a:lnSpc>
              <a:spcAft>
                <a:spcPts val="500"/>
              </a:spcAft>
            </a:pPr>
            <a:r>
              <a:rPr sz="2400" b="1" dirty="0">
                <a:solidFill>
                  <a:srgbClr val="5E6E2E"/>
                </a:solidFill>
                <a:latin typeface="Calibri"/>
              </a:rPr>
              <a:t>▪  </a:t>
            </a:r>
            <a:r>
              <a:rPr lang="en-US" sz="2400" dirty="0">
                <a:solidFill>
                  <a:schemeClr val="tx2">
                    <a:lumMod val="75000"/>
                  </a:schemeClr>
                </a:solidFill>
              </a:rPr>
              <a:t>Continuous probes can provide dense data, but they may drift, require frequent calibration and represent only a single point in the root zone.</a:t>
            </a:r>
            <a:endParaRPr sz="2400" b="0" dirty="0">
              <a:solidFill>
                <a:schemeClr val="tx2">
                  <a:lumMod val="75000"/>
                </a:schemeClr>
              </a:solidFill>
              <a:latin typeface="Calibri"/>
            </a:endParaRPr>
          </a:p>
        </p:txBody>
      </p:sp>
      <p:sp>
        <p:nvSpPr>
          <p:cNvPr id="12" name="Rounded Rectangle 11"/>
          <p:cNvSpPr/>
          <p:nvPr/>
        </p:nvSpPr>
        <p:spPr>
          <a:xfrm>
            <a:off x="648000" y="8278200"/>
            <a:ext cx="11664000" cy="3384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Rounded Rectangle 12"/>
          <p:cNvSpPr/>
          <p:nvPr/>
        </p:nvSpPr>
        <p:spPr>
          <a:xfrm>
            <a:off x="917999" y="85302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02</a:t>
            </a:r>
          </a:p>
        </p:txBody>
      </p:sp>
      <p:sp>
        <p:nvSpPr>
          <p:cNvPr id="14" name="TextBox 13"/>
          <p:cNvSpPr txBox="1"/>
          <p:nvPr/>
        </p:nvSpPr>
        <p:spPr>
          <a:xfrm>
            <a:off x="1674000" y="85210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Project Goal</a:t>
            </a:r>
          </a:p>
        </p:txBody>
      </p:sp>
      <p:sp>
        <p:nvSpPr>
          <p:cNvPr id="15" name="Rectangle 14"/>
          <p:cNvSpPr/>
          <p:nvPr/>
        </p:nvSpPr>
        <p:spPr>
          <a:xfrm>
            <a:off x="936000" y="91960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69824" y="9173842"/>
            <a:ext cx="11160000" cy="2873663"/>
          </a:xfrm>
          <a:prstGeom prst="rect">
            <a:avLst/>
          </a:prstGeom>
          <a:noFill/>
        </p:spPr>
        <p:txBody>
          <a:bodyPr wrap="square" lIns="36000" tIns="36000" rIns="36000" bIns="36000" anchor="t">
            <a:spAutoFit/>
          </a:bodyPr>
          <a:lstStyle/>
          <a:p>
            <a:pPr>
              <a:lnSpc>
                <a:spcPct val="106000"/>
              </a:lnSpc>
              <a:spcAft>
                <a:spcPts val="600"/>
              </a:spcAft>
            </a:pPr>
            <a:r>
              <a:rPr lang="he-IL" sz="2400" b="1" dirty="0">
                <a:solidFill>
                  <a:srgbClr val="5E6E2E"/>
                </a:solidFill>
              </a:rPr>
              <a:t>▪</a:t>
            </a:r>
            <a:r>
              <a:rPr sz="2400" b="1" dirty="0">
                <a:solidFill>
                  <a:schemeClr val="tx2">
                    <a:lumMod val="75000"/>
                  </a:schemeClr>
                </a:solidFill>
                <a:latin typeface="Calibri"/>
              </a:rPr>
              <a:t>  </a:t>
            </a:r>
            <a:r>
              <a:rPr lang="en-US" sz="2400" dirty="0">
                <a:solidFill>
                  <a:schemeClr val="tx2">
                    <a:lumMod val="75000"/>
                  </a:schemeClr>
                </a:solidFill>
              </a:rPr>
              <a:t>Build a machine-learning soft sensor that estimates future root-zone pH and EC between sparse manual laboratory samples.</a:t>
            </a:r>
            <a:br>
              <a:rPr lang="en-US" sz="2400" dirty="0">
                <a:solidFill>
                  <a:schemeClr val="tx2">
                    <a:lumMod val="75000"/>
                  </a:schemeClr>
                </a:solidFill>
              </a:rPr>
            </a:br>
            <a:r>
              <a:rPr lang="he-IL" sz="2400" b="1" dirty="0">
                <a:solidFill>
                  <a:srgbClr val="5E6E2E"/>
                </a:solidFill>
              </a:rPr>
              <a:t>▪</a:t>
            </a:r>
            <a:r>
              <a:rPr sz="2400" b="1" dirty="0">
                <a:solidFill>
                  <a:schemeClr val="tx2">
                    <a:lumMod val="75000"/>
                  </a:schemeClr>
                </a:solidFill>
                <a:latin typeface="Calibri"/>
              </a:rPr>
              <a:t>  </a:t>
            </a:r>
            <a:r>
              <a:rPr lang="en-US" sz="2400" dirty="0">
                <a:solidFill>
                  <a:schemeClr val="tx2">
                    <a:lumMod val="75000"/>
                  </a:schemeClr>
                </a:solidFill>
              </a:rPr>
              <a:t>Predict the change from a known baseline measurement at t₀ to a future target time t₁ using climate, irrigation, fertigation, crop-state and previous pH/EC information.</a:t>
            </a:r>
            <a:endParaRPr lang="he-IL" sz="2400" dirty="0">
              <a:solidFill>
                <a:schemeClr val="tx2">
                  <a:lumMod val="75000"/>
                </a:schemeClr>
              </a:solidFill>
            </a:endParaRPr>
          </a:p>
          <a:p>
            <a:pPr>
              <a:lnSpc>
                <a:spcPct val="106000"/>
              </a:lnSpc>
              <a:spcAft>
                <a:spcPts val="600"/>
              </a:spcAft>
            </a:pPr>
            <a:r>
              <a:rPr lang="he-IL" sz="2400" b="1" dirty="0">
                <a:solidFill>
                  <a:srgbClr val="5E6E2E"/>
                </a:solidFill>
              </a:rPr>
              <a:t>▪</a:t>
            </a:r>
            <a:r>
              <a:rPr lang="en-US" sz="2400" dirty="0">
                <a:solidFill>
                  <a:schemeClr val="tx2">
                    <a:lumMod val="75000"/>
                  </a:schemeClr>
                </a:solidFill>
              </a:rPr>
              <a:t> Provide reliable decision-support values that help growers detect pH or salinity drift earlier and maintain the root zone within an optimal operating range.</a:t>
            </a:r>
            <a:br>
              <a:rPr lang="en-US" sz="2400" dirty="0"/>
            </a:br>
            <a:endParaRPr sz="2400" b="0" dirty="0">
              <a:solidFill>
                <a:srgbClr val="2E3517"/>
              </a:solidFill>
              <a:latin typeface="Calibri"/>
            </a:endParaRPr>
          </a:p>
        </p:txBody>
      </p:sp>
      <p:sp>
        <p:nvSpPr>
          <p:cNvPr id="17" name="Rounded Rectangle 16"/>
          <p:cNvSpPr/>
          <p:nvPr/>
        </p:nvSpPr>
        <p:spPr>
          <a:xfrm>
            <a:off x="648000" y="11880000"/>
            <a:ext cx="11664000" cy="5256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17999" y="1213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03</a:t>
            </a:r>
          </a:p>
        </p:txBody>
      </p:sp>
      <p:sp>
        <p:nvSpPr>
          <p:cNvPr id="19" name="TextBox 18"/>
          <p:cNvSpPr txBox="1"/>
          <p:nvPr/>
        </p:nvSpPr>
        <p:spPr>
          <a:xfrm>
            <a:off x="1674000" y="12122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Data</a:t>
            </a:r>
          </a:p>
        </p:txBody>
      </p:sp>
      <p:sp>
        <p:nvSpPr>
          <p:cNvPr id="20" name="Rectangle 19"/>
          <p:cNvSpPr/>
          <p:nvPr/>
        </p:nvSpPr>
        <p:spPr>
          <a:xfrm>
            <a:off x="936000" y="128232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54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16,682</a:t>
            </a:r>
          </a:p>
          <a:p>
            <a:pPr algn="ctr">
              <a:lnSpc>
                <a:spcPct val="95000"/>
              </a:lnSpc>
              <a:spcBef>
                <a:spcPts val="200"/>
              </a:spcBef>
              <a:spcAft>
                <a:spcPts val="0"/>
              </a:spcAft>
            </a:pPr>
            <a:r>
              <a:rPr sz="2400" b="1" i="0" dirty="0">
                <a:solidFill>
                  <a:srgbClr val="2E3517"/>
                </a:solidFill>
                <a:latin typeface="Calibri"/>
              </a:rPr>
              <a:t>10-min rows</a:t>
            </a:r>
          </a:p>
        </p:txBody>
      </p:sp>
      <p:sp>
        <p:nvSpPr>
          <p:cNvPr id="22" name="Rounded Rectangle 21"/>
          <p:cNvSpPr/>
          <p:nvPr/>
        </p:nvSpPr>
        <p:spPr>
          <a:xfrm>
            <a:off x="4698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109</a:t>
            </a:r>
          </a:p>
          <a:p>
            <a:pPr algn="ctr">
              <a:lnSpc>
                <a:spcPct val="95000"/>
              </a:lnSpc>
              <a:spcBef>
                <a:spcPts val="200"/>
              </a:spcBef>
              <a:spcAft>
                <a:spcPts val="0"/>
              </a:spcAft>
            </a:pPr>
            <a:r>
              <a:rPr sz="2400" b="1" i="0" dirty="0">
                <a:solidFill>
                  <a:srgbClr val="2E3517"/>
                </a:solidFill>
                <a:latin typeface="Calibri"/>
              </a:rPr>
              <a:t>pH / EC labels</a:t>
            </a:r>
          </a:p>
        </p:txBody>
      </p:sp>
      <p:sp>
        <p:nvSpPr>
          <p:cNvPr id="23" name="Rounded Rectangle 22"/>
          <p:cNvSpPr/>
          <p:nvPr/>
        </p:nvSpPr>
        <p:spPr>
          <a:xfrm>
            <a:off x="8442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lang="he-IL" sz="4400" b="1" i="0" dirty="0">
                <a:solidFill>
                  <a:srgbClr val="3D4A1F"/>
                </a:solidFill>
                <a:latin typeface="+mj-lt"/>
              </a:rPr>
              <a:t>20+</a:t>
            </a:r>
            <a:endParaRPr sz="4400" b="1" i="0" dirty="0">
              <a:solidFill>
                <a:srgbClr val="3D4A1F"/>
              </a:solidFill>
              <a:latin typeface="+mj-lt"/>
            </a:endParaRPr>
          </a:p>
          <a:p>
            <a:pPr algn="ctr">
              <a:lnSpc>
                <a:spcPct val="95000"/>
              </a:lnSpc>
              <a:spcBef>
                <a:spcPts val="200"/>
              </a:spcBef>
              <a:spcAft>
                <a:spcPts val="0"/>
              </a:spcAft>
            </a:pPr>
            <a:r>
              <a:rPr sz="2400" b="1" i="0" dirty="0">
                <a:solidFill>
                  <a:srgbClr val="2E3517"/>
                </a:solidFill>
                <a:latin typeface="Calibri"/>
              </a:rPr>
              <a:t>input features</a:t>
            </a:r>
          </a:p>
        </p:txBody>
      </p:sp>
      <p:sp>
        <p:nvSpPr>
          <p:cNvPr id="24" name="TextBox 23"/>
          <p:cNvSpPr txBox="1"/>
          <p:nvPr/>
        </p:nvSpPr>
        <p:spPr>
          <a:xfrm>
            <a:off x="954000" y="14280399"/>
            <a:ext cx="11160000" cy="2796719"/>
          </a:xfrm>
          <a:prstGeom prst="rect">
            <a:avLst/>
          </a:prstGeom>
          <a:noFill/>
        </p:spPr>
        <p:txBody>
          <a:bodyPr wrap="square" lIns="36000" tIns="36000" rIns="36000" bIns="36000" anchor="t">
            <a:spAutoFit/>
          </a:bodyPr>
          <a:lstStyle/>
          <a:p>
            <a:pPr>
              <a:lnSpc>
                <a:spcPct val="106000"/>
              </a:lnSpc>
              <a:spcAft>
                <a:spcPts val="400"/>
              </a:spcAft>
            </a:pPr>
            <a:r>
              <a:rPr lang="he-IL" sz="2400" b="1" dirty="0">
                <a:solidFill>
                  <a:srgbClr val="5E6E2E"/>
                </a:solidFill>
              </a:rPr>
              <a:t>▪</a:t>
            </a:r>
            <a:r>
              <a:rPr lang="en-US" sz="2400" dirty="0">
                <a:solidFill>
                  <a:schemeClr val="tx2">
                    <a:lumMod val="75000"/>
                  </a:schemeClr>
                </a:solidFill>
              </a:rPr>
              <a:t> Unified 10-minute master dataset · May 29 – Sep 21, 2025.</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External weather &amp; solar radiation — open-field weather and radiation measurements.</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Greenhouse micro-climate — internal air temperature, relative humidity, radiation, ET₀ and soil temperature.</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Irrigation &amp; fertigation — water volume, fertilizer, EC, acid dosing and event timing.</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Crop-state features — canopy cover, crop development and time-history variables.</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Manual laboratory pH &amp; EC measurements.</a:t>
            </a:r>
            <a:endParaRPr sz="2400" b="0" dirty="0">
              <a:solidFill>
                <a:schemeClr val="tx2">
                  <a:lumMod val="75000"/>
                </a:schemeClr>
              </a:solidFill>
              <a:latin typeface="Calibri"/>
            </a:endParaRPr>
          </a:p>
        </p:txBody>
      </p:sp>
      <p:sp>
        <p:nvSpPr>
          <p:cNvPr id="25" name="Rounded Rectangle 24"/>
          <p:cNvSpPr/>
          <p:nvPr/>
        </p:nvSpPr>
        <p:spPr>
          <a:xfrm>
            <a:off x="648000" y="17353799"/>
            <a:ext cx="11664000" cy="72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17999" y="176058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04</a:t>
            </a:r>
          </a:p>
        </p:txBody>
      </p:sp>
      <p:sp>
        <p:nvSpPr>
          <p:cNvPr id="27" name="TextBox 26"/>
          <p:cNvSpPr txBox="1"/>
          <p:nvPr/>
        </p:nvSpPr>
        <p:spPr>
          <a:xfrm>
            <a:off x="1674000" y="175966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Method</a:t>
            </a:r>
          </a:p>
        </p:txBody>
      </p:sp>
      <p:sp>
        <p:nvSpPr>
          <p:cNvPr id="28" name="Rectangle 27"/>
          <p:cNvSpPr/>
          <p:nvPr/>
        </p:nvSpPr>
        <p:spPr>
          <a:xfrm>
            <a:off x="936000" y="182969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54000" y="18415800"/>
            <a:ext cx="11052000" cy="1307593"/>
          </a:xfrm>
          <a:prstGeom prst="rect">
            <a:avLst/>
          </a:prstGeom>
          <a:noFill/>
        </p:spPr>
        <p:txBody>
          <a:bodyPr wrap="square" lIns="36000" tIns="36000" rIns="36000" bIns="36000" anchor="t">
            <a:spAutoFit/>
          </a:bodyPr>
          <a:lstStyle/>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Two-stage soft sensor </a:t>
            </a:r>
            <a:r>
              <a:rPr lang="he-IL" sz="2400" b="0" dirty="0">
                <a:solidFill>
                  <a:srgbClr val="2E3517"/>
                </a:solidFill>
                <a:latin typeface="Calibri"/>
              </a:rPr>
              <a:t>-</a:t>
            </a:r>
            <a:r>
              <a:rPr sz="2400" b="0" dirty="0">
                <a:solidFill>
                  <a:srgbClr val="2E3517"/>
                </a:solidFill>
                <a:latin typeface="Calibri"/>
              </a:rPr>
              <a:t> Stage 1 predicts greenhouse micro-climate from external weather; Stage 2 predicts root-zone pH &amp; EC.</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Models the t₀→t₁ interval change rather than labelling every timestamp.</a:t>
            </a:r>
          </a:p>
        </p:txBody>
      </p:sp>
      <p:sp>
        <p:nvSpPr>
          <p:cNvPr id="31" name="Rounded Rectangle 30"/>
          <p:cNvSpPr/>
          <p:nvPr/>
        </p:nvSpPr>
        <p:spPr>
          <a:xfrm>
            <a:off x="648000" y="24767999"/>
            <a:ext cx="11664000" cy="1044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917999" y="25019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05</a:t>
            </a:r>
          </a:p>
        </p:txBody>
      </p:sp>
      <p:sp>
        <p:nvSpPr>
          <p:cNvPr id="33" name="TextBox 32"/>
          <p:cNvSpPr txBox="1"/>
          <p:nvPr/>
        </p:nvSpPr>
        <p:spPr>
          <a:xfrm>
            <a:off x="1674000" y="25010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Algorithms &amp; Model Choice</a:t>
            </a:r>
          </a:p>
        </p:txBody>
      </p:sp>
      <p:sp>
        <p:nvSpPr>
          <p:cNvPr id="34" name="Rectangle 33"/>
          <p:cNvSpPr/>
          <p:nvPr/>
        </p:nvSpPr>
        <p:spPr>
          <a:xfrm>
            <a:off x="936000" y="25711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54000" y="25920000"/>
            <a:ext cx="5418000" cy="3096000"/>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ctr"/>
          <a:lstStyle/>
          <a:p>
            <a:pPr algn="l">
              <a:lnSpc>
                <a:spcPct val="100000"/>
              </a:lnSpc>
              <a:spcBef>
                <a:spcPts val="0"/>
              </a:spcBef>
              <a:spcAft>
                <a:spcPts val="300"/>
              </a:spcAft>
            </a:pPr>
            <a:r>
              <a:rPr sz="3000" b="1" dirty="0">
                <a:solidFill>
                  <a:srgbClr val="5E6E2E"/>
                </a:solidFill>
                <a:latin typeface="Calibri"/>
              </a:rPr>
              <a:t>Gradient Boosting</a:t>
            </a:r>
          </a:p>
          <a:p>
            <a:pPr algn="l">
              <a:lnSpc>
                <a:spcPct val="104000"/>
              </a:lnSpc>
              <a:spcBef>
                <a:spcPts val="0"/>
              </a:spcBef>
              <a:spcAft>
                <a:spcPts val="0"/>
              </a:spcAft>
            </a:pPr>
            <a:r>
              <a:rPr lang="en-US" sz="2400" b="0" dirty="0">
                <a:solidFill>
                  <a:srgbClr val="2E3517"/>
                </a:solidFill>
                <a:latin typeface="Calibri"/>
              </a:rPr>
              <a:t>Performs well on tabular greenhouse data; captures nonlinear interactions between climate, irrigation, fertigation, crop state and previous pH/EC. Suited to the hybrid interpolation / extrapolation task.</a:t>
            </a:r>
          </a:p>
        </p:txBody>
      </p:sp>
      <p:sp>
        <p:nvSpPr>
          <p:cNvPr id="38" name="Rounded Rectangle 37"/>
          <p:cNvSpPr/>
          <p:nvPr/>
        </p:nvSpPr>
        <p:spPr>
          <a:xfrm>
            <a:off x="6588000" y="25920000"/>
            <a:ext cx="5418000" cy="3096000"/>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3000" b="1" dirty="0">
                <a:solidFill>
                  <a:srgbClr val="5E6E2E"/>
                </a:solidFill>
                <a:latin typeface="Calibri"/>
              </a:rPr>
              <a:t>Huber Regressor</a:t>
            </a:r>
          </a:p>
          <a:p>
            <a:pPr algn="l">
              <a:lnSpc>
                <a:spcPct val="104000"/>
              </a:lnSpc>
              <a:spcBef>
                <a:spcPts val="0"/>
              </a:spcBef>
              <a:spcAft>
                <a:spcPts val="0"/>
              </a:spcAft>
            </a:pPr>
            <a:r>
              <a:rPr lang="en-US" sz="2400" b="0" dirty="0">
                <a:solidFill>
                  <a:srgbClr val="2E3517"/>
                </a:solidFill>
                <a:latin typeface="Calibri"/>
              </a:rPr>
              <a:t>Robust to outliers and the sharp changes caused by fertigation, acid injection or salinity shifts. A stable, complementary model that handles noisy and extreme target behavior.</a:t>
            </a:r>
          </a:p>
        </p:txBody>
      </p:sp>
      <p:sp>
        <p:nvSpPr>
          <p:cNvPr id="39" name="Rounded Rectangle 38"/>
          <p:cNvSpPr/>
          <p:nvPr/>
        </p:nvSpPr>
        <p:spPr>
          <a:xfrm>
            <a:off x="12887999" y="3743999"/>
            <a:ext cx="11664000" cy="7908666"/>
          </a:xfrm>
          <a:prstGeom prst="roundRect">
            <a:avLst>
              <a:gd name="adj" fmla="val 3293"/>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13157999" y="4008332"/>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06</a:t>
            </a:r>
            <a:endParaRPr sz="3600" b="1" i="0" dirty="0">
              <a:solidFill>
                <a:srgbClr val="FFFFFF"/>
              </a:solidFill>
              <a:latin typeface="+mj-lt"/>
            </a:endParaRPr>
          </a:p>
        </p:txBody>
      </p:sp>
      <p:sp>
        <p:nvSpPr>
          <p:cNvPr id="41" name="TextBox 40"/>
          <p:cNvSpPr txBox="1"/>
          <p:nvPr/>
        </p:nvSpPr>
        <p:spPr>
          <a:xfrm>
            <a:off x="13914000" y="3999182"/>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Micro-Climate Model</a:t>
            </a:r>
          </a:p>
        </p:txBody>
      </p:sp>
      <p:sp>
        <p:nvSpPr>
          <p:cNvPr id="42" name="Rectangle 41"/>
          <p:cNvSpPr/>
          <p:nvPr/>
        </p:nvSpPr>
        <p:spPr>
          <a:xfrm>
            <a:off x="13175999" y="4699532"/>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3194000" y="4818332"/>
            <a:ext cx="11052000" cy="1320417"/>
          </a:xfrm>
          <a:prstGeom prst="rect">
            <a:avLst/>
          </a:prstGeom>
          <a:noFill/>
        </p:spPr>
        <p:txBody>
          <a:bodyPr wrap="square" lIns="36000" tIns="36000" rIns="36000" bIns="36000" anchor="t">
            <a:spAutoFit/>
          </a:bodyPr>
          <a:lstStyle/>
          <a:p>
            <a:pPr>
              <a:lnSpc>
                <a:spcPct val="106000"/>
              </a:lnSpc>
              <a:spcAft>
                <a:spcPts val="700"/>
              </a:spcAft>
            </a:pPr>
            <a:r>
              <a:rPr lang="en-US" sz="2400" dirty="0">
                <a:solidFill>
                  <a:schemeClr val="tx2">
                    <a:lumMod val="75000"/>
                  </a:schemeClr>
                </a:solidFill>
              </a:rPr>
              <a:t>▪ Predicts internal greenhouse climate from external weather and radiation.</a:t>
            </a:r>
          </a:p>
          <a:p>
            <a:pPr>
              <a:lnSpc>
                <a:spcPct val="106000"/>
              </a:lnSpc>
              <a:spcAft>
                <a:spcPts val="700"/>
              </a:spcAft>
            </a:pPr>
            <a:r>
              <a:rPr lang="en-US" sz="2400" dirty="0">
                <a:solidFill>
                  <a:schemeClr val="tx2">
                    <a:lumMod val="75000"/>
                  </a:schemeClr>
                </a:solidFill>
              </a:rPr>
              <a:t>▪ Generates continuous climate inputs - temperature, RH, radiation, ET₀ and soil temperature - for the root-zone model.</a:t>
            </a:r>
          </a:p>
        </p:txBody>
      </p:sp>
      <p:pic>
        <p:nvPicPr>
          <p:cNvPr id="44" name="Picture 43" descr="microclimate.png"/>
          <p:cNvPicPr>
            <a:picLocks noChangeAspect="1"/>
          </p:cNvPicPr>
          <p:nvPr/>
        </p:nvPicPr>
        <p:blipFill>
          <a:blip r:embed="rId2"/>
          <a:stretch>
            <a:fillRect/>
          </a:stretch>
        </p:blipFill>
        <p:spPr>
          <a:xfrm>
            <a:off x="14016539" y="6151124"/>
            <a:ext cx="8754968" cy="5338780"/>
          </a:xfrm>
          <a:prstGeom prst="rect">
            <a:avLst/>
          </a:prstGeom>
        </p:spPr>
      </p:pic>
      <p:sp>
        <p:nvSpPr>
          <p:cNvPr id="50" name="Rounded Rectangle 49"/>
          <p:cNvSpPr/>
          <p:nvPr/>
        </p:nvSpPr>
        <p:spPr>
          <a:xfrm>
            <a:off x="12887999" y="11868665"/>
            <a:ext cx="11664000" cy="15455334"/>
          </a:xfrm>
          <a:prstGeom prst="roundRect">
            <a:avLst>
              <a:gd name="adj" fmla="val 1983"/>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51" name="Rounded Rectangle 50"/>
          <p:cNvSpPr/>
          <p:nvPr/>
        </p:nvSpPr>
        <p:spPr>
          <a:xfrm>
            <a:off x="13157999" y="12170665"/>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07</a:t>
            </a:r>
            <a:endParaRPr sz="3600" b="1" i="0" dirty="0">
              <a:solidFill>
                <a:srgbClr val="FFFFFF"/>
              </a:solidFill>
              <a:latin typeface="+mj-lt"/>
            </a:endParaRPr>
          </a:p>
        </p:txBody>
      </p:sp>
      <p:sp>
        <p:nvSpPr>
          <p:cNvPr id="52" name="TextBox 51"/>
          <p:cNvSpPr txBox="1"/>
          <p:nvPr/>
        </p:nvSpPr>
        <p:spPr>
          <a:xfrm>
            <a:off x="13914000" y="12161514"/>
            <a:ext cx="10440000" cy="626701"/>
          </a:xfrm>
          <a:prstGeom prst="rect">
            <a:avLst/>
          </a:prstGeom>
          <a:noFill/>
        </p:spPr>
        <p:txBody>
          <a:bodyPr wrap="square" lIns="36000" tIns="36000" rIns="36000" bIns="36000" anchor="ctr">
            <a:spAutoFit/>
          </a:bodyPr>
          <a:lstStyle/>
          <a:p>
            <a:r>
              <a:rPr lang="en-US" sz="3600" b="1" dirty="0">
                <a:solidFill>
                  <a:srgbClr val="3D4A1F"/>
                </a:solidFill>
                <a:latin typeface="+mj-lt"/>
              </a:rPr>
              <a:t>Root-zone Model Results</a:t>
            </a:r>
          </a:p>
        </p:txBody>
      </p:sp>
      <p:sp>
        <p:nvSpPr>
          <p:cNvPr id="53" name="Rectangle 52"/>
          <p:cNvSpPr/>
          <p:nvPr/>
        </p:nvSpPr>
        <p:spPr>
          <a:xfrm>
            <a:off x="13175999" y="12861864"/>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13194000" y="14040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0.33</a:t>
            </a:r>
          </a:p>
          <a:p>
            <a:pPr algn="ctr">
              <a:lnSpc>
                <a:spcPct val="95000"/>
              </a:lnSpc>
              <a:spcBef>
                <a:spcPts val="100"/>
              </a:spcBef>
              <a:spcAft>
                <a:spcPts val="0"/>
              </a:spcAft>
            </a:pPr>
            <a:r>
              <a:rPr sz="1700" b="1" i="0" dirty="0">
                <a:solidFill>
                  <a:srgbClr val="2E3517"/>
                </a:solidFill>
                <a:latin typeface="Calibri"/>
              </a:rPr>
              <a:t>pH MAE</a:t>
            </a:r>
          </a:p>
        </p:txBody>
      </p:sp>
      <p:sp>
        <p:nvSpPr>
          <p:cNvPr id="55" name="Rounded Rectangle 54"/>
          <p:cNvSpPr/>
          <p:nvPr/>
        </p:nvSpPr>
        <p:spPr>
          <a:xfrm>
            <a:off x="16938000" y="14040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0.93</a:t>
            </a:r>
          </a:p>
          <a:p>
            <a:pPr algn="ctr">
              <a:lnSpc>
                <a:spcPct val="95000"/>
              </a:lnSpc>
              <a:spcBef>
                <a:spcPts val="100"/>
              </a:spcBef>
              <a:spcAft>
                <a:spcPts val="0"/>
              </a:spcAft>
            </a:pPr>
            <a:r>
              <a:rPr sz="1700" b="1" i="0" dirty="0">
                <a:solidFill>
                  <a:srgbClr val="2E3517"/>
                </a:solidFill>
                <a:latin typeface="Calibri"/>
              </a:rPr>
              <a:t>pH R²</a:t>
            </a:r>
          </a:p>
        </p:txBody>
      </p:sp>
      <p:sp>
        <p:nvSpPr>
          <p:cNvPr id="56" name="Rounded Rectangle 55"/>
          <p:cNvSpPr/>
          <p:nvPr/>
        </p:nvSpPr>
        <p:spPr>
          <a:xfrm>
            <a:off x="20682000" y="14040000"/>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B98212"/>
                </a:solidFill>
                <a:latin typeface="Calibri"/>
              </a:rPr>
              <a:t>+62%</a:t>
            </a:r>
          </a:p>
          <a:p>
            <a:pPr algn="ctr">
              <a:lnSpc>
                <a:spcPct val="95000"/>
              </a:lnSpc>
              <a:spcBef>
                <a:spcPts val="100"/>
              </a:spcBef>
              <a:spcAft>
                <a:spcPts val="0"/>
              </a:spcAft>
            </a:pPr>
            <a:r>
              <a:rPr sz="1700" b="1" i="0" dirty="0">
                <a:solidFill>
                  <a:srgbClr val="2E3517"/>
                </a:solidFill>
                <a:latin typeface="Calibri"/>
              </a:rPr>
              <a:t>pH MAE gain</a:t>
            </a:r>
          </a:p>
        </p:txBody>
      </p:sp>
      <p:sp>
        <p:nvSpPr>
          <p:cNvPr id="57" name="Rounded Rectangle 56"/>
          <p:cNvSpPr/>
          <p:nvPr/>
        </p:nvSpPr>
        <p:spPr>
          <a:xfrm>
            <a:off x="13194000" y="14867999"/>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0.127</a:t>
            </a:r>
          </a:p>
          <a:p>
            <a:pPr algn="ctr">
              <a:lnSpc>
                <a:spcPct val="95000"/>
              </a:lnSpc>
              <a:spcBef>
                <a:spcPts val="100"/>
              </a:spcBef>
              <a:spcAft>
                <a:spcPts val="0"/>
              </a:spcAft>
            </a:pPr>
            <a:r>
              <a:rPr sz="1700" b="1" i="0" dirty="0">
                <a:solidFill>
                  <a:srgbClr val="2E3517"/>
                </a:solidFill>
                <a:latin typeface="Calibri"/>
              </a:rPr>
              <a:t>EC MAE</a:t>
            </a:r>
          </a:p>
        </p:txBody>
      </p:sp>
      <p:sp>
        <p:nvSpPr>
          <p:cNvPr id="58" name="Rounded Rectangle 57"/>
          <p:cNvSpPr/>
          <p:nvPr/>
        </p:nvSpPr>
        <p:spPr>
          <a:xfrm>
            <a:off x="16938000" y="14867999"/>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3D4A1F"/>
                </a:solidFill>
                <a:latin typeface="Calibri"/>
              </a:rPr>
              <a:t>0.98</a:t>
            </a:r>
          </a:p>
          <a:p>
            <a:pPr algn="ctr">
              <a:lnSpc>
                <a:spcPct val="95000"/>
              </a:lnSpc>
              <a:spcBef>
                <a:spcPts val="100"/>
              </a:spcBef>
              <a:spcAft>
                <a:spcPts val="0"/>
              </a:spcAft>
            </a:pPr>
            <a:r>
              <a:rPr sz="1700" b="1" i="0" dirty="0">
                <a:solidFill>
                  <a:srgbClr val="2E3517"/>
                </a:solidFill>
                <a:latin typeface="Calibri"/>
              </a:rPr>
              <a:t>EC R²</a:t>
            </a:r>
          </a:p>
        </p:txBody>
      </p:sp>
      <p:sp>
        <p:nvSpPr>
          <p:cNvPr id="59" name="Rounded Rectangle 58"/>
          <p:cNvSpPr/>
          <p:nvPr/>
        </p:nvSpPr>
        <p:spPr>
          <a:xfrm>
            <a:off x="20682000" y="14867999"/>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3300" b="1" i="0" dirty="0">
                <a:solidFill>
                  <a:srgbClr val="B98212"/>
                </a:solidFill>
                <a:latin typeface="Calibri"/>
              </a:rPr>
              <a:t>+35%</a:t>
            </a:r>
          </a:p>
          <a:p>
            <a:pPr algn="ctr">
              <a:lnSpc>
                <a:spcPct val="95000"/>
              </a:lnSpc>
              <a:spcBef>
                <a:spcPts val="100"/>
              </a:spcBef>
              <a:spcAft>
                <a:spcPts val="0"/>
              </a:spcAft>
            </a:pPr>
            <a:r>
              <a:rPr sz="1700" b="1" i="0" dirty="0">
                <a:solidFill>
                  <a:srgbClr val="2E3517"/>
                </a:solidFill>
                <a:latin typeface="Calibri"/>
              </a:rPr>
              <a:t>EC MAE gain</a:t>
            </a:r>
          </a:p>
        </p:txBody>
      </p:sp>
      <p:sp>
        <p:nvSpPr>
          <p:cNvPr id="62" name="Rounded Rectangle 61"/>
          <p:cNvSpPr/>
          <p:nvPr/>
        </p:nvSpPr>
        <p:spPr>
          <a:xfrm>
            <a:off x="12887999" y="27539999"/>
            <a:ext cx="11664000" cy="342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13157999" y="2779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08</a:t>
            </a:r>
            <a:endParaRPr sz="3600" b="1" i="0" dirty="0">
              <a:solidFill>
                <a:srgbClr val="FFFFFF"/>
              </a:solidFill>
              <a:latin typeface="+mj-lt"/>
            </a:endParaRPr>
          </a:p>
        </p:txBody>
      </p:sp>
      <p:sp>
        <p:nvSpPr>
          <p:cNvPr id="64" name="TextBox 63"/>
          <p:cNvSpPr txBox="1"/>
          <p:nvPr/>
        </p:nvSpPr>
        <p:spPr>
          <a:xfrm>
            <a:off x="13914000" y="27782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Conclusions</a:t>
            </a:r>
          </a:p>
        </p:txBody>
      </p:sp>
      <p:sp>
        <p:nvSpPr>
          <p:cNvPr id="65" name="Rectangle 64"/>
          <p:cNvSpPr/>
          <p:nvPr/>
        </p:nvSpPr>
        <p:spPr>
          <a:xfrm>
            <a:off x="13175999" y="28483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3194000" y="28601999"/>
            <a:ext cx="11286000" cy="2167572"/>
          </a:xfrm>
          <a:prstGeom prst="rect">
            <a:avLst/>
          </a:prstGeom>
          <a:noFill/>
        </p:spPr>
        <p:txBody>
          <a:bodyPr wrap="square" lIns="36000" tIns="36000" rIns="36000" bIns="36000" anchor="t">
            <a:spAutoFit/>
          </a:bodyPr>
          <a:lstStyle/>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Acts as a soft sensor, estimating root-zone pH &amp; EC between sparse manual lab samples.</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The hybrid two-stage approach improves accuracy over the last-measurement baseline (+62% pH, +35% EC).</a:t>
            </a:r>
          </a:p>
          <a:p>
            <a:pPr algn="l">
              <a:lnSpc>
                <a:spcPct val="106000"/>
              </a:lnSpc>
              <a:spcBef>
                <a:spcPts val="0"/>
              </a:spcBef>
              <a:spcAft>
                <a:spcPts val="600"/>
              </a:spcAft>
            </a:pPr>
            <a:r>
              <a:rPr sz="2400" b="1" dirty="0">
                <a:solidFill>
                  <a:srgbClr val="5E6E2E"/>
                </a:solidFill>
                <a:latin typeface="Calibri"/>
              </a:rPr>
              <a:t>▪  </a:t>
            </a:r>
            <a:r>
              <a:rPr sz="2400" b="0" dirty="0">
                <a:solidFill>
                  <a:srgbClr val="2E3517"/>
                </a:solidFill>
                <a:latin typeface="Calibri"/>
              </a:rPr>
              <a:t>Designed for decision support </a:t>
            </a:r>
            <a:r>
              <a:rPr lang="he-IL" sz="2400" b="0" dirty="0">
                <a:solidFill>
                  <a:srgbClr val="2E3517"/>
                </a:solidFill>
                <a:latin typeface="Calibri"/>
              </a:rPr>
              <a:t>-</a:t>
            </a:r>
            <a:r>
              <a:rPr sz="2400" b="0" dirty="0">
                <a:solidFill>
                  <a:srgbClr val="2E3517"/>
                </a:solidFill>
                <a:latin typeface="Calibri"/>
              </a:rPr>
              <a:t> guiding irrigation &amp; fertigation </a:t>
            </a:r>
            <a:r>
              <a:rPr lang="he-IL" sz="2400" b="0" dirty="0">
                <a:solidFill>
                  <a:srgbClr val="2E3517"/>
                </a:solidFill>
                <a:latin typeface="Calibri"/>
              </a:rPr>
              <a:t>-</a:t>
            </a:r>
            <a:r>
              <a:rPr sz="2400" b="0" dirty="0">
                <a:solidFill>
                  <a:srgbClr val="2E3517"/>
                </a:solidFill>
                <a:latin typeface="Calibri"/>
              </a:rPr>
              <a:t> not autonomous control.</a:t>
            </a:r>
          </a:p>
        </p:txBody>
      </p:sp>
      <p:sp>
        <p:nvSpPr>
          <p:cNvPr id="67" name="Rounded Rectangle 66"/>
          <p:cNvSpPr/>
          <p:nvPr/>
        </p:nvSpPr>
        <p:spPr>
          <a:xfrm>
            <a:off x="12887999" y="31175999"/>
            <a:ext cx="11664000" cy="396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Rounded Rectangle 67"/>
          <p:cNvSpPr/>
          <p:nvPr/>
        </p:nvSpPr>
        <p:spPr>
          <a:xfrm>
            <a:off x="13157999" y="31427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a:solidFill>
                  <a:srgbClr val="FFFFFF"/>
                </a:solidFill>
                <a:latin typeface="+mj-lt"/>
              </a:rPr>
              <a:t>09</a:t>
            </a:r>
            <a:endParaRPr sz="3600" b="1" i="0" dirty="0">
              <a:solidFill>
                <a:srgbClr val="FFFFFF"/>
              </a:solidFill>
              <a:latin typeface="+mj-lt"/>
            </a:endParaRPr>
          </a:p>
        </p:txBody>
      </p:sp>
      <p:sp>
        <p:nvSpPr>
          <p:cNvPr id="69" name="TextBox 68"/>
          <p:cNvSpPr txBox="1"/>
          <p:nvPr/>
        </p:nvSpPr>
        <p:spPr>
          <a:xfrm>
            <a:off x="13914000" y="31418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Challenges &amp; Limitations</a:t>
            </a:r>
          </a:p>
        </p:txBody>
      </p:sp>
      <p:sp>
        <p:nvSpPr>
          <p:cNvPr id="70" name="Rectangle 69"/>
          <p:cNvSpPr/>
          <p:nvPr/>
        </p:nvSpPr>
        <p:spPr>
          <a:xfrm>
            <a:off x="13175999" y="32119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3194000" y="32237999"/>
            <a:ext cx="11286000" cy="2597561"/>
          </a:xfrm>
          <a:prstGeom prst="rect">
            <a:avLst/>
          </a:prstGeom>
          <a:noFill/>
        </p:spPr>
        <p:txBody>
          <a:bodyPr wrap="square" lIns="36000" tIns="36000" rIns="36000" bIns="36000" anchor="t">
            <a:spAutoFit/>
          </a:bodyPr>
          <a:lstStyle/>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Only 109 manual pH/EC labels against 16,682 dense sensor records.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No continuous ground-truth pH/EC between lab samples.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Irregular sampling intervals complicate interval modelling.</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Higher uncertainty in rare or extreme fertigation / salinity cases.</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Limited generalization </a:t>
            </a:r>
            <a:r>
              <a:rPr lang="he-IL" sz="2400" b="0" dirty="0">
                <a:solidFill>
                  <a:srgbClr val="2E3517"/>
                </a:solidFill>
                <a:latin typeface="Calibri"/>
              </a:rPr>
              <a:t>-</a:t>
            </a:r>
            <a:r>
              <a:rPr sz="2400" b="0" dirty="0">
                <a:solidFill>
                  <a:srgbClr val="2E3517"/>
                </a:solidFill>
                <a:latin typeface="Calibri"/>
              </a:rPr>
              <a:t> data from a single season and one crop.</a:t>
            </a:r>
          </a:p>
          <a:p>
            <a:pPr algn="l">
              <a:lnSpc>
                <a:spcPct val="106000"/>
              </a:lnSpc>
              <a:spcBef>
                <a:spcPts val="0"/>
              </a:spcBef>
              <a:spcAft>
                <a:spcPts val="300"/>
              </a:spcAft>
            </a:pPr>
            <a:r>
              <a:rPr sz="2400" b="1" dirty="0">
                <a:solidFill>
                  <a:srgbClr val="5E6E2E"/>
                </a:solidFill>
                <a:latin typeface="Calibri"/>
              </a:rPr>
              <a:t>▪  </a:t>
            </a:r>
            <a:r>
              <a:rPr sz="2400" b="0" dirty="0">
                <a:solidFill>
                  <a:srgbClr val="2E3517"/>
                </a:solidFill>
                <a:latin typeface="Calibri"/>
              </a:rPr>
              <a:t>More seasons, crops &amp; greenhouse conditions needed for stronger validation.</a:t>
            </a:r>
          </a:p>
        </p:txBody>
      </p:sp>
      <p:pic>
        <p:nvPicPr>
          <p:cNvPr id="72" name="Picture 71" descr="download-Photoroom.png"/>
          <p:cNvPicPr>
            <a:picLocks noChangeAspect="1"/>
          </p:cNvPicPr>
          <p:nvPr/>
        </p:nvPicPr>
        <p:blipFill>
          <a:blip r:embed="rId3"/>
          <a:stretch>
            <a:fillRect/>
          </a:stretch>
        </p:blipFill>
        <p:spPr>
          <a:xfrm>
            <a:off x="503999" y="764682"/>
            <a:ext cx="2365200" cy="2375843"/>
          </a:xfrm>
          <a:prstGeom prst="rect">
            <a:avLst/>
          </a:prstGeom>
        </p:spPr>
      </p:pic>
      <p:pic>
        <p:nvPicPr>
          <p:cNvPr id="73" name="Picture 72" descr="Volcani_logo.png"/>
          <p:cNvPicPr>
            <a:picLocks noChangeAspect="1"/>
          </p:cNvPicPr>
          <p:nvPr/>
        </p:nvPicPr>
        <p:blipFill>
          <a:blip r:embed="rId4"/>
          <a:stretch>
            <a:fillRect/>
          </a:stretch>
        </p:blipFill>
        <p:spPr>
          <a:xfrm>
            <a:off x="22222800" y="764682"/>
            <a:ext cx="2467800" cy="2375997"/>
          </a:xfrm>
          <a:prstGeom prst="rect">
            <a:avLst/>
          </a:prstGeom>
        </p:spPr>
      </p:pic>
      <p:pic>
        <p:nvPicPr>
          <p:cNvPr id="75" name="Picture 74" descr="feature_importance.png"/>
          <p:cNvPicPr>
            <a:picLocks noChangeAspect="1"/>
          </p:cNvPicPr>
          <p:nvPr/>
        </p:nvPicPr>
        <p:blipFill>
          <a:blip r:embed="rId5"/>
          <a:stretch>
            <a:fillRect/>
          </a:stretch>
        </p:blipFill>
        <p:spPr>
          <a:xfrm>
            <a:off x="2034942" y="29208601"/>
            <a:ext cx="7740000" cy="5663358"/>
          </a:xfrm>
          <a:prstGeom prst="rect">
            <a:avLst/>
          </a:prstGeom>
        </p:spPr>
      </p:pic>
      <p:sp>
        <p:nvSpPr>
          <p:cNvPr id="76" name="TextBox 75"/>
          <p:cNvSpPr txBox="1"/>
          <p:nvPr/>
        </p:nvSpPr>
        <p:spPr>
          <a:xfrm>
            <a:off x="13194000" y="12996000"/>
            <a:ext cx="11052000" cy="766428"/>
          </a:xfrm>
          <a:prstGeom prst="rect">
            <a:avLst/>
          </a:prstGeom>
          <a:noFill/>
        </p:spPr>
        <p:txBody>
          <a:bodyPr wrap="square" lIns="35560" tIns="0" rIns="35560" bIns="0" anchor="t">
            <a:spAutoFit/>
          </a:bodyPr>
          <a:lstStyle/>
          <a:p>
            <a:pPr algn="l">
              <a:lnSpc>
                <a:spcPct val="106000"/>
              </a:lnSpc>
            </a:pPr>
            <a:r>
              <a:rPr sz="2400" b="0" dirty="0">
                <a:solidFill>
                  <a:schemeClr val="tx2"/>
                </a:solidFill>
              </a:rPr>
              <a:t>Walk-forward validation shows that the model predicts future pH and EC from past observations while maintaining strong accuracy over time.</a:t>
            </a:r>
          </a:p>
        </p:txBody>
      </p:sp>
      <p:pic>
        <p:nvPicPr>
          <p:cNvPr id="77" name="Picture 76" descr="wf_ph_index.png"/>
          <p:cNvPicPr>
            <a:picLocks noChangeAspect="1"/>
          </p:cNvPicPr>
          <p:nvPr/>
        </p:nvPicPr>
        <p:blipFill>
          <a:blip r:embed="rId6"/>
          <a:stretch>
            <a:fillRect/>
          </a:stretch>
        </p:blipFill>
        <p:spPr>
          <a:xfrm>
            <a:off x="12936346" y="15802487"/>
            <a:ext cx="5778916" cy="4982497"/>
          </a:xfrm>
          <a:prstGeom prst="rect">
            <a:avLst/>
          </a:prstGeom>
        </p:spPr>
      </p:pic>
      <p:pic>
        <p:nvPicPr>
          <p:cNvPr id="78" name="Picture 77" descr="wf_ec_index.png"/>
          <p:cNvPicPr>
            <a:picLocks noChangeAspect="1"/>
          </p:cNvPicPr>
          <p:nvPr/>
        </p:nvPicPr>
        <p:blipFill>
          <a:blip r:embed="rId7"/>
          <a:stretch>
            <a:fillRect/>
          </a:stretch>
        </p:blipFill>
        <p:spPr>
          <a:xfrm>
            <a:off x="18659761" y="15808037"/>
            <a:ext cx="5884277" cy="5073338"/>
          </a:xfrm>
          <a:prstGeom prst="rect">
            <a:avLst/>
          </a:prstGeom>
        </p:spPr>
      </p:pic>
      <p:sp>
        <p:nvSpPr>
          <p:cNvPr id="79" name="TextBox 78"/>
          <p:cNvSpPr txBox="1"/>
          <p:nvPr/>
        </p:nvSpPr>
        <p:spPr>
          <a:xfrm>
            <a:off x="13194000" y="20847750"/>
            <a:ext cx="11052000" cy="766428"/>
          </a:xfrm>
          <a:prstGeom prst="rect">
            <a:avLst/>
          </a:prstGeom>
          <a:noFill/>
        </p:spPr>
        <p:txBody>
          <a:bodyPr wrap="square" lIns="35560" tIns="0" rIns="35560" bIns="0" anchor="t">
            <a:spAutoFit/>
          </a:bodyPr>
          <a:lstStyle/>
          <a:p>
            <a:pPr algn="l">
              <a:lnSpc>
                <a:spcPct val="106000"/>
              </a:lnSpc>
            </a:pPr>
            <a:r>
              <a:rPr sz="2400" b="0" dirty="0">
                <a:solidFill>
                  <a:schemeClr val="tx2"/>
                </a:solidFill>
                <a:latin typeface="Calibri"/>
              </a:rPr>
              <a:t>Skipped-interval holdout testing confirms that the model generalizes to unseen intervals that were removed from the training process.</a:t>
            </a:r>
          </a:p>
        </p:txBody>
      </p:sp>
      <p:pic>
        <p:nvPicPr>
          <p:cNvPr id="80" name="Picture 79" descr="holdout_ph_parity.png"/>
          <p:cNvPicPr>
            <a:picLocks noChangeAspect="1"/>
          </p:cNvPicPr>
          <p:nvPr/>
        </p:nvPicPr>
        <p:blipFill>
          <a:blip r:embed="rId8"/>
          <a:stretch>
            <a:fillRect/>
          </a:stretch>
        </p:blipFill>
        <p:spPr>
          <a:xfrm>
            <a:off x="12972254" y="21654961"/>
            <a:ext cx="5948558" cy="5584599"/>
          </a:xfrm>
          <a:prstGeom prst="rect">
            <a:avLst/>
          </a:prstGeom>
        </p:spPr>
      </p:pic>
      <p:pic>
        <p:nvPicPr>
          <p:cNvPr id="81" name="Picture 80" descr="holdout_ec_parity.png"/>
          <p:cNvPicPr>
            <a:picLocks noChangeAspect="1"/>
          </p:cNvPicPr>
          <p:nvPr/>
        </p:nvPicPr>
        <p:blipFill>
          <a:blip r:embed="rId9"/>
          <a:stretch>
            <a:fillRect/>
          </a:stretch>
        </p:blipFill>
        <p:spPr>
          <a:xfrm>
            <a:off x="18475992" y="21652278"/>
            <a:ext cx="5951415" cy="5587282"/>
          </a:xfrm>
          <a:prstGeom prst="rect">
            <a:avLst/>
          </a:prstGeom>
        </p:spPr>
      </p:pic>
      <p:pic>
        <p:nvPicPr>
          <p:cNvPr id="30" name="Picture 79">
            <a:extLst>
              <a:ext uri="{FF2B5EF4-FFF2-40B4-BE49-F238E27FC236}">
                <a16:creationId xmlns:a16="http://schemas.microsoft.com/office/drawing/2014/main" id="{100B02F5-E1C4-FEE7-B012-9B1188EDF9D9}"/>
              </a:ext>
            </a:extLst>
          </p:cNvPr>
          <p:cNvPicPr>
            <a:picLocks noChangeAspect="1"/>
          </p:cNvPicPr>
          <p:nvPr/>
        </p:nvPicPr>
        <p:blipFill>
          <a:blip r:embed="rId10"/>
          <a:stretch>
            <a:fillRect/>
          </a:stretch>
        </p:blipFill>
        <p:spPr>
          <a:xfrm>
            <a:off x="691638" y="19971559"/>
            <a:ext cx="11539173" cy="4460400"/>
          </a:xfrm>
          <a:prstGeom prst="rect">
            <a:avLst/>
          </a:prstGeom>
        </p:spPr>
      </p:pic>
    </p:spTree>
    <p:extLst>
      <p:ext uri="{BB962C8B-B14F-4D97-AF65-F5344CB8AC3E}">
        <p14:creationId xmlns:p14="http://schemas.microsoft.com/office/powerpoint/2010/main" val="1587688478"/>
      </p:ext>
    </p:extLst>
  </p:cSld>
  <p:clrMapOvr>
    <a:masterClrMapping/>
  </p:clrMapOvr>
</p:sld>
</file>

<file path=ppt/theme/theme1.xml><?xml version="1.0" encoding="utf-8"?>
<a:theme xmlns:a="http://schemas.openxmlformats.org/drawingml/2006/main" name="PosterPresentations.com-70CMx100CM">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Without Quick Guides">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Classic - Wide Center">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150</TotalTime>
  <Words>680</Words>
  <Application>Microsoft Office PowerPoint</Application>
  <PresentationFormat>מותאם אישית</PresentationFormat>
  <Paragraphs>65</Paragraphs>
  <Slides>1</Slides>
  <Notes>0</Notes>
  <HiddenSlides>0</HiddenSlides>
  <MMClips>0</MMClips>
  <ScaleCrop>false</ScaleCrop>
  <HeadingPairs>
    <vt:vector size="6" baseType="variant">
      <vt:variant>
        <vt:lpstr>גופנים בשימוש</vt:lpstr>
      </vt:variant>
      <vt:variant>
        <vt:i4>6</vt:i4>
      </vt:variant>
      <vt:variant>
        <vt:lpstr>ערכת נושא</vt:lpstr>
      </vt:variant>
      <vt:variant>
        <vt:i4>3</vt:i4>
      </vt:variant>
      <vt:variant>
        <vt:lpstr>כותרות שקופיות</vt:lpstr>
      </vt:variant>
      <vt:variant>
        <vt:i4>1</vt:i4>
      </vt:variant>
    </vt:vector>
  </HeadingPairs>
  <TitlesOfParts>
    <vt:vector size="10" baseType="lpstr">
      <vt:lpstr>Arial</vt:lpstr>
      <vt:lpstr>Arial Black</vt:lpstr>
      <vt:lpstr>Calibri</vt:lpstr>
      <vt:lpstr>Cambria</vt:lpstr>
      <vt:lpstr>Times New Roman</vt:lpstr>
      <vt:lpstr>Trebuchet MS</vt:lpstr>
      <vt:lpstr>PosterPresentations.com-70CMx100CM</vt:lpstr>
      <vt:lpstr>Without Quick Guides</vt:lpstr>
      <vt:lpstr>Classic - Wide Center</vt:lpstr>
      <vt:lpstr>מצגת של PowerPoint‏</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עדן אליהו</cp:lastModifiedBy>
  <cp:revision>56</cp:revision>
  <dcterms:created xsi:type="dcterms:W3CDTF">2012-02-10T00:10:15Z</dcterms:created>
  <dcterms:modified xsi:type="dcterms:W3CDTF">2026-05-31T15:04:45Z</dcterms:modified>
</cp:coreProperties>
</file>