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5203150" cy="360045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5852" autoAdjust="0"/>
    <p:restoredTop sz="94658"/>
  </p:normalViewPr>
  <p:slideViewPr>
    <p:cSldViewPr snapToGrid="0">
      <p:cViewPr varScale="1">
        <p:scale>
          <a:sx n="29" d="100"/>
          <a:sy n="29" d="100"/>
        </p:scale>
        <p:origin x="511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מלבן 165">
            <a:extLst>
              <a:ext uri="{FF2B5EF4-FFF2-40B4-BE49-F238E27FC236}">
                <a16:creationId xmlns:a16="http://schemas.microsoft.com/office/drawing/2014/main" id="{322588C4-4ECE-4AD6-8AB8-5DF3EF824B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5203150" cy="4714875"/>
          </a:xfrm>
          <a:prstGeom prst="rect">
            <a:avLst/>
          </a:prstGeom>
          <a:solidFill>
            <a:srgbClr val="0B3557"/>
          </a:solidFill>
          <a:ln w="9525">
            <a:solidFill>
              <a:srgbClr val="0B3557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2218D923-D510-4C31-927E-23F74C918FD4}"/>
              </a:ext>
            </a:extLst>
          </p:cNvPr>
          <p:cNvSpPr>
            <a:spLocks noGrp="1"/>
          </p:cNvSpPr>
          <p:nvPr/>
        </p:nvSpPr>
        <p:spPr>
          <a:xfrm>
            <a:off x="0" y="4171950"/>
            <a:ext cx="25203150" cy="171450"/>
          </a:xfrm>
          <a:prstGeom prst="rect">
            <a:avLst/>
          </a:prstGeom>
          <a:solidFill>
            <a:srgbClr val="2A8A80"/>
          </a:solidFill>
          <a:ln w="9525">
            <a:solidFill>
              <a:srgbClr val="2A8A80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9B2A9C94-EF8A-4406-9A3F-53DEABEC799A}"/>
              </a:ext>
            </a:extLst>
          </p:cNvPr>
          <p:cNvSpPr>
            <a:spLocks noGrp="1"/>
          </p:cNvSpPr>
          <p:nvPr/>
        </p:nvSpPr>
        <p:spPr>
          <a:xfrm>
            <a:off x="4179812" y="443295"/>
            <a:ext cx="16192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2400" b="1">
                <a:solidFill>
                  <a:srgbClr val="E7F1ED"/>
                </a:solidFill>
                <a:latin typeface="Aptos"/>
                <a:ea typeface="Aptos"/>
                <a:cs typeface="Aptos"/>
              </a:defRPr>
            </a:pPr>
            <a:r>
              <a:rPr sz="3200" dirty="0"/>
              <a:t>Ruppin Academic Center | Department of Computer Science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C3CC17CB-36A4-4401-A204-9A289617A422}"/>
              </a:ext>
            </a:extLst>
          </p:cNvPr>
          <p:cNvSpPr>
            <a:spLocks noGrp="1"/>
          </p:cNvSpPr>
          <p:nvPr/>
        </p:nvSpPr>
        <p:spPr>
          <a:xfrm>
            <a:off x="4179812" y="900495"/>
            <a:ext cx="1428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875" b="0">
                <a:solidFill>
                  <a:srgbClr val="C9DCE6"/>
                </a:solidFill>
                <a:latin typeface="Aptos"/>
                <a:ea typeface="Aptos"/>
                <a:cs typeface="Aptos"/>
              </a:defRPr>
            </a:pPr>
            <a:r>
              <a:rPr sz="2800" dirty="0"/>
              <a:t>Artificial Intelligence and Data Science Specialization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BCC7BB3B-708A-403B-B40A-14BE1B97FE6D}"/>
              </a:ext>
            </a:extLst>
          </p:cNvPr>
          <p:cNvSpPr>
            <a:spLocks noGrp="1"/>
          </p:cNvSpPr>
          <p:nvPr/>
        </p:nvSpPr>
        <p:spPr>
          <a:xfrm>
            <a:off x="4179812" y="1481520"/>
            <a:ext cx="2383155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4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0" dirty="0"/>
              <a:t>Predictive Modeling of Root-Zone Variables</a:t>
            </a:r>
            <a:r>
              <a:rPr lang="he-IL" sz="6000" dirty="0"/>
              <a:t> </a:t>
            </a:r>
            <a:r>
              <a:rPr sz="6000" dirty="0"/>
              <a:t>Using</a:t>
            </a:r>
            <a:r>
              <a:rPr lang="he-IL" sz="6000" dirty="0"/>
              <a:t> </a:t>
            </a:r>
            <a:br>
              <a:rPr lang="en-US" sz="6000" dirty="0"/>
            </a:br>
            <a:r>
              <a:rPr sz="6000" dirty="0"/>
              <a:t>Greenhouse Data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A2DD36F5-EC58-4566-8888-9587BBC36F10}"/>
              </a:ext>
            </a:extLst>
          </p:cNvPr>
          <p:cNvSpPr>
            <a:spLocks noGrp="1"/>
          </p:cNvSpPr>
          <p:nvPr/>
        </p:nvSpPr>
        <p:spPr>
          <a:xfrm>
            <a:off x="4217912" y="3361224"/>
            <a:ext cx="8096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875" b="1">
                <a:solidFill>
                  <a:srgbClr val="EDF6F3"/>
                </a:solidFill>
                <a:latin typeface="Aptos"/>
                <a:ea typeface="Aptos"/>
                <a:cs typeface="Aptos"/>
              </a:defRPr>
            </a:pPr>
            <a:r>
              <a:rPr sz="3600" dirty="0"/>
              <a:t>Students: Eden Eliyahu, Oren Chaushu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9BE5A0CF-B70B-47F4-A0C2-02DB31F120D7}"/>
              </a:ext>
            </a:extLst>
          </p:cNvPr>
          <p:cNvSpPr>
            <a:spLocks noGrp="1"/>
          </p:cNvSpPr>
          <p:nvPr/>
        </p:nvSpPr>
        <p:spPr>
          <a:xfrm>
            <a:off x="12733262" y="3361224"/>
            <a:ext cx="9429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875" b="1">
                <a:solidFill>
                  <a:srgbClr val="EDF6F3"/>
                </a:solidFill>
                <a:latin typeface="Aptos"/>
                <a:ea typeface="Aptos"/>
                <a:cs typeface="Aptos"/>
              </a:defRPr>
            </a:pPr>
            <a:r>
              <a:rPr lang="en-US" sz="3600" dirty="0"/>
              <a:t>Mentors</a:t>
            </a:r>
            <a:r>
              <a:rPr sz="3600" dirty="0"/>
              <a:t>: Dr. Avner Priel, Dr. Alaa Jamal</a:t>
            </a:r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BA81B9EA-E29C-4E9D-830B-9BCFD86850A6}"/>
              </a:ext>
            </a:extLst>
          </p:cNvPr>
          <p:cNvSpPr>
            <a:spLocks noGrp="1"/>
          </p:cNvSpPr>
          <p:nvPr/>
        </p:nvSpPr>
        <p:spPr>
          <a:xfrm flipH="1">
            <a:off x="7191750" y="5238750"/>
            <a:ext cx="66675" cy="30765750"/>
          </a:xfrm>
          <a:prstGeom prst="rect">
            <a:avLst/>
          </a:prstGeom>
          <a:solidFill>
            <a:srgbClr val="C9D5D8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A2BEE83D-E62C-4A81-9D27-D25E74B33E86}"/>
              </a:ext>
            </a:extLst>
          </p:cNvPr>
          <p:cNvSpPr>
            <a:spLocks noGrp="1"/>
          </p:cNvSpPr>
          <p:nvPr/>
        </p:nvSpPr>
        <p:spPr>
          <a:xfrm flipH="1">
            <a:off x="15741750" y="5238750"/>
            <a:ext cx="66675" cy="30765750"/>
          </a:xfrm>
          <a:prstGeom prst="rect">
            <a:avLst/>
          </a:prstGeom>
          <a:solidFill>
            <a:srgbClr val="C9D5D8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24" name="מלבן 23">
            <a:extLst>
              <a:ext uri="{FF2B5EF4-FFF2-40B4-BE49-F238E27FC236}">
                <a16:creationId xmlns:a16="http://schemas.microsoft.com/office/drawing/2014/main" id="{5E89FC35-0E22-46FC-A0E4-9D3A2700D38B}"/>
              </a:ext>
            </a:extLst>
          </p:cNvPr>
          <p:cNvSpPr>
            <a:spLocks noGrp="1"/>
          </p:cNvSpPr>
          <p:nvPr/>
        </p:nvSpPr>
        <p:spPr>
          <a:xfrm>
            <a:off x="1260088" y="5243513"/>
            <a:ext cx="5827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2700" b="1">
                <a:solidFill>
                  <a:srgbClr val="0B3557"/>
                </a:solidFill>
                <a:latin typeface="Aptos"/>
                <a:ea typeface="Aptos"/>
                <a:cs typeface="Aptos"/>
              </a:defRPr>
            </a:pPr>
            <a:r>
              <a:rPr lang="en-US" sz="3600" b="1">
                <a:solidFill>
                  <a:srgbClr val="073E60"/>
                </a:solidFill>
                <a:latin typeface="Aptos" panose="020B0004020202020204" pitchFamily="34" charset="0"/>
              </a:rPr>
              <a:t>Motivation</a:t>
            </a:r>
            <a:endParaRPr sz="3600" b="1" dirty="0">
              <a:solidFill>
                <a:srgbClr val="073E60"/>
              </a:solidFill>
              <a:latin typeface="Aptos" panose="020B0004020202020204" pitchFamily="34" charset="0"/>
            </a:endParaRPr>
          </a:p>
        </p:txBody>
      </p:sp>
      <p:sp>
        <p:nvSpPr>
          <p:cNvPr id="25" name="מלבן 24">
            <a:extLst>
              <a:ext uri="{FF2B5EF4-FFF2-40B4-BE49-F238E27FC236}">
                <a16:creationId xmlns:a16="http://schemas.microsoft.com/office/drawing/2014/main" id="{14B12E4A-06B1-4D07-B032-3FF789B7F425}"/>
              </a:ext>
            </a:extLst>
          </p:cNvPr>
          <p:cNvSpPr>
            <a:spLocks noGrp="1"/>
          </p:cNvSpPr>
          <p:nvPr/>
        </p:nvSpPr>
        <p:spPr>
          <a:xfrm>
            <a:off x="666750" y="5810250"/>
            <a:ext cx="6300000" cy="28575"/>
          </a:xfrm>
          <a:prstGeom prst="rect">
            <a:avLst/>
          </a:prstGeom>
          <a:solidFill>
            <a:srgbClr val="C9D5D8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26" name="מלבן 25">
            <a:extLst>
              <a:ext uri="{FF2B5EF4-FFF2-40B4-BE49-F238E27FC236}">
                <a16:creationId xmlns:a16="http://schemas.microsoft.com/office/drawing/2014/main" id="{741D44A5-5F79-46CF-A14B-20F3D7C2372E}"/>
              </a:ext>
            </a:extLst>
          </p:cNvPr>
          <p:cNvSpPr>
            <a:spLocks noGrp="1"/>
          </p:cNvSpPr>
          <p:nvPr/>
        </p:nvSpPr>
        <p:spPr>
          <a:xfrm>
            <a:off x="666750" y="6076950"/>
            <a:ext cx="6300000" cy="2476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457200" indent="-457200" algn="l">
              <a:buFont typeface="Arial" panose="020B0604020202020204" pitchFamily="34" charset="0"/>
              <a:buChar char="•"/>
              <a:defRPr sz="2025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Root-zone pH controls nutrient availability; EC reflects salinity and fertilizer concentration.</a:t>
            </a:r>
            <a:endParaRPr lang="he-IL" sz="2400" dirty="0"/>
          </a:p>
          <a:p>
            <a:pPr marL="457200" indent="-457200" algn="l">
              <a:buFont typeface="Arial" panose="020B0604020202020204" pitchFamily="34" charset="0"/>
              <a:buChar char="•"/>
              <a:defRPr sz="2025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Manual lab measurements are reliable, but sparse and reactive.</a:t>
            </a:r>
            <a:endParaRPr lang="he-IL" sz="2400" dirty="0"/>
          </a:p>
          <a:p>
            <a:pPr marL="457200" indent="-457200" algn="l">
              <a:buFont typeface="Arial" panose="020B0604020202020204" pitchFamily="34" charset="0"/>
              <a:buChar char="•"/>
              <a:defRPr sz="2025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Continuous sensors can drift, need calibration, and may not represent the whole root zone.</a:t>
            </a:r>
          </a:p>
        </p:txBody>
      </p:sp>
      <p:sp>
        <p:nvSpPr>
          <p:cNvPr id="28" name="מלבן 27">
            <a:extLst>
              <a:ext uri="{FF2B5EF4-FFF2-40B4-BE49-F238E27FC236}">
                <a16:creationId xmlns:a16="http://schemas.microsoft.com/office/drawing/2014/main" id="{ACD2941F-8B1E-47F7-BBEA-C08F32B9195D}"/>
              </a:ext>
            </a:extLst>
          </p:cNvPr>
          <p:cNvSpPr>
            <a:spLocks noGrp="1"/>
          </p:cNvSpPr>
          <p:nvPr/>
        </p:nvSpPr>
        <p:spPr>
          <a:xfrm>
            <a:off x="1260088" y="9373331"/>
            <a:ext cx="5827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2700" b="1">
                <a:solidFill>
                  <a:srgbClr val="0B3557"/>
                </a:solidFill>
                <a:latin typeface="Aptos"/>
                <a:ea typeface="Aptos"/>
                <a:cs typeface="Aptos"/>
              </a:defRPr>
            </a:pPr>
            <a:r>
              <a:rPr lang="en-US" sz="3600" b="1">
                <a:solidFill>
                  <a:srgbClr val="073E60"/>
                </a:solidFill>
                <a:latin typeface="Aptos" panose="020B0004020202020204" pitchFamily="34" charset="0"/>
              </a:rPr>
              <a:t>Project Goal</a:t>
            </a:r>
            <a:endParaRPr sz="3600" b="1" dirty="0">
              <a:solidFill>
                <a:srgbClr val="073E60"/>
              </a:solidFill>
              <a:latin typeface="Aptos" panose="020B0004020202020204" pitchFamily="34" charset="0"/>
            </a:endParaRPr>
          </a:p>
        </p:txBody>
      </p:sp>
      <p:sp>
        <p:nvSpPr>
          <p:cNvPr id="29" name="מלבן 28">
            <a:extLst>
              <a:ext uri="{FF2B5EF4-FFF2-40B4-BE49-F238E27FC236}">
                <a16:creationId xmlns:a16="http://schemas.microsoft.com/office/drawing/2014/main" id="{38B9B7DE-D7BE-4C9C-806C-CDC3EB02783C}"/>
              </a:ext>
            </a:extLst>
          </p:cNvPr>
          <p:cNvSpPr>
            <a:spLocks noGrp="1"/>
          </p:cNvSpPr>
          <p:nvPr/>
        </p:nvSpPr>
        <p:spPr>
          <a:xfrm>
            <a:off x="666750" y="9923582"/>
            <a:ext cx="6300000" cy="28575"/>
          </a:xfrm>
          <a:prstGeom prst="rect">
            <a:avLst/>
          </a:prstGeom>
          <a:solidFill>
            <a:srgbClr val="C9D5D8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31" name="מלבן 30">
            <a:extLst>
              <a:ext uri="{FF2B5EF4-FFF2-40B4-BE49-F238E27FC236}">
                <a16:creationId xmlns:a16="http://schemas.microsoft.com/office/drawing/2014/main" id="{4EA6E98F-91CA-45B6-A23C-67470BAEA750}"/>
              </a:ext>
            </a:extLst>
          </p:cNvPr>
          <p:cNvSpPr>
            <a:spLocks noGrp="1"/>
          </p:cNvSpPr>
          <p:nvPr/>
        </p:nvSpPr>
        <p:spPr>
          <a:xfrm>
            <a:off x="887250" y="10287731"/>
            <a:ext cx="58590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>
              <a:defRPr sz="2250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lang="en-US" sz="2400" dirty="0"/>
              <a:t>Develop a machine-learning soft sensor that predicts root-zone pH and EC to support timely irrigation and fertigation decisions, maintain optimal root-zone conditions, and prevent salinity or pH imbalance.</a:t>
            </a:r>
          </a:p>
        </p:txBody>
      </p:sp>
      <p:sp>
        <p:nvSpPr>
          <p:cNvPr id="33" name="מלבן 32">
            <a:extLst>
              <a:ext uri="{FF2B5EF4-FFF2-40B4-BE49-F238E27FC236}">
                <a16:creationId xmlns:a16="http://schemas.microsoft.com/office/drawing/2014/main" id="{5C4E89D1-F1E9-40DD-A80D-468605786C63}"/>
              </a:ext>
            </a:extLst>
          </p:cNvPr>
          <p:cNvSpPr>
            <a:spLocks noGrp="1"/>
          </p:cNvSpPr>
          <p:nvPr/>
        </p:nvSpPr>
        <p:spPr>
          <a:xfrm>
            <a:off x="1216800" y="24550949"/>
            <a:ext cx="5976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2700" b="1">
                <a:solidFill>
                  <a:srgbClr val="0B3557"/>
                </a:solidFill>
                <a:latin typeface="Aptos"/>
                <a:ea typeface="Aptos"/>
                <a:cs typeface="Aptos"/>
              </a:defRPr>
            </a:pPr>
            <a:r>
              <a:rPr lang="en-US" sz="3600" b="1" dirty="0">
                <a:solidFill>
                  <a:srgbClr val="073E60"/>
                </a:solidFill>
                <a:latin typeface="Aptos" panose="020B0004020202020204" pitchFamily="34" charset="0"/>
              </a:rPr>
              <a:t>Algorithms &amp; Model Choice</a:t>
            </a:r>
            <a:endParaRPr sz="3600" b="1" dirty="0">
              <a:solidFill>
                <a:srgbClr val="073E60"/>
              </a:solidFill>
              <a:latin typeface="Aptos" panose="020B0004020202020204" pitchFamily="34" charset="0"/>
            </a:endParaRPr>
          </a:p>
        </p:txBody>
      </p:sp>
      <p:sp>
        <p:nvSpPr>
          <p:cNvPr id="34" name="מלבן 33">
            <a:extLst>
              <a:ext uri="{FF2B5EF4-FFF2-40B4-BE49-F238E27FC236}">
                <a16:creationId xmlns:a16="http://schemas.microsoft.com/office/drawing/2014/main" id="{CF586515-0DB5-47CB-8D0A-0ADC9D803331}"/>
              </a:ext>
            </a:extLst>
          </p:cNvPr>
          <p:cNvSpPr>
            <a:spLocks noGrp="1"/>
          </p:cNvSpPr>
          <p:nvPr/>
        </p:nvSpPr>
        <p:spPr>
          <a:xfrm>
            <a:off x="666750" y="25109550"/>
            <a:ext cx="6300000" cy="28575"/>
          </a:xfrm>
          <a:prstGeom prst="rect">
            <a:avLst/>
          </a:prstGeom>
          <a:solidFill>
            <a:srgbClr val="C9D5D8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51" name="אליפסה 50">
            <a:extLst>
              <a:ext uri="{FF2B5EF4-FFF2-40B4-BE49-F238E27FC236}">
                <a16:creationId xmlns:a16="http://schemas.microsoft.com/office/drawing/2014/main" id="{C41956FE-D518-4463-9926-7171EBF0D275}"/>
              </a:ext>
            </a:extLst>
          </p:cNvPr>
          <p:cNvSpPr>
            <a:spLocks noGrp="1"/>
          </p:cNvSpPr>
          <p:nvPr/>
        </p:nvSpPr>
        <p:spPr>
          <a:xfrm>
            <a:off x="7416000" y="5276400"/>
            <a:ext cx="460800" cy="460800"/>
          </a:xfrm>
          <a:prstGeom prst="ellipse">
            <a:avLst/>
          </a:prstGeom>
          <a:solidFill>
            <a:srgbClr val="0B3557"/>
          </a:solidFill>
          <a:ln w="9525">
            <a:solidFill>
              <a:srgbClr val="0B3557"/>
            </a:solidFill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chemeClr val="bg1"/>
                </a:solidFill>
                <a:latin typeface="Aptos" panose="020B0004020202020204" pitchFamily="34" charset="0"/>
              </a:rPr>
              <a:t>05</a:t>
            </a:r>
            <a:endParaRPr sz="20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2" name="מלבן 51">
            <a:extLst>
              <a:ext uri="{FF2B5EF4-FFF2-40B4-BE49-F238E27FC236}">
                <a16:creationId xmlns:a16="http://schemas.microsoft.com/office/drawing/2014/main" id="{07B0EB20-ABA2-4AAD-8A42-3FDE9F56F908}"/>
              </a:ext>
            </a:extLst>
          </p:cNvPr>
          <p:cNvSpPr>
            <a:spLocks noGrp="1"/>
          </p:cNvSpPr>
          <p:nvPr/>
        </p:nvSpPr>
        <p:spPr>
          <a:xfrm>
            <a:off x="8024250" y="5257800"/>
            <a:ext cx="7492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2700" b="1">
                <a:solidFill>
                  <a:srgbClr val="0B3557"/>
                </a:solidFill>
                <a:latin typeface="Aptos"/>
                <a:ea typeface="Aptos"/>
                <a:cs typeface="Aptos"/>
              </a:defRPr>
            </a:pPr>
            <a:r>
              <a:rPr lang="en-US" sz="3600" b="1" dirty="0">
                <a:solidFill>
                  <a:srgbClr val="073E60"/>
                </a:solidFill>
                <a:latin typeface="Aptos" panose="020B0004020202020204" pitchFamily="34" charset="0"/>
              </a:rPr>
              <a:t>Method</a:t>
            </a:r>
            <a:endParaRPr sz="3600" b="1" dirty="0">
              <a:solidFill>
                <a:srgbClr val="073E60"/>
              </a:solidFill>
              <a:latin typeface="Aptos" panose="020B0004020202020204" pitchFamily="34" charset="0"/>
            </a:endParaRPr>
          </a:p>
        </p:txBody>
      </p:sp>
      <p:sp>
        <p:nvSpPr>
          <p:cNvPr id="53" name="מלבן 52">
            <a:extLst>
              <a:ext uri="{FF2B5EF4-FFF2-40B4-BE49-F238E27FC236}">
                <a16:creationId xmlns:a16="http://schemas.microsoft.com/office/drawing/2014/main" id="{D85E2508-C83D-4EF2-A5E7-F0A81D1580D0}"/>
              </a:ext>
            </a:extLst>
          </p:cNvPr>
          <p:cNvSpPr>
            <a:spLocks noGrp="1"/>
          </p:cNvSpPr>
          <p:nvPr/>
        </p:nvSpPr>
        <p:spPr>
          <a:xfrm>
            <a:off x="7416750" y="5810250"/>
            <a:ext cx="8100000" cy="28575"/>
          </a:xfrm>
          <a:prstGeom prst="rect">
            <a:avLst/>
          </a:prstGeom>
          <a:solidFill>
            <a:srgbClr val="C9D5D8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54" name="מלבן 53">
            <a:extLst>
              <a:ext uri="{FF2B5EF4-FFF2-40B4-BE49-F238E27FC236}">
                <a16:creationId xmlns:a16="http://schemas.microsoft.com/office/drawing/2014/main" id="{141F5A7A-B1D0-4CE4-8CAB-D36BDD6B740E}"/>
              </a:ext>
            </a:extLst>
          </p:cNvPr>
          <p:cNvSpPr>
            <a:spLocks noGrp="1"/>
          </p:cNvSpPr>
          <p:nvPr/>
        </p:nvSpPr>
        <p:spPr>
          <a:xfrm>
            <a:off x="7416750" y="6076950"/>
            <a:ext cx="8100000" cy="2266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342900" indent="-342900" algn="l">
              <a:buSzPct val="85000"/>
              <a:buFont typeface="Arial" panose="020B0604020202020204" pitchFamily="34" charset="0"/>
              <a:buChar char="•"/>
              <a:defRPr sz="2025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1B2934"/>
                </a:solidFill>
                <a:latin typeface="Aptos" panose="020B0004020202020204" pitchFamily="34" charset="0"/>
              </a:rPr>
              <a:t>Stage 1: </a:t>
            </a:r>
            <a:r>
              <a:rPr lang="en-US" sz="2400" dirty="0" err="1">
                <a:solidFill>
                  <a:srgbClr val="1B2934"/>
                </a:solidFill>
                <a:latin typeface="Aptos" panose="020B0004020202020204" pitchFamily="34" charset="0"/>
              </a:rPr>
              <a:t>LightGBM</a:t>
            </a:r>
            <a:r>
              <a:rPr lang="en-US" sz="2400" dirty="0">
                <a:solidFill>
                  <a:srgbClr val="1B2934"/>
                </a:solidFill>
                <a:latin typeface="Aptos" panose="020B0004020202020204" pitchFamily="34" charset="0"/>
              </a:rPr>
              <a:t> predicts greenhouse micro-climate from external weather and radiation.</a:t>
            </a:r>
          </a:p>
          <a:p>
            <a:pPr marL="342900" indent="-342900" algn="l">
              <a:buSzPct val="85000"/>
              <a:buFont typeface="Arial" panose="020B0604020202020204" pitchFamily="34" charset="0"/>
              <a:buChar char="•"/>
              <a:defRPr sz="2025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1B2934"/>
                </a:solidFill>
                <a:latin typeface="Aptos" panose="020B0004020202020204" pitchFamily="34" charset="0"/>
              </a:rPr>
              <a:t>Stage 2: XGBoost and Huber regression predict future root-zone pH and EC from anchor measurements.</a:t>
            </a:r>
          </a:p>
          <a:p>
            <a:pPr marL="342900" indent="-342900" algn="l">
              <a:buSzPct val="85000"/>
              <a:buFont typeface="Arial" panose="020B0604020202020204" pitchFamily="34" charset="0"/>
              <a:buChar char="•"/>
              <a:defRPr sz="2025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1B2934"/>
                </a:solidFill>
                <a:latin typeface="Aptos" panose="020B0004020202020204" pitchFamily="34" charset="0"/>
              </a:rPr>
              <a:t>The model learns interval change from t0 to t1 instead of treating every timestamp as a label.</a:t>
            </a:r>
            <a:endParaRPr sz="2400" dirty="0">
              <a:solidFill>
                <a:srgbClr val="1B2934"/>
              </a:solidFill>
              <a:latin typeface="Aptos" panose="020B0004020202020204" pitchFamily="34" charset="0"/>
            </a:endParaRPr>
          </a:p>
        </p:txBody>
      </p:sp>
      <p:sp>
        <p:nvSpPr>
          <p:cNvPr id="55" name="מלבן: פינות מעוגלות 54">
            <a:extLst>
              <a:ext uri="{FF2B5EF4-FFF2-40B4-BE49-F238E27FC236}">
                <a16:creationId xmlns:a16="http://schemas.microsoft.com/office/drawing/2014/main" id="{14259530-09D0-4508-A744-4AACB8AA2B89}"/>
              </a:ext>
            </a:extLst>
          </p:cNvPr>
          <p:cNvSpPr>
            <a:spLocks noGrp="1"/>
          </p:cNvSpPr>
          <p:nvPr/>
        </p:nvSpPr>
        <p:spPr>
          <a:xfrm>
            <a:off x="7416750" y="8620125"/>
            <a:ext cx="8100000" cy="49530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0160">
            <a:solidFill>
              <a:srgbClr val="849294"/>
            </a:solidFill>
          </a:ln>
        </p:spPr>
        <p:txBody>
          <a:bodyPr/>
          <a:lstStyle/>
          <a:p>
            <a:endParaRPr lang="he-IL" dirty="0"/>
          </a:p>
        </p:txBody>
      </p:sp>
      <p:sp>
        <p:nvSpPr>
          <p:cNvPr id="66" name="מלבן 65">
            <a:extLst>
              <a:ext uri="{FF2B5EF4-FFF2-40B4-BE49-F238E27FC236}">
                <a16:creationId xmlns:a16="http://schemas.microsoft.com/office/drawing/2014/main" id="{23EF5210-1567-49E3-89D0-F8C99E6CC2EA}"/>
              </a:ext>
            </a:extLst>
          </p:cNvPr>
          <p:cNvSpPr>
            <a:spLocks noGrp="1"/>
          </p:cNvSpPr>
          <p:nvPr/>
        </p:nvSpPr>
        <p:spPr>
          <a:xfrm>
            <a:off x="9320250" y="10563225"/>
            <a:ext cx="425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2025" b="1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endParaRPr dirty="0"/>
          </a:p>
        </p:txBody>
      </p:sp>
      <p:sp>
        <p:nvSpPr>
          <p:cNvPr id="82" name="אליפסה 81">
            <a:extLst>
              <a:ext uri="{FF2B5EF4-FFF2-40B4-BE49-F238E27FC236}">
                <a16:creationId xmlns:a16="http://schemas.microsoft.com/office/drawing/2014/main" id="{AEA9C91C-9EA6-4B1A-A8D8-E9B16D7FA20F}"/>
              </a:ext>
            </a:extLst>
          </p:cNvPr>
          <p:cNvSpPr>
            <a:spLocks noGrp="1"/>
          </p:cNvSpPr>
          <p:nvPr/>
        </p:nvSpPr>
        <p:spPr>
          <a:xfrm>
            <a:off x="7416000" y="21820975"/>
            <a:ext cx="460800" cy="460800"/>
          </a:xfrm>
          <a:prstGeom prst="ellipse">
            <a:avLst/>
          </a:prstGeom>
          <a:solidFill>
            <a:srgbClr val="0B3557"/>
          </a:solidFill>
          <a:ln w="9525">
            <a:solidFill>
              <a:srgbClr val="0B3557"/>
            </a:solidFill>
          </a:ln>
        </p:spPr>
        <p:txBody>
          <a:bodyPr lIns="0" tIns="0" rIns="0" bIns="0" anchor="ctr"/>
          <a:lstStyle/>
          <a:p>
            <a:pPr algn="ctr"/>
            <a:r>
              <a:rPr sz="2000" b="1" dirty="0">
                <a:solidFill>
                  <a:schemeClr val="bg1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83" name="מלבן 82">
            <a:extLst>
              <a:ext uri="{FF2B5EF4-FFF2-40B4-BE49-F238E27FC236}">
                <a16:creationId xmlns:a16="http://schemas.microsoft.com/office/drawing/2014/main" id="{A6FEDDA5-B135-4C04-8AF0-9EB0E58126CA}"/>
              </a:ext>
            </a:extLst>
          </p:cNvPr>
          <p:cNvSpPr>
            <a:spLocks noGrp="1"/>
          </p:cNvSpPr>
          <p:nvPr/>
        </p:nvSpPr>
        <p:spPr>
          <a:xfrm>
            <a:off x="8024250" y="21802375"/>
            <a:ext cx="74916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r>
              <a:rPr lang="en-US" sz="3600" b="1">
                <a:solidFill>
                  <a:srgbClr val="073E60"/>
                </a:solidFill>
                <a:latin typeface="Aptos" panose="020B0004020202020204" pitchFamily="34" charset="0"/>
              </a:rPr>
              <a:t>Micro-Climate Model</a:t>
            </a:r>
            <a:endParaRPr sz="3600" b="1" dirty="0">
              <a:solidFill>
                <a:srgbClr val="073E60"/>
              </a:solidFill>
              <a:latin typeface="Aptos" panose="020B0004020202020204" pitchFamily="34" charset="0"/>
            </a:endParaRPr>
          </a:p>
        </p:txBody>
      </p:sp>
      <p:sp>
        <p:nvSpPr>
          <p:cNvPr id="84" name="מלבן 83">
            <a:extLst>
              <a:ext uri="{FF2B5EF4-FFF2-40B4-BE49-F238E27FC236}">
                <a16:creationId xmlns:a16="http://schemas.microsoft.com/office/drawing/2014/main" id="{8BC6F9C4-7901-4810-BEB2-44CBD76FCC2F}"/>
              </a:ext>
            </a:extLst>
          </p:cNvPr>
          <p:cNvSpPr>
            <a:spLocks noGrp="1"/>
          </p:cNvSpPr>
          <p:nvPr/>
        </p:nvSpPr>
        <p:spPr>
          <a:xfrm>
            <a:off x="7416750" y="22378271"/>
            <a:ext cx="8100000" cy="28575"/>
          </a:xfrm>
          <a:prstGeom prst="rect">
            <a:avLst/>
          </a:prstGeom>
          <a:solidFill>
            <a:srgbClr val="C9D5D8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85" name="מלבן: פינות מעוגלות 84">
            <a:extLst>
              <a:ext uri="{FF2B5EF4-FFF2-40B4-BE49-F238E27FC236}">
                <a16:creationId xmlns:a16="http://schemas.microsoft.com/office/drawing/2014/main" id="{D52A26CD-B7DD-4AEA-BA4E-D64E01F85A6F}"/>
              </a:ext>
            </a:extLst>
          </p:cNvPr>
          <p:cNvSpPr>
            <a:spLocks noGrp="1"/>
          </p:cNvSpPr>
          <p:nvPr/>
        </p:nvSpPr>
        <p:spPr>
          <a:xfrm>
            <a:off x="7416750" y="25298360"/>
            <a:ext cx="8100000" cy="9829840"/>
          </a:xfrm>
          <a:prstGeom prst="roundRect">
            <a:avLst>
              <a:gd name="adj" fmla="val 1648"/>
            </a:avLst>
          </a:prstGeom>
          <a:solidFill>
            <a:srgbClr val="FFFFFF"/>
          </a:solidFill>
          <a:ln w="10160">
            <a:solidFill>
              <a:srgbClr val="849294"/>
            </a:solidFill>
          </a:ln>
        </p:spPr>
        <p:txBody>
          <a:bodyPr/>
          <a:lstStyle/>
          <a:p>
            <a:endParaRPr lang="he-IL" dirty="0"/>
          </a:p>
        </p:txBody>
      </p:sp>
      <p:sp>
        <p:nvSpPr>
          <p:cNvPr id="91" name="אליפסה 90">
            <a:extLst>
              <a:ext uri="{FF2B5EF4-FFF2-40B4-BE49-F238E27FC236}">
                <a16:creationId xmlns:a16="http://schemas.microsoft.com/office/drawing/2014/main" id="{945C478D-468F-419B-BEFE-5FCADCC3011B}"/>
              </a:ext>
            </a:extLst>
          </p:cNvPr>
          <p:cNvSpPr>
            <a:spLocks noGrp="1"/>
          </p:cNvSpPr>
          <p:nvPr/>
        </p:nvSpPr>
        <p:spPr>
          <a:xfrm>
            <a:off x="7416000" y="14182275"/>
            <a:ext cx="460800" cy="460800"/>
          </a:xfrm>
          <a:prstGeom prst="ellipse">
            <a:avLst/>
          </a:prstGeom>
          <a:solidFill>
            <a:srgbClr val="0B3557"/>
          </a:solidFill>
          <a:ln w="9525">
            <a:solidFill>
              <a:srgbClr val="0B3557"/>
            </a:solidFill>
          </a:ln>
        </p:spPr>
        <p:txBody>
          <a:bodyPr lIns="0" tIns="0" rIns="0" bIns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92" name="מלבן 91">
            <a:extLst>
              <a:ext uri="{FF2B5EF4-FFF2-40B4-BE49-F238E27FC236}">
                <a16:creationId xmlns:a16="http://schemas.microsoft.com/office/drawing/2014/main" id="{A19079AE-8BC6-410C-815E-4BEE7C9FF766}"/>
              </a:ext>
            </a:extLst>
          </p:cNvPr>
          <p:cNvSpPr>
            <a:spLocks noGrp="1"/>
          </p:cNvSpPr>
          <p:nvPr/>
        </p:nvSpPr>
        <p:spPr>
          <a:xfrm>
            <a:off x="8024250" y="14163675"/>
            <a:ext cx="7492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r>
              <a:rPr lang="en-US" sz="2800" b="1" dirty="0">
                <a:solidFill>
                  <a:srgbClr val="073E60"/>
                </a:solidFill>
                <a:latin typeface="Aptos" panose="020B0004020202020204" pitchFamily="34" charset="0"/>
              </a:rPr>
              <a:t>Validation Strategy</a:t>
            </a:r>
            <a:endParaRPr sz="2800" b="1" dirty="0">
              <a:solidFill>
                <a:srgbClr val="073E60"/>
              </a:solidFill>
              <a:latin typeface="Aptos" panose="020B0004020202020204" pitchFamily="34" charset="0"/>
            </a:endParaRPr>
          </a:p>
        </p:txBody>
      </p:sp>
      <p:sp>
        <p:nvSpPr>
          <p:cNvPr id="93" name="מלבן 92">
            <a:extLst>
              <a:ext uri="{FF2B5EF4-FFF2-40B4-BE49-F238E27FC236}">
                <a16:creationId xmlns:a16="http://schemas.microsoft.com/office/drawing/2014/main" id="{18A435DD-8821-42A6-ADB4-83BBEF1542D0}"/>
              </a:ext>
            </a:extLst>
          </p:cNvPr>
          <p:cNvSpPr>
            <a:spLocks noGrp="1"/>
          </p:cNvSpPr>
          <p:nvPr/>
        </p:nvSpPr>
        <p:spPr>
          <a:xfrm>
            <a:off x="7416750" y="14716125"/>
            <a:ext cx="8100000" cy="28575"/>
          </a:xfrm>
          <a:prstGeom prst="rect">
            <a:avLst/>
          </a:prstGeom>
          <a:solidFill>
            <a:srgbClr val="C9D5D8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94" name="מלבן 93">
            <a:extLst>
              <a:ext uri="{FF2B5EF4-FFF2-40B4-BE49-F238E27FC236}">
                <a16:creationId xmlns:a16="http://schemas.microsoft.com/office/drawing/2014/main" id="{9CF39BF1-A5E2-4B34-9D3D-174558E5956E}"/>
              </a:ext>
            </a:extLst>
          </p:cNvPr>
          <p:cNvSpPr>
            <a:spLocks noGrp="1"/>
          </p:cNvSpPr>
          <p:nvPr/>
        </p:nvSpPr>
        <p:spPr>
          <a:xfrm>
            <a:off x="7416750" y="14910435"/>
            <a:ext cx="8100000" cy="17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1875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Walk-forward validation: train only on past observations and predict future samples.</a:t>
            </a:r>
            <a:endParaRPr lang="he-IL" sz="2400" dirty="0"/>
          </a:p>
          <a:p>
            <a:pPr marL="342900" indent="-342900" algn="l">
              <a:buFont typeface="Arial" panose="020B0604020202020204" pitchFamily="34" charset="0"/>
              <a:buChar char="•"/>
              <a:defRPr sz="1875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Skipped-interval holdout: remove selected target intervals from training and predict them later.</a:t>
            </a:r>
            <a:endParaRPr lang="he-IL" sz="2400" dirty="0"/>
          </a:p>
          <a:p>
            <a:pPr marL="342900" indent="-342900" algn="l">
              <a:buFont typeface="Arial" panose="020B0604020202020204" pitchFamily="34" charset="0"/>
              <a:buChar char="•"/>
              <a:defRPr sz="1875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dirty="0"/>
              <a:t>Metrics are interpreted per target: pH and EC mS/cm</a:t>
            </a:r>
          </a:p>
        </p:txBody>
      </p:sp>
      <p:sp>
        <p:nvSpPr>
          <p:cNvPr id="95" name="מלבן: פינות מעוגלות 94">
            <a:extLst>
              <a:ext uri="{FF2B5EF4-FFF2-40B4-BE49-F238E27FC236}">
                <a16:creationId xmlns:a16="http://schemas.microsoft.com/office/drawing/2014/main" id="{188E1650-EA89-4429-A9A7-5072A88AAE1D}"/>
              </a:ext>
            </a:extLst>
          </p:cNvPr>
          <p:cNvSpPr>
            <a:spLocks noGrp="1"/>
          </p:cNvSpPr>
          <p:nvPr/>
        </p:nvSpPr>
        <p:spPr>
          <a:xfrm>
            <a:off x="7416750" y="17090500"/>
            <a:ext cx="8100000" cy="42000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0160">
            <a:solidFill>
              <a:srgbClr val="849294"/>
            </a:solidFill>
          </a:ln>
        </p:spPr>
        <p:txBody>
          <a:bodyPr/>
          <a:lstStyle/>
          <a:p>
            <a:endParaRPr lang="he-IL" dirty="0"/>
          </a:p>
        </p:txBody>
      </p:sp>
      <p:sp>
        <p:nvSpPr>
          <p:cNvPr id="98" name="אליפסה 97">
            <a:extLst>
              <a:ext uri="{FF2B5EF4-FFF2-40B4-BE49-F238E27FC236}">
                <a16:creationId xmlns:a16="http://schemas.microsoft.com/office/drawing/2014/main" id="{8F39A0B2-DBEB-4993-B412-7B7236E52878}"/>
              </a:ext>
            </a:extLst>
          </p:cNvPr>
          <p:cNvSpPr>
            <a:spLocks noGrp="1"/>
          </p:cNvSpPr>
          <p:nvPr/>
        </p:nvSpPr>
        <p:spPr>
          <a:xfrm>
            <a:off x="15966000" y="5276400"/>
            <a:ext cx="460800" cy="460800"/>
          </a:xfrm>
          <a:prstGeom prst="ellipse">
            <a:avLst/>
          </a:prstGeom>
          <a:solidFill>
            <a:srgbClr val="0B3557"/>
          </a:solidFill>
          <a:ln w="9525">
            <a:solidFill>
              <a:srgbClr val="0B3557"/>
            </a:solidFill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chemeClr val="bg1"/>
                </a:solidFill>
                <a:latin typeface="Aptos" panose="020B0004020202020204" pitchFamily="34" charset="0"/>
              </a:rPr>
              <a:t>08</a:t>
            </a:r>
            <a:endParaRPr sz="20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99" name="מלבן 98">
            <a:extLst>
              <a:ext uri="{FF2B5EF4-FFF2-40B4-BE49-F238E27FC236}">
                <a16:creationId xmlns:a16="http://schemas.microsoft.com/office/drawing/2014/main" id="{1A31CCA6-B54A-4BA5-9AB7-D123C00C7875}"/>
              </a:ext>
            </a:extLst>
          </p:cNvPr>
          <p:cNvSpPr>
            <a:spLocks noGrp="1"/>
          </p:cNvSpPr>
          <p:nvPr/>
        </p:nvSpPr>
        <p:spPr>
          <a:xfrm>
            <a:off x="16608000" y="5257800"/>
            <a:ext cx="7908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2700" b="1">
                <a:solidFill>
                  <a:srgbClr val="0B3557"/>
                </a:solidFill>
                <a:latin typeface="Aptos"/>
                <a:ea typeface="Aptos"/>
                <a:cs typeface="Aptos"/>
              </a:defRPr>
            </a:pPr>
            <a:r>
              <a:rPr lang="en-US" sz="3600" b="1">
                <a:solidFill>
                  <a:srgbClr val="073E60"/>
                </a:solidFill>
                <a:latin typeface="Aptos" panose="020B0004020202020204" pitchFamily="34" charset="0"/>
              </a:rPr>
              <a:t>Key Results</a:t>
            </a:r>
            <a:endParaRPr sz="3600" b="1" dirty="0">
              <a:solidFill>
                <a:srgbClr val="073E60"/>
              </a:solidFill>
              <a:latin typeface="Aptos" panose="020B0004020202020204" pitchFamily="34" charset="0"/>
            </a:endParaRPr>
          </a:p>
        </p:txBody>
      </p:sp>
      <p:sp>
        <p:nvSpPr>
          <p:cNvPr id="100" name="מלבן 99">
            <a:extLst>
              <a:ext uri="{FF2B5EF4-FFF2-40B4-BE49-F238E27FC236}">
                <a16:creationId xmlns:a16="http://schemas.microsoft.com/office/drawing/2014/main" id="{3707DE44-60C7-4231-910C-A7128819F78E}"/>
              </a:ext>
            </a:extLst>
          </p:cNvPr>
          <p:cNvSpPr>
            <a:spLocks noGrp="1"/>
          </p:cNvSpPr>
          <p:nvPr/>
        </p:nvSpPr>
        <p:spPr>
          <a:xfrm>
            <a:off x="15966750" y="5810250"/>
            <a:ext cx="8550000" cy="28575"/>
          </a:xfrm>
          <a:prstGeom prst="rect">
            <a:avLst/>
          </a:prstGeom>
          <a:solidFill>
            <a:srgbClr val="C9D5D8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101" name="מלבן: פינות מעוגלות 100">
            <a:extLst>
              <a:ext uri="{FF2B5EF4-FFF2-40B4-BE49-F238E27FC236}">
                <a16:creationId xmlns:a16="http://schemas.microsoft.com/office/drawing/2014/main" id="{898B053B-5DE3-4C1A-90E5-1349F308F54A}"/>
              </a:ext>
            </a:extLst>
          </p:cNvPr>
          <p:cNvSpPr>
            <a:spLocks noGrp="1"/>
          </p:cNvSpPr>
          <p:nvPr/>
        </p:nvSpPr>
        <p:spPr>
          <a:xfrm>
            <a:off x="15966750" y="6076950"/>
            <a:ext cx="2618438" cy="1581150"/>
          </a:xfrm>
          <a:prstGeom prst="roundRect">
            <a:avLst>
              <a:gd name="adj" fmla="val 4819"/>
            </a:avLst>
          </a:prstGeom>
          <a:solidFill>
            <a:srgbClr val="FFFDF7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102" name="מלבן 101">
            <a:extLst>
              <a:ext uri="{FF2B5EF4-FFF2-40B4-BE49-F238E27FC236}">
                <a16:creationId xmlns:a16="http://schemas.microsoft.com/office/drawing/2014/main" id="{56CA182B-473F-45FC-AA71-DE196CD56B9B}"/>
              </a:ext>
            </a:extLst>
          </p:cNvPr>
          <p:cNvSpPr>
            <a:spLocks noGrp="1"/>
          </p:cNvSpPr>
          <p:nvPr/>
        </p:nvSpPr>
        <p:spPr>
          <a:xfrm>
            <a:off x="16201750" y="6246950"/>
            <a:ext cx="2148438" cy="5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3750" b="1">
                <a:solidFill>
                  <a:srgbClr val="2A8A80"/>
                </a:solidFill>
                <a:latin typeface="Aptos"/>
                <a:ea typeface="Aptos"/>
                <a:cs typeface="Aptos"/>
              </a:defRPr>
            </a:pPr>
            <a:r>
              <a:rPr sz="3750" b="1" dirty="0">
                <a:solidFill>
                  <a:srgbClr val="2A8A80"/>
                </a:solidFill>
                <a:latin typeface="Aptos"/>
              </a:rPr>
              <a:t>0.33</a:t>
            </a:r>
          </a:p>
        </p:txBody>
      </p:sp>
      <p:sp>
        <p:nvSpPr>
          <p:cNvPr id="103" name="מלבן 102">
            <a:extLst>
              <a:ext uri="{FF2B5EF4-FFF2-40B4-BE49-F238E27FC236}">
                <a16:creationId xmlns:a16="http://schemas.microsoft.com/office/drawing/2014/main" id="{739A4054-3A29-4FD9-8315-2DF570B0D010}"/>
              </a:ext>
            </a:extLst>
          </p:cNvPr>
          <p:cNvSpPr>
            <a:spLocks noGrp="1"/>
          </p:cNvSpPr>
          <p:nvPr/>
        </p:nvSpPr>
        <p:spPr>
          <a:xfrm>
            <a:off x="16201750" y="6826950"/>
            <a:ext cx="2148438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1650" b="1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b="1" dirty="0">
                <a:solidFill>
                  <a:srgbClr val="1C2A33"/>
                </a:solidFill>
                <a:latin typeface="Aptos"/>
              </a:rPr>
              <a:t>pH MAE</a:t>
            </a:r>
          </a:p>
        </p:txBody>
      </p:sp>
      <p:sp>
        <p:nvSpPr>
          <p:cNvPr id="105" name="מלבן: פינות מעוגלות 104">
            <a:extLst>
              <a:ext uri="{FF2B5EF4-FFF2-40B4-BE49-F238E27FC236}">
                <a16:creationId xmlns:a16="http://schemas.microsoft.com/office/drawing/2014/main" id="{A577EAE8-0E0E-4D2B-BF74-F5F846A7B417}"/>
              </a:ext>
            </a:extLst>
          </p:cNvPr>
          <p:cNvSpPr>
            <a:spLocks noGrp="1"/>
          </p:cNvSpPr>
          <p:nvPr/>
        </p:nvSpPr>
        <p:spPr>
          <a:xfrm>
            <a:off x="18927188" y="6076950"/>
            <a:ext cx="2618438" cy="1581150"/>
          </a:xfrm>
          <a:prstGeom prst="roundRect">
            <a:avLst>
              <a:gd name="adj" fmla="val 4819"/>
            </a:avLst>
          </a:prstGeom>
          <a:solidFill>
            <a:srgbClr val="FFFDF7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106" name="מלבן 105">
            <a:extLst>
              <a:ext uri="{FF2B5EF4-FFF2-40B4-BE49-F238E27FC236}">
                <a16:creationId xmlns:a16="http://schemas.microsoft.com/office/drawing/2014/main" id="{43DEE021-5457-4327-9B12-80808FD4072B}"/>
              </a:ext>
            </a:extLst>
          </p:cNvPr>
          <p:cNvSpPr>
            <a:spLocks noGrp="1"/>
          </p:cNvSpPr>
          <p:nvPr/>
        </p:nvSpPr>
        <p:spPr>
          <a:xfrm>
            <a:off x="19162188" y="6246950"/>
            <a:ext cx="2148438" cy="5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3750" b="1">
                <a:solidFill>
                  <a:srgbClr val="486F8F"/>
                </a:solidFill>
                <a:latin typeface="Aptos"/>
                <a:ea typeface="Aptos"/>
                <a:cs typeface="Aptos"/>
              </a:defRPr>
            </a:pPr>
            <a:r>
              <a:rPr sz="3750" b="1" dirty="0">
                <a:solidFill>
                  <a:srgbClr val="2A8A80"/>
                </a:solidFill>
                <a:latin typeface="Aptos"/>
              </a:rPr>
              <a:t>62%</a:t>
            </a:r>
          </a:p>
        </p:txBody>
      </p:sp>
      <p:sp>
        <p:nvSpPr>
          <p:cNvPr id="107" name="מלבן 106">
            <a:extLst>
              <a:ext uri="{FF2B5EF4-FFF2-40B4-BE49-F238E27FC236}">
                <a16:creationId xmlns:a16="http://schemas.microsoft.com/office/drawing/2014/main" id="{9C1436EC-7B66-4F3F-BE4D-1F58E5ABD6C5}"/>
              </a:ext>
            </a:extLst>
          </p:cNvPr>
          <p:cNvSpPr>
            <a:spLocks noGrp="1"/>
          </p:cNvSpPr>
          <p:nvPr/>
        </p:nvSpPr>
        <p:spPr>
          <a:xfrm>
            <a:off x="19162188" y="6826950"/>
            <a:ext cx="2148438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1650" b="1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b="1" dirty="0">
                <a:solidFill>
                  <a:srgbClr val="1C2A33"/>
                </a:solidFill>
                <a:latin typeface="Aptos"/>
              </a:rPr>
              <a:t>pH gain</a:t>
            </a:r>
          </a:p>
        </p:txBody>
      </p:sp>
      <p:sp>
        <p:nvSpPr>
          <p:cNvPr id="109" name="מלבן: פינות מעוגלות 108">
            <a:extLst>
              <a:ext uri="{FF2B5EF4-FFF2-40B4-BE49-F238E27FC236}">
                <a16:creationId xmlns:a16="http://schemas.microsoft.com/office/drawing/2014/main" id="{6273FF4D-7B9E-41AD-9056-EBAAE35456BF}"/>
              </a:ext>
            </a:extLst>
          </p:cNvPr>
          <p:cNvSpPr>
            <a:spLocks noGrp="1"/>
          </p:cNvSpPr>
          <p:nvPr/>
        </p:nvSpPr>
        <p:spPr>
          <a:xfrm>
            <a:off x="21887625" y="6076950"/>
            <a:ext cx="2618438" cy="1581150"/>
          </a:xfrm>
          <a:prstGeom prst="roundRect">
            <a:avLst>
              <a:gd name="adj" fmla="val 4819"/>
            </a:avLst>
          </a:prstGeom>
          <a:solidFill>
            <a:srgbClr val="FFFDF7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110" name="מלבן 109">
            <a:extLst>
              <a:ext uri="{FF2B5EF4-FFF2-40B4-BE49-F238E27FC236}">
                <a16:creationId xmlns:a16="http://schemas.microsoft.com/office/drawing/2014/main" id="{79A5524C-CD4F-47A9-92D4-477E279BF9C2}"/>
              </a:ext>
            </a:extLst>
          </p:cNvPr>
          <p:cNvSpPr>
            <a:spLocks noGrp="1"/>
          </p:cNvSpPr>
          <p:nvPr/>
        </p:nvSpPr>
        <p:spPr>
          <a:xfrm>
            <a:off x="22122625" y="6246950"/>
            <a:ext cx="2148438" cy="5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3750" b="1">
                <a:solidFill>
                  <a:srgbClr val="2A8A80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2A8A80"/>
                </a:solidFill>
                <a:latin typeface="Aptos"/>
              </a:rPr>
              <a:t>0.932</a:t>
            </a:r>
          </a:p>
        </p:txBody>
      </p:sp>
      <p:sp>
        <p:nvSpPr>
          <p:cNvPr id="111" name="מלבן 110">
            <a:extLst>
              <a:ext uri="{FF2B5EF4-FFF2-40B4-BE49-F238E27FC236}">
                <a16:creationId xmlns:a16="http://schemas.microsoft.com/office/drawing/2014/main" id="{096906C5-CF2B-4F07-A6F0-F525F28F49E8}"/>
              </a:ext>
            </a:extLst>
          </p:cNvPr>
          <p:cNvSpPr>
            <a:spLocks noGrp="1"/>
          </p:cNvSpPr>
          <p:nvPr/>
        </p:nvSpPr>
        <p:spPr>
          <a:xfrm>
            <a:off x="22122625" y="6826950"/>
            <a:ext cx="2148438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1650" b="1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C2A33"/>
                </a:solidFill>
                <a:latin typeface="Aptos"/>
              </a:rPr>
              <a:t>pH R2</a:t>
            </a:r>
          </a:p>
        </p:txBody>
      </p:sp>
      <p:sp>
        <p:nvSpPr>
          <p:cNvPr id="113" name="מלבן: פינות מעוגלות 112">
            <a:extLst>
              <a:ext uri="{FF2B5EF4-FFF2-40B4-BE49-F238E27FC236}">
                <a16:creationId xmlns:a16="http://schemas.microsoft.com/office/drawing/2014/main" id="{755F476C-0112-437F-A7B0-959636A372D4}"/>
              </a:ext>
            </a:extLst>
          </p:cNvPr>
          <p:cNvSpPr>
            <a:spLocks noGrp="1"/>
          </p:cNvSpPr>
          <p:nvPr/>
        </p:nvSpPr>
        <p:spPr>
          <a:xfrm>
            <a:off x="15966750" y="7953375"/>
            <a:ext cx="2618438" cy="1581150"/>
          </a:xfrm>
          <a:prstGeom prst="roundRect">
            <a:avLst>
              <a:gd name="adj" fmla="val 4819"/>
            </a:avLst>
          </a:prstGeom>
          <a:solidFill>
            <a:srgbClr val="FFFDF7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114" name="מלבן 113">
            <a:extLst>
              <a:ext uri="{FF2B5EF4-FFF2-40B4-BE49-F238E27FC236}">
                <a16:creationId xmlns:a16="http://schemas.microsoft.com/office/drawing/2014/main" id="{909D2A83-F63D-4F44-863C-C991B2595C51}"/>
              </a:ext>
            </a:extLst>
          </p:cNvPr>
          <p:cNvSpPr>
            <a:spLocks noGrp="1"/>
          </p:cNvSpPr>
          <p:nvPr/>
        </p:nvSpPr>
        <p:spPr>
          <a:xfrm>
            <a:off x="16201750" y="8123375"/>
            <a:ext cx="2148438" cy="5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3750" b="1">
                <a:solidFill>
                  <a:srgbClr val="2A8A80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486F8F"/>
                </a:solidFill>
                <a:latin typeface="Aptos"/>
              </a:rPr>
              <a:t>0.127</a:t>
            </a:r>
          </a:p>
        </p:txBody>
      </p:sp>
      <p:sp>
        <p:nvSpPr>
          <p:cNvPr id="115" name="מלבן 114">
            <a:extLst>
              <a:ext uri="{FF2B5EF4-FFF2-40B4-BE49-F238E27FC236}">
                <a16:creationId xmlns:a16="http://schemas.microsoft.com/office/drawing/2014/main" id="{DC2B2EC6-F261-48F2-9864-C644D36CB7D0}"/>
              </a:ext>
            </a:extLst>
          </p:cNvPr>
          <p:cNvSpPr>
            <a:spLocks noGrp="1"/>
          </p:cNvSpPr>
          <p:nvPr/>
        </p:nvSpPr>
        <p:spPr>
          <a:xfrm>
            <a:off x="16201750" y="8703375"/>
            <a:ext cx="2148438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1650" b="1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C2A33"/>
                </a:solidFill>
                <a:latin typeface="Aptos"/>
              </a:rPr>
              <a:t>EC MAE</a:t>
            </a:r>
          </a:p>
        </p:txBody>
      </p:sp>
      <p:sp>
        <p:nvSpPr>
          <p:cNvPr id="117" name="מלבן: פינות מעוגלות 116">
            <a:extLst>
              <a:ext uri="{FF2B5EF4-FFF2-40B4-BE49-F238E27FC236}">
                <a16:creationId xmlns:a16="http://schemas.microsoft.com/office/drawing/2014/main" id="{473E17E4-F368-4A47-A9FF-13078665577E}"/>
              </a:ext>
            </a:extLst>
          </p:cNvPr>
          <p:cNvSpPr>
            <a:spLocks noGrp="1"/>
          </p:cNvSpPr>
          <p:nvPr/>
        </p:nvSpPr>
        <p:spPr>
          <a:xfrm>
            <a:off x="18927188" y="7953375"/>
            <a:ext cx="2618438" cy="1581150"/>
          </a:xfrm>
          <a:prstGeom prst="roundRect">
            <a:avLst>
              <a:gd name="adj" fmla="val 4819"/>
            </a:avLst>
          </a:prstGeom>
          <a:solidFill>
            <a:srgbClr val="FFFDF7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118" name="מלבן 117">
            <a:extLst>
              <a:ext uri="{FF2B5EF4-FFF2-40B4-BE49-F238E27FC236}">
                <a16:creationId xmlns:a16="http://schemas.microsoft.com/office/drawing/2014/main" id="{FC00D6F6-8865-44D5-BEBA-F870445AB89C}"/>
              </a:ext>
            </a:extLst>
          </p:cNvPr>
          <p:cNvSpPr>
            <a:spLocks noGrp="1"/>
          </p:cNvSpPr>
          <p:nvPr/>
        </p:nvSpPr>
        <p:spPr>
          <a:xfrm>
            <a:off x="19162188" y="8123375"/>
            <a:ext cx="2148438" cy="5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3750" b="1">
                <a:solidFill>
                  <a:srgbClr val="486F8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486F8F"/>
                </a:solidFill>
                <a:latin typeface="Aptos"/>
              </a:rPr>
              <a:t>35%</a:t>
            </a:r>
          </a:p>
        </p:txBody>
      </p:sp>
      <p:sp>
        <p:nvSpPr>
          <p:cNvPr id="119" name="מלבן 118">
            <a:extLst>
              <a:ext uri="{FF2B5EF4-FFF2-40B4-BE49-F238E27FC236}">
                <a16:creationId xmlns:a16="http://schemas.microsoft.com/office/drawing/2014/main" id="{2BC5EBEF-E1B2-4B3C-88E7-86C0ED5BC60D}"/>
              </a:ext>
            </a:extLst>
          </p:cNvPr>
          <p:cNvSpPr>
            <a:spLocks noGrp="1"/>
          </p:cNvSpPr>
          <p:nvPr/>
        </p:nvSpPr>
        <p:spPr>
          <a:xfrm>
            <a:off x="19162188" y="8703375"/>
            <a:ext cx="2148438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1650" b="1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C2A33"/>
                </a:solidFill>
                <a:latin typeface="Aptos"/>
              </a:rPr>
              <a:t>EC gain</a:t>
            </a:r>
          </a:p>
        </p:txBody>
      </p:sp>
      <p:sp>
        <p:nvSpPr>
          <p:cNvPr id="121" name="מלבן: פינות מעוגלות 120">
            <a:extLst>
              <a:ext uri="{FF2B5EF4-FFF2-40B4-BE49-F238E27FC236}">
                <a16:creationId xmlns:a16="http://schemas.microsoft.com/office/drawing/2014/main" id="{BF93C98F-C25D-408B-83C9-E23DF603B325}"/>
              </a:ext>
            </a:extLst>
          </p:cNvPr>
          <p:cNvSpPr>
            <a:spLocks noGrp="1"/>
          </p:cNvSpPr>
          <p:nvPr/>
        </p:nvSpPr>
        <p:spPr>
          <a:xfrm>
            <a:off x="21887625" y="7953375"/>
            <a:ext cx="2618438" cy="1581150"/>
          </a:xfrm>
          <a:prstGeom prst="roundRect">
            <a:avLst>
              <a:gd name="adj" fmla="val 4819"/>
            </a:avLst>
          </a:prstGeom>
          <a:solidFill>
            <a:srgbClr val="FFFDF7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122" name="מלבן 121">
            <a:extLst>
              <a:ext uri="{FF2B5EF4-FFF2-40B4-BE49-F238E27FC236}">
                <a16:creationId xmlns:a16="http://schemas.microsoft.com/office/drawing/2014/main" id="{F7A028CB-6F5D-403A-B1E9-B8FB182FAE8A}"/>
              </a:ext>
            </a:extLst>
          </p:cNvPr>
          <p:cNvSpPr>
            <a:spLocks noGrp="1"/>
          </p:cNvSpPr>
          <p:nvPr/>
        </p:nvSpPr>
        <p:spPr>
          <a:xfrm>
            <a:off x="22122625" y="8123375"/>
            <a:ext cx="2148438" cy="5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3750" b="1">
                <a:solidFill>
                  <a:srgbClr val="486F8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486F8F"/>
                </a:solidFill>
                <a:latin typeface="Aptos"/>
              </a:rPr>
              <a:t>0.982</a:t>
            </a:r>
          </a:p>
        </p:txBody>
      </p:sp>
      <p:sp>
        <p:nvSpPr>
          <p:cNvPr id="123" name="מלבן 122">
            <a:extLst>
              <a:ext uri="{FF2B5EF4-FFF2-40B4-BE49-F238E27FC236}">
                <a16:creationId xmlns:a16="http://schemas.microsoft.com/office/drawing/2014/main" id="{02B6E206-C549-4CCD-841A-182E957388E7}"/>
              </a:ext>
            </a:extLst>
          </p:cNvPr>
          <p:cNvSpPr>
            <a:spLocks noGrp="1"/>
          </p:cNvSpPr>
          <p:nvPr/>
        </p:nvSpPr>
        <p:spPr>
          <a:xfrm>
            <a:off x="22122625" y="8703375"/>
            <a:ext cx="2148438" cy="3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ctr">
              <a:defRPr sz="1650" b="1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C2A33"/>
                </a:solidFill>
                <a:latin typeface="Aptos"/>
              </a:rPr>
              <a:t>EC R2</a:t>
            </a:r>
          </a:p>
        </p:txBody>
      </p:sp>
      <p:sp>
        <p:nvSpPr>
          <p:cNvPr id="126" name="מלבן: פינות מעוגלות 125">
            <a:extLst>
              <a:ext uri="{FF2B5EF4-FFF2-40B4-BE49-F238E27FC236}">
                <a16:creationId xmlns:a16="http://schemas.microsoft.com/office/drawing/2014/main" id="{F556401A-3B43-4F5F-BE1A-167703646941}"/>
              </a:ext>
            </a:extLst>
          </p:cNvPr>
          <p:cNvSpPr>
            <a:spLocks noGrp="1"/>
          </p:cNvSpPr>
          <p:nvPr/>
        </p:nvSpPr>
        <p:spPr>
          <a:xfrm>
            <a:off x="16016750" y="9845191"/>
            <a:ext cx="8450000" cy="8296124"/>
          </a:xfrm>
          <a:prstGeom prst="roundRect">
            <a:avLst>
              <a:gd name="adj" fmla="val 1013"/>
            </a:avLst>
          </a:prstGeom>
          <a:solidFill>
            <a:srgbClr val="FFFFFF"/>
          </a:solidFill>
          <a:ln w="10160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129" name="אליפסה 128">
            <a:extLst>
              <a:ext uri="{FF2B5EF4-FFF2-40B4-BE49-F238E27FC236}">
                <a16:creationId xmlns:a16="http://schemas.microsoft.com/office/drawing/2014/main" id="{69472A0C-92F4-4ECD-BCC4-C954BB21DD65}"/>
              </a:ext>
            </a:extLst>
          </p:cNvPr>
          <p:cNvSpPr>
            <a:spLocks noGrp="1"/>
          </p:cNvSpPr>
          <p:nvPr/>
        </p:nvSpPr>
        <p:spPr>
          <a:xfrm>
            <a:off x="15966000" y="26950025"/>
            <a:ext cx="460800" cy="460800"/>
          </a:xfrm>
          <a:prstGeom prst="ellipse">
            <a:avLst/>
          </a:prstGeom>
          <a:solidFill>
            <a:srgbClr val="0B3557"/>
          </a:solidFill>
          <a:ln w="9525">
            <a:solidFill>
              <a:srgbClr val="0B3557"/>
            </a:solidFill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00" b="1" dirty="0">
                <a:solidFill>
                  <a:schemeClr val="bg1"/>
                </a:solidFill>
                <a:latin typeface="Aptos" panose="020B0004020202020204" pitchFamily="34" charset="0"/>
              </a:rPr>
              <a:t>09</a:t>
            </a:r>
            <a:endParaRPr sz="20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0" name="מלבן 129">
            <a:extLst>
              <a:ext uri="{FF2B5EF4-FFF2-40B4-BE49-F238E27FC236}">
                <a16:creationId xmlns:a16="http://schemas.microsoft.com/office/drawing/2014/main" id="{AC3EEF63-F93E-4C9E-82FC-23AD11EB54D9}"/>
              </a:ext>
            </a:extLst>
          </p:cNvPr>
          <p:cNvSpPr>
            <a:spLocks noGrp="1"/>
          </p:cNvSpPr>
          <p:nvPr/>
        </p:nvSpPr>
        <p:spPr>
          <a:xfrm>
            <a:off x="16608000" y="26931425"/>
            <a:ext cx="7908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2700" b="1">
                <a:solidFill>
                  <a:srgbClr val="0B3557"/>
                </a:solidFill>
                <a:latin typeface="Aptos"/>
                <a:ea typeface="Aptos"/>
                <a:cs typeface="Aptos"/>
              </a:defRPr>
            </a:pPr>
            <a:r>
              <a:rPr lang="en-US" sz="3600" b="1">
                <a:solidFill>
                  <a:srgbClr val="073E60"/>
                </a:solidFill>
                <a:latin typeface="Aptos" panose="020B0004020202020204" pitchFamily="34" charset="0"/>
              </a:rPr>
              <a:t>Conclusions</a:t>
            </a:r>
            <a:endParaRPr sz="3600" b="1" dirty="0">
              <a:solidFill>
                <a:srgbClr val="073E60"/>
              </a:solidFill>
              <a:latin typeface="Aptos" panose="020B0004020202020204" pitchFamily="34" charset="0"/>
            </a:endParaRPr>
          </a:p>
        </p:txBody>
      </p:sp>
      <p:sp>
        <p:nvSpPr>
          <p:cNvPr id="131" name="מלבן 130">
            <a:extLst>
              <a:ext uri="{FF2B5EF4-FFF2-40B4-BE49-F238E27FC236}">
                <a16:creationId xmlns:a16="http://schemas.microsoft.com/office/drawing/2014/main" id="{2E9AD52C-1A47-4025-BFBB-673882FA1804}"/>
              </a:ext>
            </a:extLst>
          </p:cNvPr>
          <p:cNvSpPr>
            <a:spLocks noGrp="1"/>
          </p:cNvSpPr>
          <p:nvPr/>
        </p:nvSpPr>
        <p:spPr>
          <a:xfrm>
            <a:off x="15966750" y="27483875"/>
            <a:ext cx="8550000" cy="28575"/>
          </a:xfrm>
          <a:prstGeom prst="rect">
            <a:avLst/>
          </a:prstGeom>
          <a:solidFill>
            <a:srgbClr val="C9D5D8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132" name="מלבן 131">
            <a:extLst>
              <a:ext uri="{FF2B5EF4-FFF2-40B4-BE49-F238E27FC236}">
                <a16:creationId xmlns:a16="http://schemas.microsoft.com/office/drawing/2014/main" id="{66AC1EBE-75B6-421B-9113-0072E717A76A}"/>
              </a:ext>
            </a:extLst>
          </p:cNvPr>
          <p:cNvSpPr>
            <a:spLocks noGrp="1"/>
          </p:cNvSpPr>
          <p:nvPr/>
        </p:nvSpPr>
        <p:spPr>
          <a:xfrm>
            <a:off x="16201750" y="27740927"/>
            <a:ext cx="8550000" cy="2381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342900" indent="-342900" algn="l">
              <a:buSzPct val="85000"/>
              <a:buFont typeface="Arial" panose="020B0604020202020204" pitchFamily="34" charset="0"/>
              <a:buChar char="•"/>
              <a:defRPr sz="1950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1B2934"/>
                </a:solidFill>
                <a:latin typeface="Aptos" panose="020B0004020202020204" pitchFamily="34" charset="0"/>
              </a:rPr>
              <a:t>Soft-sensor forecasts root-zone pH and EC between sparse lab samples.</a:t>
            </a:r>
          </a:p>
          <a:p>
            <a:pPr marL="342900" indent="-342900" algn="l">
              <a:buSzPct val="85000"/>
              <a:buFont typeface="Arial" panose="020B0604020202020204" pitchFamily="34" charset="0"/>
              <a:buChar char="•"/>
              <a:defRPr sz="1950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1B2934"/>
                </a:solidFill>
                <a:latin typeface="Aptos" panose="020B0004020202020204" pitchFamily="34" charset="0"/>
              </a:rPr>
              <a:t>Two-stage pipeline combines weather, micro-climate, fertigation, crop state, and previous pH/EC.</a:t>
            </a:r>
          </a:p>
          <a:p>
            <a:pPr marL="342900" indent="-342900" algn="l">
              <a:buSzPct val="85000"/>
              <a:buFont typeface="Arial" panose="020B0604020202020204" pitchFamily="34" charset="0"/>
              <a:buChar char="•"/>
              <a:defRPr sz="1950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1B2934"/>
                </a:solidFill>
                <a:latin typeface="Aptos" panose="020B0004020202020204" pitchFamily="34" charset="0"/>
              </a:rPr>
              <a:t>Improved over last-measurement baseline: +62% pH, +35% EC.</a:t>
            </a:r>
          </a:p>
          <a:p>
            <a:pPr marL="342900" indent="-342900" algn="l">
              <a:buSzPct val="85000"/>
              <a:buFont typeface="Arial" panose="020B0604020202020204" pitchFamily="34" charset="0"/>
              <a:buChar char="•"/>
              <a:defRPr sz="1950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1B2934"/>
                </a:solidFill>
                <a:latin typeface="Aptos" panose="020B0004020202020204" pitchFamily="34" charset="0"/>
              </a:rPr>
              <a:t>Supports earlier fertigation decisions; not autonomous control.</a:t>
            </a:r>
            <a:endParaRPr sz="2400" dirty="0">
              <a:solidFill>
                <a:srgbClr val="1B2934"/>
              </a:solidFill>
              <a:latin typeface="Aptos" panose="020B0004020202020204" pitchFamily="34" charset="0"/>
            </a:endParaRPr>
          </a:p>
        </p:txBody>
      </p:sp>
      <p:sp>
        <p:nvSpPr>
          <p:cNvPr id="133" name="אליפסה 132">
            <a:extLst>
              <a:ext uri="{FF2B5EF4-FFF2-40B4-BE49-F238E27FC236}">
                <a16:creationId xmlns:a16="http://schemas.microsoft.com/office/drawing/2014/main" id="{B4806B33-9878-4E02-9669-4B57222F64E8}"/>
              </a:ext>
            </a:extLst>
          </p:cNvPr>
          <p:cNvSpPr>
            <a:spLocks noGrp="1"/>
          </p:cNvSpPr>
          <p:nvPr/>
        </p:nvSpPr>
        <p:spPr>
          <a:xfrm>
            <a:off x="15966000" y="31422377"/>
            <a:ext cx="460800" cy="460800"/>
          </a:xfrm>
          <a:prstGeom prst="ellipse">
            <a:avLst/>
          </a:prstGeom>
          <a:solidFill>
            <a:srgbClr val="0B3557"/>
          </a:solidFill>
          <a:ln w="9525">
            <a:solidFill>
              <a:srgbClr val="0B3557"/>
            </a:solidFill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00" b="1" dirty="0">
                <a:solidFill>
                  <a:schemeClr val="bg1"/>
                </a:solidFill>
                <a:latin typeface="Aptos" panose="020B0004020202020204" pitchFamily="34" charset="0"/>
              </a:rPr>
              <a:t>10</a:t>
            </a:r>
            <a:endParaRPr sz="20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4" name="מלבן 133">
            <a:extLst>
              <a:ext uri="{FF2B5EF4-FFF2-40B4-BE49-F238E27FC236}">
                <a16:creationId xmlns:a16="http://schemas.microsoft.com/office/drawing/2014/main" id="{842A8764-8213-44B9-B727-842BA159C99F}"/>
              </a:ext>
            </a:extLst>
          </p:cNvPr>
          <p:cNvSpPr>
            <a:spLocks noGrp="1"/>
          </p:cNvSpPr>
          <p:nvPr/>
        </p:nvSpPr>
        <p:spPr>
          <a:xfrm>
            <a:off x="16608000" y="31403777"/>
            <a:ext cx="7920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2700" b="1">
                <a:solidFill>
                  <a:srgbClr val="0B3557"/>
                </a:solidFill>
                <a:latin typeface="Aptos"/>
                <a:ea typeface="Aptos"/>
                <a:cs typeface="Aptos"/>
              </a:defRPr>
            </a:pPr>
            <a:r>
              <a:rPr lang="en-US" sz="3600" b="1">
                <a:solidFill>
                  <a:srgbClr val="073E60"/>
                </a:solidFill>
                <a:latin typeface="Aptos" panose="020B0004020202020204" pitchFamily="34" charset="0"/>
              </a:rPr>
              <a:t>Challenges &amp; Limitations</a:t>
            </a:r>
            <a:endParaRPr sz="3600" b="1" dirty="0">
              <a:solidFill>
                <a:srgbClr val="073E60"/>
              </a:solidFill>
              <a:latin typeface="Aptos" panose="020B0004020202020204" pitchFamily="34" charset="0"/>
            </a:endParaRPr>
          </a:p>
        </p:txBody>
      </p:sp>
      <p:sp>
        <p:nvSpPr>
          <p:cNvPr id="135" name="מלבן 134">
            <a:extLst>
              <a:ext uri="{FF2B5EF4-FFF2-40B4-BE49-F238E27FC236}">
                <a16:creationId xmlns:a16="http://schemas.microsoft.com/office/drawing/2014/main" id="{C15D74AF-F4F7-41B8-9149-886BB3D7EE11}"/>
              </a:ext>
            </a:extLst>
          </p:cNvPr>
          <p:cNvSpPr>
            <a:spLocks noGrp="1"/>
          </p:cNvSpPr>
          <p:nvPr/>
        </p:nvSpPr>
        <p:spPr>
          <a:xfrm>
            <a:off x="15966750" y="31956227"/>
            <a:ext cx="8550000" cy="28575"/>
          </a:xfrm>
          <a:prstGeom prst="rect">
            <a:avLst/>
          </a:prstGeom>
          <a:solidFill>
            <a:srgbClr val="C9D5D8"/>
          </a:solidFill>
          <a:ln w="9525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137" name="מלבן 136">
            <a:extLst>
              <a:ext uri="{FF2B5EF4-FFF2-40B4-BE49-F238E27FC236}">
                <a16:creationId xmlns:a16="http://schemas.microsoft.com/office/drawing/2014/main" id="{9891B3EE-55CA-4B06-9F5B-B6FE2556CA0F}"/>
              </a:ext>
            </a:extLst>
          </p:cNvPr>
          <p:cNvSpPr>
            <a:spLocks noGrp="1"/>
          </p:cNvSpPr>
          <p:nvPr/>
        </p:nvSpPr>
        <p:spPr>
          <a:xfrm>
            <a:off x="16266000" y="32195399"/>
            <a:ext cx="7951500" cy="29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285750" indent="-285750" algn="l">
              <a:buSzPct val="85000"/>
              <a:buFont typeface="Arial" panose="020B0604020202020204" pitchFamily="34" charset="0"/>
              <a:buChar char="•"/>
              <a:defRPr sz="1800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1B2934"/>
                </a:solidFill>
                <a:latin typeface="Aptos" panose="020B0004020202020204" pitchFamily="34" charset="0"/>
              </a:rPr>
              <a:t>109 pH/EC labels vs 16,682 dense records.</a:t>
            </a:r>
          </a:p>
          <a:p>
            <a:pPr marL="285750" indent="-285750" algn="l">
              <a:buSzPct val="85000"/>
              <a:buFont typeface="Arial" panose="020B0604020202020204" pitchFamily="34" charset="0"/>
              <a:buChar char="•"/>
              <a:defRPr sz="1800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1B2934"/>
                </a:solidFill>
                <a:latin typeface="Aptos" panose="020B0004020202020204" pitchFamily="34" charset="0"/>
              </a:rPr>
              <a:t>No continuous root-zone ground truth between lab samples.</a:t>
            </a:r>
          </a:p>
          <a:p>
            <a:pPr marL="285750" indent="-285750" algn="l">
              <a:buSzPct val="85000"/>
              <a:buFont typeface="Arial" panose="020B0604020202020204" pitchFamily="34" charset="0"/>
              <a:buChar char="•"/>
              <a:defRPr sz="1800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1B2934"/>
                </a:solidFill>
                <a:latin typeface="Aptos" panose="020B0004020202020204" pitchFamily="34" charset="0"/>
              </a:rPr>
              <a:t>Irregular intervals required t0-to-t1 modeling.</a:t>
            </a:r>
          </a:p>
          <a:p>
            <a:pPr marL="285750" indent="-285750" algn="l">
              <a:buSzPct val="85000"/>
              <a:buFont typeface="Arial" panose="020B0604020202020204" pitchFamily="34" charset="0"/>
              <a:buChar char="•"/>
              <a:defRPr sz="1800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1B2934"/>
                </a:solidFill>
                <a:latin typeface="Aptos" panose="020B0004020202020204" pitchFamily="34" charset="0"/>
              </a:rPr>
              <a:t>Low EC: small absolute errors become large relative errors.</a:t>
            </a:r>
          </a:p>
          <a:p>
            <a:pPr marL="285750" indent="-285750" algn="l">
              <a:buSzPct val="85000"/>
              <a:buFont typeface="Arial" panose="020B0604020202020204" pitchFamily="34" charset="0"/>
              <a:buChar char="•"/>
              <a:defRPr sz="1800" b="0">
                <a:solidFill>
                  <a:srgbClr val="14242E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1B2934"/>
                </a:solidFill>
                <a:latin typeface="Aptos" panose="020B0004020202020204" pitchFamily="34" charset="0"/>
              </a:rPr>
              <a:t>One season only; more crops and seasons needed.</a:t>
            </a:r>
            <a:endParaRPr sz="2400" dirty="0">
              <a:solidFill>
                <a:srgbClr val="1B2934"/>
              </a:solidFill>
              <a:latin typeface="Aptos" panose="020B0004020202020204" pitchFamily="34" charset="0"/>
            </a:endParaRPr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5575AA46-2D1B-5328-1D06-E4068E1D5501}"/>
              </a:ext>
            </a:extLst>
          </p:cNvPr>
          <p:cNvSpPr>
            <a:spLocks noGrp="1"/>
          </p:cNvSpPr>
          <p:nvPr/>
        </p:nvSpPr>
        <p:spPr>
          <a:xfrm>
            <a:off x="16016750" y="18611850"/>
            <a:ext cx="8450000" cy="8000000"/>
          </a:xfrm>
          <a:prstGeom prst="roundRect">
            <a:avLst>
              <a:gd name="adj" fmla="val 1013"/>
            </a:avLst>
          </a:prstGeom>
          <a:solidFill>
            <a:srgbClr val="FFFFFF"/>
          </a:solidFill>
          <a:ln w="10160">
            <a:solidFill>
              <a:srgbClr val="C9D5D8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A50F8E22-8E62-7BA9-2066-710C499624DB}"/>
              </a:ext>
            </a:extLst>
          </p:cNvPr>
          <p:cNvSpPr>
            <a:spLocks noGrp="1"/>
          </p:cNvSpPr>
          <p:nvPr/>
        </p:nvSpPr>
        <p:spPr>
          <a:xfrm>
            <a:off x="7639500" y="22525946"/>
            <a:ext cx="8100000" cy="21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C2A33"/>
                </a:solidFill>
                <a:latin typeface="Aptos" panose="020B0004020202020204" pitchFamily="34" charset="0"/>
              </a:rPr>
              <a:t>Estimates internal greenhouse climate from external weather and radiation.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C2A33"/>
                </a:solidFill>
                <a:latin typeface="Aptos" panose="020B0004020202020204" pitchFamily="34" charset="0"/>
              </a:rPr>
              <a:t>Creates continuous climate features for the root-zone prediction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C2A33"/>
                </a:solidFill>
                <a:latin typeface="Aptos" panose="020B0004020202020204" pitchFamily="34" charset="0"/>
              </a:rPr>
              <a:t>Helps the pH/EC model account for plant stress, evaporation, and irrigation demand between sparse lab samples.</a:t>
            </a:r>
          </a:p>
        </p:txBody>
      </p:sp>
      <p:sp>
        <p:nvSpPr>
          <p:cNvPr id="11" name="Oval 192"/>
          <p:cNvSpPr/>
          <p:nvPr/>
        </p:nvSpPr>
        <p:spPr>
          <a:xfrm>
            <a:off x="666000" y="13110430"/>
            <a:ext cx="460800" cy="460800"/>
          </a:xfrm>
          <a:prstGeom prst="ellipse">
            <a:avLst/>
          </a:prstGeom>
          <a:solidFill>
            <a:srgbClr val="0B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dirty="0">
                <a:solidFill>
                  <a:schemeClr val="bg1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2" name="TextBox 193"/>
          <p:cNvSpPr txBox="1"/>
          <p:nvPr/>
        </p:nvSpPr>
        <p:spPr>
          <a:xfrm>
            <a:off x="1301750" y="13091830"/>
            <a:ext cx="995016" cy="553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US" sz="3600" b="1">
                <a:solidFill>
                  <a:srgbClr val="073E60"/>
                </a:solidFill>
                <a:latin typeface="Aptos" panose="020B0004020202020204" pitchFamily="34" charset="0"/>
              </a:rPr>
              <a:t>Data</a:t>
            </a:r>
            <a:endParaRPr sz="3600" b="1">
              <a:solidFill>
                <a:srgbClr val="073E60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 194"/>
          <p:cNvSpPr/>
          <p:nvPr/>
        </p:nvSpPr>
        <p:spPr>
          <a:xfrm>
            <a:off x="666750" y="13668030"/>
            <a:ext cx="6300000" cy="30000"/>
          </a:xfrm>
          <a:prstGeom prst="rect">
            <a:avLst/>
          </a:prstGeom>
          <a:solidFill>
            <a:srgbClr val="849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92">
            <a:extLst>
              <a:ext uri="{FF2B5EF4-FFF2-40B4-BE49-F238E27FC236}">
                <a16:creationId xmlns:a16="http://schemas.microsoft.com/office/drawing/2014/main" id="{C07010E7-EE07-EB4B-6558-D087C087C0B6}"/>
              </a:ext>
            </a:extLst>
          </p:cNvPr>
          <p:cNvSpPr/>
          <p:nvPr/>
        </p:nvSpPr>
        <p:spPr>
          <a:xfrm>
            <a:off x="666000" y="9391931"/>
            <a:ext cx="460800" cy="460800"/>
          </a:xfrm>
          <a:prstGeom prst="ellipse">
            <a:avLst/>
          </a:prstGeom>
          <a:solidFill>
            <a:srgbClr val="0B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chemeClr val="bg1"/>
                </a:solidFill>
                <a:latin typeface="Aptos" panose="020B0004020202020204" pitchFamily="34" charset="0"/>
              </a:rPr>
              <a:t>02</a:t>
            </a:r>
            <a:endParaRPr sz="2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6" name="Oval 192">
            <a:extLst>
              <a:ext uri="{FF2B5EF4-FFF2-40B4-BE49-F238E27FC236}">
                <a16:creationId xmlns:a16="http://schemas.microsoft.com/office/drawing/2014/main" id="{23D3BC62-A68D-C81F-39CE-83EE4BB31425}"/>
              </a:ext>
            </a:extLst>
          </p:cNvPr>
          <p:cNvSpPr/>
          <p:nvPr/>
        </p:nvSpPr>
        <p:spPr>
          <a:xfrm>
            <a:off x="666000" y="5262113"/>
            <a:ext cx="460800" cy="460800"/>
          </a:xfrm>
          <a:prstGeom prst="ellipse">
            <a:avLst/>
          </a:prstGeom>
          <a:solidFill>
            <a:srgbClr val="0B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dirty="0">
                <a:solidFill>
                  <a:schemeClr val="bg1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9" name="Oval 192">
            <a:extLst>
              <a:ext uri="{FF2B5EF4-FFF2-40B4-BE49-F238E27FC236}">
                <a16:creationId xmlns:a16="http://schemas.microsoft.com/office/drawing/2014/main" id="{041A0687-1374-0DCE-3273-7557EE15619C}"/>
              </a:ext>
            </a:extLst>
          </p:cNvPr>
          <p:cNvSpPr/>
          <p:nvPr/>
        </p:nvSpPr>
        <p:spPr>
          <a:xfrm>
            <a:off x="666000" y="24569550"/>
            <a:ext cx="460800" cy="460800"/>
          </a:xfrm>
          <a:prstGeom prst="ellipse">
            <a:avLst/>
          </a:prstGeom>
          <a:solidFill>
            <a:srgbClr val="0B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dirty="0">
                <a:solidFill>
                  <a:schemeClr val="bg1"/>
                </a:solidFill>
                <a:latin typeface="Aptos" panose="020B0004020202020204" pitchFamily="34" charset="0"/>
              </a:rPr>
              <a:t>04</a:t>
            </a:r>
          </a:p>
        </p:txBody>
      </p:sp>
      <p:pic>
        <p:nvPicPr>
          <p:cNvPr id="30" name="תמונה 29">
            <a:extLst>
              <a:ext uri="{FF2B5EF4-FFF2-40B4-BE49-F238E27FC236}">
                <a16:creationId xmlns:a16="http://schemas.microsoft.com/office/drawing/2014/main" id="{ADB0DFF7-F7A0-8B8C-A846-3AB05D7BC66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6750" y="17409451"/>
            <a:ext cx="7960000" cy="3562100"/>
          </a:xfrm>
          <a:prstGeom prst="rect">
            <a:avLst/>
          </a:prstGeom>
        </p:spPr>
      </p:pic>
      <p:pic>
        <p:nvPicPr>
          <p:cNvPr id="38" name="תמונה 37">
            <a:extLst>
              <a:ext uri="{FF2B5EF4-FFF2-40B4-BE49-F238E27FC236}">
                <a16:creationId xmlns:a16="http://schemas.microsoft.com/office/drawing/2014/main" id="{B63365B2-3C2A-4E20-7F21-720CCDD438F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1750" y="10001175"/>
            <a:ext cx="7934599" cy="7880425"/>
          </a:xfrm>
          <a:prstGeom prst="rect">
            <a:avLst/>
          </a:prstGeom>
        </p:spPr>
      </p:pic>
      <p:pic>
        <p:nvPicPr>
          <p:cNvPr id="46" name="תמונה 45">
            <a:extLst>
              <a:ext uri="{FF2B5EF4-FFF2-40B4-BE49-F238E27FC236}">
                <a16:creationId xmlns:a16="http://schemas.microsoft.com/office/drawing/2014/main" id="{245ACA07-9604-93E1-3BC1-F92ED1E866FB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2575" y="18872199"/>
            <a:ext cx="7702645" cy="7480301"/>
          </a:xfrm>
          <a:prstGeom prst="rect">
            <a:avLst/>
          </a:prstGeom>
        </p:spPr>
      </p:pic>
      <p:pic>
        <p:nvPicPr>
          <p:cNvPr id="49" name="תמונה 48">
            <a:extLst>
              <a:ext uri="{FF2B5EF4-FFF2-40B4-BE49-F238E27FC236}">
                <a16:creationId xmlns:a16="http://schemas.microsoft.com/office/drawing/2014/main" id="{36441A9A-34A4-9E4F-2074-1234D012C2E2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3425" y="25563256"/>
            <a:ext cx="7963325" cy="9399844"/>
          </a:xfrm>
          <a:prstGeom prst="rect">
            <a:avLst/>
          </a:prstGeom>
        </p:spPr>
      </p:pic>
      <p:sp>
        <p:nvSpPr>
          <p:cNvPr id="58" name="מלבן: פינות מעוגלות 57">
            <a:extLst>
              <a:ext uri="{FF2B5EF4-FFF2-40B4-BE49-F238E27FC236}">
                <a16:creationId xmlns:a16="http://schemas.microsoft.com/office/drawing/2014/main" id="{64B76B70-1747-9090-464A-8B75FD247960}"/>
              </a:ext>
            </a:extLst>
          </p:cNvPr>
          <p:cNvSpPr/>
          <p:nvPr/>
        </p:nvSpPr>
        <p:spPr>
          <a:xfrm>
            <a:off x="666000" y="13932000"/>
            <a:ext cx="6300000" cy="4940199"/>
          </a:xfrm>
          <a:prstGeom prst="roundRect">
            <a:avLst>
              <a:gd name="adj" fmla="val 6898"/>
            </a:avLst>
          </a:prstGeom>
          <a:solidFill>
            <a:srgbClr val="FFFFFF"/>
          </a:solidFill>
          <a:ln w="12700">
            <a:solidFill>
              <a:srgbClr val="CFDA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9" name="מלבן: פינות מעוגלות 58">
            <a:extLst>
              <a:ext uri="{FF2B5EF4-FFF2-40B4-BE49-F238E27FC236}">
                <a16:creationId xmlns:a16="http://schemas.microsoft.com/office/drawing/2014/main" id="{0971F435-EF58-E286-073B-E171567E5B72}"/>
              </a:ext>
            </a:extLst>
          </p:cNvPr>
          <p:cNvSpPr/>
          <p:nvPr/>
        </p:nvSpPr>
        <p:spPr>
          <a:xfrm>
            <a:off x="918000" y="14202000"/>
            <a:ext cx="1728000" cy="1583999"/>
          </a:xfrm>
          <a:prstGeom prst="roundRect">
            <a:avLst/>
          </a:prstGeom>
          <a:solidFill>
            <a:srgbClr val="FFFDF7"/>
          </a:solidFill>
          <a:ln w="10160">
            <a:solidFill>
              <a:srgbClr val="CFDA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0" name="תיבת טקסט 59">
            <a:extLst>
              <a:ext uri="{FF2B5EF4-FFF2-40B4-BE49-F238E27FC236}">
                <a16:creationId xmlns:a16="http://schemas.microsoft.com/office/drawing/2014/main" id="{EA897F3A-381A-7CDC-196E-C52AC6258FD2}"/>
              </a:ext>
            </a:extLst>
          </p:cNvPr>
          <p:cNvSpPr txBox="1"/>
          <p:nvPr/>
        </p:nvSpPr>
        <p:spPr>
          <a:xfrm>
            <a:off x="990000" y="14346000"/>
            <a:ext cx="1584000" cy="514253"/>
          </a:xfrm>
          <a:prstGeom prst="rect">
            <a:avLst/>
          </a:prstGeom>
          <a:noFill/>
        </p:spPr>
        <p:txBody>
          <a:bodyPr vert="horz" lIns="18000" tIns="10800" rIns="18000" bIns="10800" rtlCol="1">
            <a:spAutoFit/>
          </a:bodyPr>
          <a:lstStyle/>
          <a:p>
            <a:pPr algn="ctr"/>
            <a:r>
              <a:rPr lang="he-IL" sz="3200" b="1" dirty="0">
                <a:solidFill>
                  <a:srgbClr val="073E60"/>
                </a:solidFill>
                <a:latin typeface="Aptos" panose="020B0004020202020204" pitchFamily="34" charset="0"/>
              </a:rPr>
              <a:t>16,682</a:t>
            </a:r>
          </a:p>
        </p:txBody>
      </p:sp>
      <p:sp>
        <p:nvSpPr>
          <p:cNvPr id="61" name="תיבת טקסט 60">
            <a:extLst>
              <a:ext uri="{FF2B5EF4-FFF2-40B4-BE49-F238E27FC236}">
                <a16:creationId xmlns:a16="http://schemas.microsoft.com/office/drawing/2014/main" id="{4216E720-CF25-41D7-C943-450023265C6D}"/>
              </a:ext>
            </a:extLst>
          </p:cNvPr>
          <p:cNvSpPr txBox="1"/>
          <p:nvPr/>
        </p:nvSpPr>
        <p:spPr>
          <a:xfrm>
            <a:off x="982800" y="14814000"/>
            <a:ext cx="1598400" cy="760475"/>
          </a:xfrm>
          <a:prstGeom prst="rect">
            <a:avLst/>
          </a:prstGeom>
          <a:noFill/>
        </p:spPr>
        <p:txBody>
          <a:bodyPr vert="horz" lIns="18000" tIns="10800" rIns="18000" bIns="10800" rtlCol="1">
            <a:spAutoFit/>
          </a:bodyPr>
          <a:lstStyle/>
          <a:p>
            <a:pPr algn="ctr"/>
            <a:r>
              <a:rPr lang="en-US" sz="2400" b="1" dirty="0">
                <a:solidFill>
                  <a:srgbClr val="1B2934"/>
                </a:solidFill>
                <a:latin typeface="Aptos" panose="020B0004020202020204" pitchFamily="34" charset="0"/>
              </a:rPr>
              <a:t>10-minute</a:t>
            </a:r>
          </a:p>
          <a:p>
            <a:pPr algn="ctr"/>
            <a:r>
              <a:rPr lang="en-US" sz="2400" b="1" dirty="0">
                <a:solidFill>
                  <a:srgbClr val="1B2934"/>
                </a:solidFill>
                <a:latin typeface="Aptos" panose="020B0004020202020204" pitchFamily="34" charset="0"/>
              </a:rPr>
              <a:t>rows</a:t>
            </a:r>
            <a:endParaRPr lang="he-IL" sz="2400" b="1" dirty="0">
              <a:solidFill>
                <a:srgbClr val="1B2934"/>
              </a:solidFill>
              <a:latin typeface="Aptos" panose="020B0004020202020204" pitchFamily="34" charset="0"/>
            </a:endParaRPr>
          </a:p>
        </p:txBody>
      </p:sp>
      <p:sp>
        <p:nvSpPr>
          <p:cNvPr id="62" name="מלבן: פינות מעוגלות 61">
            <a:extLst>
              <a:ext uri="{FF2B5EF4-FFF2-40B4-BE49-F238E27FC236}">
                <a16:creationId xmlns:a16="http://schemas.microsoft.com/office/drawing/2014/main" id="{ACCA5565-F0B8-5BC0-9437-69B904CC2DFF}"/>
              </a:ext>
            </a:extLst>
          </p:cNvPr>
          <p:cNvSpPr/>
          <p:nvPr/>
        </p:nvSpPr>
        <p:spPr>
          <a:xfrm>
            <a:off x="2934000" y="14202000"/>
            <a:ext cx="1728000" cy="1583999"/>
          </a:xfrm>
          <a:prstGeom prst="roundRect">
            <a:avLst/>
          </a:prstGeom>
          <a:solidFill>
            <a:srgbClr val="FFFDF7"/>
          </a:solidFill>
          <a:ln w="10160">
            <a:solidFill>
              <a:srgbClr val="CFDA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3" name="תיבת טקסט 62">
            <a:extLst>
              <a:ext uri="{FF2B5EF4-FFF2-40B4-BE49-F238E27FC236}">
                <a16:creationId xmlns:a16="http://schemas.microsoft.com/office/drawing/2014/main" id="{5F96BB2A-01D6-ABD9-7CFD-C4D4FC75A544}"/>
              </a:ext>
            </a:extLst>
          </p:cNvPr>
          <p:cNvSpPr txBox="1"/>
          <p:nvPr/>
        </p:nvSpPr>
        <p:spPr>
          <a:xfrm>
            <a:off x="3006000" y="14346000"/>
            <a:ext cx="1584000" cy="514253"/>
          </a:xfrm>
          <a:prstGeom prst="rect">
            <a:avLst/>
          </a:prstGeom>
          <a:noFill/>
        </p:spPr>
        <p:txBody>
          <a:bodyPr vert="horz" lIns="18000" tIns="10800" rIns="18000" bIns="10800" rtlCol="1">
            <a:spAutoFit/>
          </a:bodyPr>
          <a:lstStyle/>
          <a:p>
            <a:pPr algn="ctr"/>
            <a:r>
              <a:rPr lang="he-IL" sz="3200" b="1" dirty="0">
                <a:solidFill>
                  <a:srgbClr val="073E60"/>
                </a:solidFill>
                <a:latin typeface="Aptos" panose="020B0004020202020204" pitchFamily="34" charset="0"/>
              </a:rPr>
              <a:t>109</a:t>
            </a:r>
          </a:p>
        </p:txBody>
      </p:sp>
      <p:sp>
        <p:nvSpPr>
          <p:cNvPr id="64" name="תיבת טקסט 63">
            <a:extLst>
              <a:ext uri="{FF2B5EF4-FFF2-40B4-BE49-F238E27FC236}">
                <a16:creationId xmlns:a16="http://schemas.microsoft.com/office/drawing/2014/main" id="{60ED6B38-2DA6-8C05-6BBB-801186A99EC1}"/>
              </a:ext>
            </a:extLst>
          </p:cNvPr>
          <p:cNvSpPr txBox="1"/>
          <p:nvPr/>
        </p:nvSpPr>
        <p:spPr>
          <a:xfrm>
            <a:off x="2998800" y="14814000"/>
            <a:ext cx="1598400" cy="760475"/>
          </a:xfrm>
          <a:prstGeom prst="rect">
            <a:avLst/>
          </a:prstGeom>
          <a:noFill/>
        </p:spPr>
        <p:txBody>
          <a:bodyPr vert="horz" lIns="18000" tIns="10800" rIns="18000" bIns="10800" rtlCol="1">
            <a:spAutoFit/>
          </a:bodyPr>
          <a:lstStyle/>
          <a:p>
            <a:pPr algn="ctr"/>
            <a:r>
              <a:rPr lang="en-US" sz="2400" b="1" dirty="0">
                <a:solidFill>
                  <a:srgbClr val="1B2934"/>
                </a:solidFill>
                <a:latin typeface="Aptos" panose="020B0004020202020204" pitchFamily="34" charset="0"/>
              </a:rPr>
              <a:t>pH/EC</a:t>
            </a:r>
          </a:p>
          <a:p>
            <a:pPr algn="ctr"/>
            <a:r>
              <a:rPr lang="en-US" sz="2400" b="1" dirty="0">
                <a:solidFill>
                  <a:srgbClr val="1B2934"/>
                </a:solidFill>
                <a:latin typeface="Aptos" panose="020B0004020202020204" pitchFamily="34" charset="0"/>
              </a:rPr>
              <a:t>labels</a:t>
            </a:r>
            <a:endParaRPr lang="he-IL" sz="2400" b="1" dirty="0">
              <a:solidFill>
                <a:srgbClr val="1B2934"/>
              </a:solidFill>
              <a:latin typeface="Aptos" panose="020B0004020202020204" pitchFamily="34" charset="0"/>
            </a:endParaRPr>
          </a:p>
        </p:txBody>
      </p:sp>
      <p:sp>
        <p:nvSpPr>
          <p:cNvPr id="65" name="מלבן: פינות מעוגלות 64">
            <a:extLst>
              <a:ext uri="{FF2B5EF4-FFF2-40B4-BE49-F238E27FC236}">
                <a16:creationId xmlns:a16="http://schemas.microsoft.com/office/drawing/2014/main" id="{D0F1F458-0212-2D6F-ADC9-0286C6A2AF2F}"/>
              </a:ext>
            </a:extLst>
          </p:cNvPr>
          <p:cNvSpPr/>
          <p:nvPr/>
        </p:nvSpPr>
        <p:spPr>
          <a:xfrm>
            <a:off x="4950000" y="14202000"/>
            <a:ext cx="1728000" cy="1583999"/>
          </a:xfrm>
          <a:prstGeom prst="roundRect">
            <a:avLst/>
          </a:prstGeom>
          <a:solidFill>
            <a:srgbClr val="FFFDF7"/>
          </a:solidFill>
          <a:ln w="10160">
            <a:solidFill>
              <a:srgbClr val="CFDA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7" name="תיבת טקסט 66">
            <a:extLst>
              <a:ext uri="{FF2B5EF4-FFF2-40B4-BE49-F238E27FC236}">
                <a16:creationId xmlns:a16="http://schemas.microsoft.com/office/drawing/2014/main" id="{0B616C2E-0594-7243-5096-F6373647B302}"/>
              </a:ext>
            </a:extLst>
          </p:cNvPr>
          <p:cNvSpPr txBox="1"/>
          <p:nvPr/>
        </p:nvSpPr>
        <p:spPr>
          <a:xfrm>
            <a:off x="5022000" y="14346000"/>
            <a:ext cx="1584000" cy="514253"/>
          </a:xfrm>
          <a:prstGeom prst="rect">
            <a:avLst/>
          </a:prstGeom>
          <a:noFill/>
        </p:spPr>
        <p:txBody>
          <a:bodyPr vert="horz" lIns="18000" tIns="10800" rIns="18000" bIns="10800" rtlCol="1">
            <a:spAutoFit/>
          </a:bodyPr>
          <a:lstStyle/>
          <a:p>
            <a:pPr algn="ctr"/>
            <a:r>
              <a:rPr lang="he-IL" sz="3200" b="1" dirty="0">
                <a:solidFill>
                  <a:srgbClr val="073E60"/>
                </a:solidFill>
                <a:latin typeface="Aptos" panose="020B0004020202020204" pitchFamily="34" charset="0"/>
              </a:rPr>
              <a:t>20</a:t>
            </a:r>
          </a:p>
        </p:txBody>
      </p:sp>
      <p:sp>
        <p:nvSpPr>
          <p:cNvPr id="68" name="תיבת טקסט 67">
            <a:extLst>
              <a:ext uri="{FF2B5EF4-FFF2-40B4-BE49-F238E27FC236}">
                <a16:creationId xmlns:a16="http://schemas.microsoft.com/office/drawing/2014/main" id="{1A15E6B9-CF26-60EE-9BD3-E79FB33708A6}"/>
              </a:ext>
            </a:extLst>
          </p:cNvPr>
          <p:cNvSpPr txBox="1"/>
          <p:nvPr/>
        </p:nvSpPr>
        <p:spPr>
          <a:xfrm>
            <a:off x="5014800" y="14814000"/>
            <a:ext cx="1598400" cy="760475"/>
          </a:xfrm>
          <a:prstGeom prst="rect">
            <a:avLst/>
          </a:prstGeom>
          <a:noFill/>
        </p:spPr>
        <p:txBody>
          <a:bodyPr vert="horz" lIns="18000" tIns="10800" rIns="18000" bIns="10800" rtlCol="1">
            <a:spAutoFit/>
          </a:bodyPr>
          <a:lstStyle/>
          <a:p>
            <a:pPr algn="ctr"/>
            <a:r>
              <a:rPr lang="en-US" sz="2400" b="1" dirty="0">
                <a:solidFill>
                  <a:srgbClr val="1B2934"/>
                </a:solidFill>
                <a:latin typeface="Aptos" panose="020B0004020202020204" pitchFamily="34" charset="0"/>
              </a:rPr>
              <a:t>input</a:t>
            </a:r>
          </a:p>
          <a:p>
            <a:pPr algn="ctr"/>
            <a:r>
              <a:rPr lang="en-US" sz="2400" b="1" dirty="0">
                <a:solidFill>
                  <a:srgbClr val="1B2934"/>
                </a:solidFill>
                <a:latin typeface="Aptos" panose="020B0004020202020204" pitchFamily="34" charset="0"/>
              </a:rPr>
              <a:t>features</a:t>
            </a:r>
            <a:endParaRPr lang="he-IL" sz="2400" b="1" dirty="0">
              <a:solidFill>
                <a:srgbClr val="1B2934"/>
              </a:solidFill>
              <a:latin typeface="Aptos" panose="020B0004020202020204" pitchFamily="34" charset="0"/>
            </a:endParaRPr>
          </a:p>
        </p:txBody>
      </p:sp>
      <p:sp>
        <p:nvSpPr>
          <p:cNvPr id="72" name="תיבת טקסט 71">
            <a:extLst>
              <a:ext uri="{FF2B5EF4-FFF2-40B4-BE49-F238E27FC236}">
                <a16:creationId xmlns:a16="http://schemas.microsoft.com/office/drawing/2014/main" id="{084B9919-253E-72E8-515B-70166EF6E71D}"/>
              </a:ext>
            </a:extLst>
          </p:cNvPr>
          <p:cNvSpPr txBox="1"/>
          <p:nvPr/>
        </p:nvSpPr>
        <p:spPr>
          <a:xfrm>
            <a:off x="1112550" y="15980445"/>
            <a:ext cx="5310000" cy="2976466"/>
          </a:xfrm>
          <a:prstGeom prst="rect">
            <a:avLst/>
          </a:prstGeom>
          <a:noFill/>
        </p:spPr>
        <p:txBody>
          <a:bodyPr vert="horz" lIns="18000" tIns="10800" rIns="18000" bIns="10800" rtlCol="1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1B2934"/>
                </a:solidFill>
                <a:latin typeface="Aptos" panose="020B0004020202020204" pitchFamily="34" charset="0"/>
              </a:rPr>
              <a:t>Unified 10-minute Master Dataset, May 29-Sep 21, 2025.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1B2934"/>
                </a:solidFill>
                <a:latin typeface="Aptos" panose="020B0004020202020204" pitchFamily="34" charset="0"/>
              </a:rPr>
              <a:t>Dense inputs combine weather, greenhouse climate, fertigation, crop state, and time history.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1B2934"/>
                </a:solidFill>
                <a:latin typeface="Aptos" panose="020B0004020202020204" pitchFamily="34" charset="0"/>
              </a:rPr>
              <a:t>Sparse manual pH/EC samples are used as target labels.</a:t>
            </a:r>
            <a:endParaRPr lang="he-IL" sz="2400" dirty="0">
              <a:solidFill>
                <a:srgbClr val="1B2934"/>
              </a:solidFill>
              <a:latin typeface="Aptos" panose="020B0004020202020204" pitchFamily="34" charset="0"/>
            </a:endParaRPr>
          </a:p>
          <a:p>
            <a:endParaRPr lang="he-IL" sz="2400" dirty="0">
              <a:solidFill>
                <a:srgbClr val="1B2934"/>
              </a:solidFill>
              <a:latin typeface="Aptos" panose="020B0004020202020204" pitchFamily="34" charset="0"/>
            </a:endParaRPr>
          </a:p>
        </p:txBody>
      </p:sp>
      <p:sp>
        <p:nvSpPr>
          <p:cNvPr id="75" name="מלבן: פינות מעוגלות 74">
            <a:extLst>
              <a:ext uri="{FF2B5EF4-FFF2-40B4-BE49-F238E27FC236}">
                <a16:creationId xmlns:a16="http://schemas.microsoft.com/office/drawing/2014/main" id="{6C2FDC47-5D58-1CFD-D37E-7408A2322CA4}"/>
              </a:ext>
            </a:extLst>
          </p:cNvPr>
          <p:cNvSpPr/>
          <p:nvPr/>
        </p:nvSpPr>
        <p:spPr>
          <a:xfrm>
            <a:off x="666000" y="19271250"/>
            <a:ext cx="6300000" cy="846000"/>
          </a:xfrm>
          <a:prstGeom prst="roundRect">
            <a:avLst/>
          </a:prstGeom>
          <a:solidFill>
            <a:srgbClr val="FFFDF7"/>
          </a:solidFill>
          <a:ln w="10160">
            <a:solidFill>
              <a:srgbClr val="CFDA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6" name="מלבן: פינות מעוגלות 75">
            <a:extLst>
              <a:ext uri="{FF2B5EF4-FFF2-40B4-BE49-F238E27FC236}">
                <a16:creationId xmlns:a16="http://schemas.microsoft.com/office/drawing/2014/main" id="{552CF1A7-82ED-D851-0629-EADE8A86B4D6}"/>
              </a:ext>
            </a:extLst>
          </p:cNvPr>
          <p:cNvSpPr/>
          <p:nvPr/>
        </p:nvSpPr>
        <p:spPr>
          <a:xfrm>
            <a:off x="666000" y="19271250"/>
            <a:ext cx="792000" cy="846000"/>
          </a:xfrm>
          <a:prstGeom prst="roundRect">
            <a:avLst/>
          </a:prstGeom>
          <a:solidFill>
            <a:srgbClr val="54B9C6"/>
          </a:solidFill>
          <a:ln w="0">
            <a:solidFill>
              <a:srgbClr val="54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7" name="אליפסה 76">
            <a:extLst>
              <a:ext uri="{FF2B5EF4-FFF2-40B4-BE49-F238E27FC236}">
                <a16:creationId xmlns:a16="http://schemas.microsoft.com/office/drawing/2014/main" id="{FDA9E87C-500F-A3CB-1CFC-FFC2E79F08A0}"/>
              </a:ext>
            </a:extLst>
          </p:cNvPr>
          <p:cNvSpPr/>
          <p:nvPr/>
        </p:nvSpPr>
        <p:spPr>
          <a:xfrm>
            <a:off x="925200" y="19552050"/>
            <a:ext cx="280800" cy="280800"/>
          </a:xfrm>
          <a:prstGeom prst="ellipse">
            <a:avLst/>
          </a:prstGeom>
          <a:solidFill>
            <a:srgbClr val="FFFFF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3" name="תיבת טקסט 142">
            <a:extLst>
              <a:ext uri="{FF2B5EF4-FFF2-40B4-BE49-F238E27FC236}">
                <a16:creationId xmlns:a16="http://schemas.microsoft.com/office/drawing/2014/main" id="{7AF4C636-03E0-D9FA-1748-90DA5399AD7A}"/>
              </a:ext>
            </a:extLst>
          </p:cNvPr>
          <p:cNvSpPr txBox="1"/>
          <p:nvPr/>
        </p:nvSpPr>
        <p:spPr>
          <a:xfrm>
            <a:off x="1638000" y="19315786"/>
            <a:ext cx="4896000" cy="391143"/>
          </a:xfrm>
          <a:prstGeom prst="rect">
            <a:avLst/>
          </a:prstGeom>
          <a:noFill/>
        </p:spPr>
        <p:txBody>
          <a:bodyPr vert="horz" lIns="18000" tIns="10800" rIns="18000" bIns="10800" rtlCol="1">
            <a:spAutoFit/>
          </a:bodyPr>
          <a:lstStyle/>
          <a:p>
            <a:r>
              <a:rPr lang="en-US" sz="2400" b="1" dirty="0">
                <a:solidFill>
                  <a:srgbClr val="073E60"/>
                </a:solidFill>
                <a:latin typeface="Aptos" panose="020B0004020202020204" pitchFamily="34" charset="0"/>
              </a:rPr>
              <a:t>Climate conditions</a:t>
            </a:r>
            <a:endParaRPr lang="he-IL" sz="2400" b="1" dirty="0">
              <a:solidFill>
                <a:srgbClr val="073E60"/>
              </a:solidFill>
              <a:latin typeface="Aptos" panose="020B0004020202020204" pitchFamily="34" charset="0"/>
            </a:endParaRPr>
          </a:p>
        </p:txBody>
      </p:sp>
      <p:sp>
        <p:nvSpPr>
          <p:cNvPr id="144" name="תיבת טקסט 143">
            <a:extLst>
              <a:ext uri="{FF2B5EF4-FFF2-40B4-BE49-F238E27FC236}">
                <a16:creationId xmlns:a16="http://schemas.microsoft.com/office/drawing/2014/main" id="{7A2CAE81-73A4-FBFB-3CEA-5EE4707FB0C0}"/>
              </a:ext>
            </a:extLst>
          </p:cNvPr>
          <p:cNvSpPr txBox="1"/>
          <p:nvPr/>
        </p:nvSpPr>
        <p:spPr>
          <a:xfrm>
            <a:off x="1638000" y="19661387"/>
            <a:ext cx="4896000" cy="391143"/>
          </a:xfrm>
          <a:prstGeom prst="rect">
            <a:avLst/>
          </a:prstGeom>
          <a:noFill/>
        </p:spPr>
        <p:txBody>
          <a:bodyPr vert="horz" lIns="18000" tIns="10800" rIns="18000" bIns="10800" rtlCol="1">
            <a:spAutoFit/>
          </a:bodyPr>
          <a:lstStyle/>
          <a:p>
            <a:r>
              <a:rPr lang="en-US" sz="2400" dirty="0">
                <a:solidFill>
                  <a:srgbClr val="1B2934"/>
                </a:solidFill>
                <a:latin typeface="Aptos" panose="020B0004020202020204" pitchFamily="34" charset="0"/>
              </a:rPr>
              <a:t>temperature - humidity - radiation</a:t>
            </a:r>
            <a:endParaRPr lang="he-IL" sz="2400" dirty="0">
              <a:solidFill>
                <a:srgbClr val="1B2934"/>
              </a:solidFill>
              <a:latin typeface="Aptos" panose="020B0004020202020204" pitchFamily="34" charset="0"/>
            </a:endParaRPr>
          </a:p>
        </p:txBody>
      </p:sp>
      <p:sp>
        <p:nvSpPr>
          <p:cNvPr id="145" name="מלבן: פינות מעוגלות 144">
            <a:extLst>
              <a:ext uri="{FF2B5EF4-FFF2-40B4-BE49-F238E27FC236}">
                <a16:creationId xmlns:a16="http://schemas.microsoft.com/office/drawing/2014/main" id="{6BF4F3F4-C88D-61C1-489F-35DFDCB85897}"/>
              </a:ext>
            </a:extLst>
          </p:cNvPr>
          <p:cNvSpPr/>
          <p:nvPr/>
        </p:nvSpPr>
        <p:spPr>
          <a:xfrm>
            <a:off x="666000" y="20243250"/>
            <a:ext cx="6300000" cy="845999"/>
          </a:xfrm>
          <a:prstGeom prst="roundRect">
            <a:avLst/>
          </a:prstGeom>
          <a:solidFill>
            <a:srgbClr val="FFFDF7"/>
          </a:solidFill>
          <a:ln w="10160">
            <a:solidFill>
              <a:srgbClr val="CFDA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6" name="מלבן: פינות מעוגלות 145">
            <a:extLst>
              <a:ext uri="{FF2B5EF4-FFF2-40B4-BE49-F238E27FC236}">
                <a16:creationId xmlns:a16="http://schemas.microsoft.com/office/drawing/2014/main" id="{837107B9-D020-5E03-5E21-EA6980E1BC4B}"/>
              </a:ext>
            </a:extLst>
          </p:cNvPr>
          <p:cNvSpPr/>
          <p:nvPr/>
        </p:nvSpPr>
        <p:spPr>
          <a:xfrm>
            <a:off x="666000" y="20243250"/>
            <a:ext cx="792000" cy="845999"/>
          </a:xfrm>
          <a:prstGeom prst="roundRect">
            <a:avLst/>
          </a:prstGeom>
          <a:solidFill>
            <a:srgbClr val="0C5B6E"/>
          </a:solidFill>
          <a:ln w="0">
            <a:solidFill>
              <a:srgbClr val="0C5B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7" name="אליפסה 146">
            <a:extLst>
              <a:ext uri="{FF2B5EF4-FFF2-40B4-BE49-F238E27FC236}">
                <a16:creationId xmlns:a16="http://schemas.microsoft.com/office/drawing/2014/main" id="{80419B32-5BE2-E963-4D59-A72740FFE272}"/>
              </a:ext>
            </a:extLst>
          </p:cNvPr>
          <p:cNvSpPr/>
          <p:nvPr/>
        </p:nvSpPr>
        <p:spPr>
          <a:xfrm>
            <a:off x="925200" y="20524050"/>
            <a:ext cx="280800" cy="280799"/>
          </a:xfrm>
          <a:prstGeom prst="ellipse">
            <a:avLst/>
          </a:prstGeom>
          <a:solidFill>
            <a:srgbClr val="FFFFF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8" name="תיבת טקסט 147">
            <a:extLst>
              <a:ext uri="{FF2B5EF4-FFF2-40B4-BE49-F238E27FC236}">
                <a16:creationId xmlns:a16="http://schemas.microsoft.com/office/drawing/2014/main" id="{334A7DF2-CB04-9B26-DFF0-B8AD34DFA467}"/>
              </a:ext>
            </a:extLst>
          </p:cNvPr>
          <p:cNvSpPr txBox="1"/>
          <p:nvPr/>
        </p:nvSpPr>
        <p:spPr>
          <a:xfrm>
            <a:off x="1638000" y="20287785"/>
            <a:ext cx="4896000" cy="391143"/>
          </a:xfrm>
          <a:prstGeom prst="rect">
            <a:avLst/>
          </a:prstGeom>
          <a:noFill/>
        </p:spPr>
        <p:txBody>
          <a:bodyPr vert="horz" lIns="18000" tIns="10800" rIns="18000" bIns="10800" rtlCol="1">
            <a:spAutoFit/>
          </a:bodyPr>
          <a:lstStyle/>
          <a:p>
            <a:r>
              <a:rPr lang="en-US" sz="2400" b="1">
                <a:solidFill>
                  <a:srgbClr val="073E60"/>
                </a:solidFill>
                <a:latin typeface="Aptos" panose="020B0004020202020204" pitchFamily="34" charset="0"/>
              </a:rPr>
              <a:t>Irrigation &amp; fertigation</a:t>
            </a:r>
            <a:endParaRPr lang="he-IL" sz="2400" b="1">
              <a:solidFill>
                <a:srgbClr val="073E60"/>
              </a:solidFill>
              <a:latin typeface="Aptos" panose="020B0004020202020204" pitchFamily="34" charset="0"/>
            </a:endParaRPr>
          </a:p>
        </p:txBody>
      </p:sp>
      <p:sp>
        <p:nvSpPr>
          <p:cNvPr id="149" name="תיבת טקסט 148">
            <a:extLst>
              <a:ext uri="{FF2B5EF4-FFF2-40B4-BE49-F238E27FC236}">
                <a16:creationId xmlns:a16="http://schemas.microsoft.com/office/drawing/2014/main" id="{4A4ADB07-C41D-609E-15FB-8A23CE15EB1F}"/>
              </a:ext>
            </a:extLst>
          </p:cNvPr>
          <p:cNvSpPr txBox="1"/>
          <p:nvPr/>
        </p:nvSpPr>
        <p:spPr>
          <a:xfrm>
            <a:off x="1638000" y="20633386"/>
            <a:ext cx="4896000" cy="391143"/>
          </a:xfrm>
          <a:prstGeom prst="rect">
            <a:avLst/>
          </a:prstGeom>
          <a:noFill/>
        </p:spPr>
        <p:txBody>
          <a:bodyPr vert="horz" lIns="18000" tIns="10800" rIns="18000" bIns="10800" rtlCol="1">
            <a:spAutoFit/>
          </a:bodyPr>
          <a:lstStyle/>
          <a:p>
            <a:r>
              <a:rPr lang="en-US" sz="2400">
                <a:solidFill>
                  <a:srgbClr val="1B2934"/>
                </a:solidFill>
                <a:latin typeface="Aptos" panose="020B0004020202020204" pitchFamily="34" charset="0"/>
              </a:rPr>
              <a:t>water - fertilizer - acid - salts</a:t>
            </a:r>
            <a:endParaRPr lang="he-IL" sz="2400">
              <a:solidFill>
                <a:srgbClr val="1B2934"/>
              </a:solidFill>
              <a:latin typeface="Aptos" panose="020B0004020202020204" pitchFamily="34" charset="0"/>
            </a:endParaRPr>
          </a:p>
        </p:txBody>
      </p:sp>
      <p:sp>
        <p:nvSpPr>
          <p:cNvPr id="150" name="מלבן: פינות מעוגלות 149">
            <a:extLst>
              <a:ext uri="{FF2B5EF4-FFF2-40B4-BE49-F238E27FC236}">
                <a16:creationId xmlns:a16="http://schemas.microsoft.com/office/drawing/2014/main" id="{E21A38F3-D128-F438-0140-C85D483549A1}"/>
              </a:ext>
            </a:extLst>
          </p:cNvPr>
          <p:cNvSpPr/>
          <p:nvPr/>
        </p:nvSpPr>
        <p:spPr>
          <a:xfrm>
            <a:off x="666000" y="21215249"/>
            <a:ext cx="6300000" cy="846000"/>
          </a:xfrm>
          <a:prstGeom prst="roundRect">
            <a:avLst/>
          </a:prstGeom>
          <a:solidFill>
            <a:srgbClr val="FFFDF7"/>
          </a:solidFill>
          <a:ln w="10160">
            <a:solidFill>
              <a:srgbClr val="CFDA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1" name="מלבן: פינות מעוגלות 150">
            <a:extLst>
              <a:ext uri="{FF2B5EF4-FFF2-40B4-BE49-F238E27FC236}">
                <a16:creationId xmlns:a16="http://schemas.microsoft.com/office/drawing/2014/main" id="{0ECC7AE2-19A0-B6A4-F436-BB2681EE0AE2}"/>
              </a:ext>
            </a:extLst>
          </p:cNvPr>
          <p:cNvSpPr/>
          <p:nvPr/>
        </p:nvSpPr>
        <p:spPr>
          <a:xfrm>
            <a:off x="666000" y="21215249"/>
            <a:ext cx="792000" cy="846000"/>
          </a:xfrm>
          <a:prstGeom prst="roundRect">
            <a:avLst/>
          </a:prstGeom>
          <a:solidFill>
            <a:srgbClr val="8D9A9A"/>
          </a:solidFill>
          <a:ln w="0">
            <a:solidFill>
              <a:srgbClr val="8D9A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2" name="אליפסה 151">
            <a:extLst>
              <a:ext uri="{FF2B5EF4-FFF2-40B4-BE49-F238E27FC236}">
                <a16:creationId xmlns:a16="http://schemas.microsoft.com/office/drawing/2014/main" id="{1D13E9F9-E627-8254-ACFE-1D092E73B8AB}"/>
              </a:ext>
            </a:extLst>
          </p:cNvPr>
          <p:cNvSpPr/>
          <p:nvPr/>
        </p:nvSpPr>
        <p:spPr>
          <a:xfrm>
            <a:off x="925200" y="21496051"/>
            <a:ext cx="280800" cy="280800"/>
          </a:xfrm>
          <a:prstGeom prst="ellipse">
            <a:avLst/>
          </a:prstGeom>
          <a:solidFill>
            <a:srgbClr val="FFFFF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3" name="תיבת טקסט 152">
            <a:extLst>
              <a:ext uri="{FF2B5EF4-FFF2-40B4-BE49-F238E27FC236}">
                <a16:creationId xmlns:a16="http://schemas.microsoft.com/office/drawing/2014/main" id="{2CB00F30-443E-8ADF-2093-713587679A08}"/>
              </a:ext>
            </a:extLst>
          </p:cNvPr>
          <p:cNvSpPr txBox="1"/>
          <p:nvPr/>
        </p:nvSpPr>
        <p:spPr>
          <a:xfrm>
            <a:off x="1638000" y="21259787"/>
            <a:ext cx="4896000" cy="391143"/>
          </a:xfrm>
          <a:prstGeom prst="rect">
            <a:avLst/>
          </a:prstGeom>
          <a:noFill/>
        </p:spPr>
        <p:txBody>
          <a:bodyPr vert="horz" lIns="18000" tIns="10800" rIns="18000" bIns="10800" rtlCol="1">
            <a:spAutoFit/>
          </a:bodyPr>
          <a:lstStyle/>
          <a:p>
            <a:r>
              <a:rPr lang="en-US" sz="2400" b="1">
                <a:solidFill>
                  <a:srgbClr val="073E60"/>
                </a:solidFill>
                <a:latin typeface="Aptos" panose="020B0004020202020204" pitchFamily="34" charset="0"/>
              </a:rPr>
              <a:t>Plant status</a:t>
            </a:r>
            <a:endParaRPr lang="he-IL" sz="2400" b="1" dirty="0">
              <a:solidFill>
                <a:srgbClr val="073E60"/>
              </a:solidFill>
              <a:latin typeface="Aptos" panose="020B0004020202020204" pitchFamily="34" charset="0"/>
            </a:endParaRPr>
          </a:p>
        </p:txBody>
      </p:sp>
      <p:sp>
        <p:nvSpPr>
          <p:cNvPr id="154" name="תיבת טקסט 153">
            <a:extLst>
              <a:ext uri="{FF2B5EF4-FFF2-40B4-BE49-F238E27FC236}">
                <a16:creationId xmlns:a16="http://schemas.microsoft.com/office/drawing/2014/main" id="{B850E76A-056F-F6F5-1FE2-C5FF331FF01D}"/>
              </a:ext>
            </a:extLst>
          </p:cNvPr>
          <p:cNvSpPr txBox="1"/>
          <p:nvPr/>
        </p:nvSpPr>
        <p:spPr>
          <a:xfrm>
            <a:off x="1638000" y="21605386"/>
            <a:ext cx="4896000" cy="391143"/>
          </a:xfrm>
          <a:prstGeom prst="rect">
            <a:avLst/>
          </a:prstGeom>
          <a:noFill/>
        </p:spPr>
        <p:txBody>
          <a:bodyPr vert="horz" lIns="18000" tIns="10800" rIns="18000" bIns="10800" rtlCol="1">
            <a:spAutoFit/>
          </a:bodyPr>
          <a:lstStyle/>
          <a:p>
            <a:r>
              <a:rPr lang="en-US" sz="2400">
                <a:solidFill>
                  <a:srgbClr val="1B2934"/>
                </a:solidFill>
                <a:latin typeface="Aptos" panose="020B0004020202020204" pitchFamily="34" charset="0"/>
              </a:rPr>
              <a:t>canopy cover - crop age</a:t>
            </a:r>
            <a:endParaRPr lang="he-IL" sz="2400" dirty="0">
              <a:solidFill>
                <a:srgbClr val="1B2934"/>
              </a:solidFill>
              <a:latin typeface="Aptos" panose="020B0004020202020204" pitchFamily="34" charset="0"/>
            </a:endParaRPr>
          </a:p>
        </p:txBody>
      </p:sp>
      <p:sp>
        <p:nvSpPr>
          <p:cNvPr id="155" name="מלבן: פינות מעוגלות 154">
            <a:extLst>
              <a:ext uri="{FF2B5EF4-FFF2-40B4-BE49-F238E27FC236}">
                <a16:creationId xmlns:a16="http://schemas.microsoft.com/office/drawing/2014/main" id="{5B881430-9DCA-BADC-72EA-0C959483CC37}"/>
              </a:ext>
            </a:extLst>
          </p:cNvPr>
          <p:cNvSpPr/>
          <p:nvPr/>
        </p:nvSpPr>
        <p:spPr>
          <a:xfrm>
            <a:off x="666000" y="22187250"/>
            <a:ext cx="6300000" cy="846000"/>
          </a:xfrm>
          <a:prstGeom prst="roundRect">
            <a:avLst/>
          </a:prstGeom>
          <a:solidFill>
            <a:srgbClr val="FFFDF7"/>
          </a:solidFill>
          <a:ln w="10160">
            <a:solidFill>
              <a:srgbClr val="CFDA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6" name="מלבן: פינות מעוגלות 155">
            <a:extLst>
              <a:ext uri="{FF2B5EF4-FFF2-40B4-BE49-F238E27FC236}">
                <a16:creationId xmlns:a16="http://schemas.microsoft.com/office/drawing/2014/main" id="{8BEF7169-4B30-B8BE-74AA-B2D9FC732101}"/>
              </a:ext>
            </a:extLst>
          </p:cNvPr>
          <p:cNvSpPr/>
          <p:nvPr/>
        </p:nvSpPr>
        <p:spPr>
          <a:xfrm>
            <a:off x="666000" y="22187250"/>
            <a:ext cx="792000" cy="846000"/>
          </a:xfrm>
          <a:prstGeom prst="roundRect">
            <a:avLst/>
          </a:prstGeom>
          <a:solidFill>
            <a:srgbClr val="073E60"/>
          </a:solidFill>
          <a:ln w="0">
            <a:solidFill>
              <a:srgbClr val="073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157" name="אליפסה 156">
            <a:extLst>
              <a:ext uri="{FF2B5EF4-FFF2-40B4-BE49-F238E27FC236}">
                <a16:creationId xmlns:a16="http://schemas.microsoft.com/office/drawing/2014/main" id="{B59EF669-85FB-06E0-D042-100F0E3A5BE3}"/>
              </a:ext>
            </a:extLst>
          </p:cNvPr>
          <p:cNvSpPr/>
          <p:nvPr/>
        </p:nvSpPr>
        <p:spPr>
          <a:xfrm>
            <a:off x="925200" y="22468050"/>
            <a:ext cx="280800" cy="280800"/>
          </a:xfrm>
          <a:prstGeom prst="ellipse">
            <a:avLst/>
          </a:prstGeom>
          <a:solidFill>
            <a:srgbClr val="FFFFF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8" name="תיבת טקסט 157">
            <a:extLst>
              <a:ext uri="{FF2B5EF4-FFF2-40B4-BE49-F238E27FC236}">
                <a16:creationId xmlns:a16="http://schemas.microsoft.com/office/drawing/2014/main" id="{1CC0C20D-3F1D-FE45-F150-50A78F04CC82}"/>
              </a:ext>
            </a:extLst>
          </p:cNvPr>
          <p:cNvSpPr txBox="1"/>
          <p:nvPr/>
        </p:nvSpPr>
        <p:spPr>
          <a:xfrm>
            <a:off x="1638000" y="22231786"/>
            <a:ext cx="4896000" cy="391143"/>
          </a:xfrm>
          <a:prstGeom prst="rect">
            <a:avLst/>
          </a:prstGeom>
          <a:noFill/>
        </p:spPr>
        <p:txBody>
          <a:bodyPr vert="horz" lIns="18000" tIns="10800" rIns="18000" bIns="10800" rtlCol="1">
            <a:spAutoFit/>
          </a:bodyPr>
          <a:lstStyle/>
          <a:p>
            <a:r>
              <a:rPr lang="en-US" sz="2400" b="1">
                <a:solidFill>
                  <a:srgbClr val="073E60"/>
                </a:solidFill>
                <a:latin typeface="Aptos" panose="020B0004020202020204" pitchFamily="34" charset="0"/>
              </a:rPr>
              <a:t>Root-zone measurements</a:t>
            </a:r>
            <a:endParaRPr lang="he-IL" sz="2400" b="1">
              <a:solidFill>
                <a:srgbClr val="073E60"/>
              </a:solidFill>
              <a:latin typeface="Aptos" panose="020B0004020202020204" pitchFamily="34" charset="0"/>
            </a:endParaRPr>
          </a:p>
        </p:txBody>
      </p:sp>
      <p:sp>
        <p:nvSpPr>
          <p:cNvPr id="159" name="תיבת טקסט 158">
            <a:extLst>
              <a:ext uri="{FF2B5EF4-FFF2-40B4-BE49-F238E27FC236}">
                <a16:creationId xmlns:a16="http://schemas.microsoft.com/office/drawing/2014/main" id="{41E69744-3E16-556B-7F6D-3D08939ECA13}"/>
              </a:ext>
            </a:extLst>
          </p:cNvPr>
          <p:cNvSpPr txBox="1"/>
          <p:nvPr/>
        </p:nvSpPr>
        <p:spPr>
          <a:xfrm>
            <a:off x="1638000" y="22577385"/>
            <a:ext cx="4896000" cy="391143"/>
          </a:xfrm>
          <a:prstGeom prst="rect">
            <a:avLst/>
          </a:prstGeom>
          <a:noFill/>
        </p:spPr>
        <p:txBody>
          <a:bodyPr vert="horz" lIns="18000" tIns="10800" rIns="18000" bIns="10800" rtlCol="1">
            <a:spAutoFit/>
          </a:bodyPr>
          <a:lstStyle/>
          <a:p>
            <a:r>
              <a:rPr lang="en-US" sz="2400">
                <a:solidFill>
                  <a:srgbClr val="1B2934"/>
                </a:solidFill>
                <a:latin typeface="Aptos" panose="020B0004020202020204" pitchFamily="34" charset="0"/>
              </a:rPr>
              <a:t>manual pH &amp; EC samples</a:t>
            </a:r>
            <a:endParaRPr lang="he-IL" sz="2400">
              <a:solidFill>
                <a:srgbClr val="1B2934"/>
              </a:solidFill>
              <a:latin typeface="Aptos" panose="020B0004020202020204" pitchFamily="34" charset="0"/>
            </a:endParaRPr>
          </a:p>
        </p:txBody>
      </p:sp>
      <p:sp>
        <p:nvSpPr>
          <p:cNvPr id="160" name="מלבן: פינות מעוגלות 159">
            <a:extLst>
              <a:ext uri="{FF2B5EF4-FFF2-40B4-BE49-F238E27FC236}">
                <a16:creationId xmlns:a16="http://schemas.microsoft.com/office/drawing/2014/main" id="{CF369FF7-B712-A3ED-29DC-3A366C94285B}"/>
              </a:ext>
            </a:extLst>
          </p:cNvPr>
          <p:cNvSpPr/>
          <p:nvPr/>
        </p:nvSpPr>
        <p:spPr>
          <a:xfrm>
            <a:off x="666000" y="23159250"/>
            <a:ext cx="6300000" cy="845999"/>
          </a:xfrm>
          <a:prstGeom prst="roundRect">
            <a:avLst/>
          </a:prstGeom>
          <a:solidFill>
            <a:srgbClr val="FFFDF7"/>
          </a:solidFill>
          <a:ln w="10160">
            <a:solidFill>
              <a:srgbClr val="CFDA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61" name="מלבן: פינות מעוגלות 160">
            <a:extLst>
              <a:ext uri="{FF2B5EF4-FFF2-40B4-BE49-F238E27FC236}">
                <a16:creationId xmlns:a16="http://schemas.microsoft.com/office/drawing/2014/main" id="{408AB83A-2EE1-1A76-32AF-62F1ABE8E50F}"/>
              </a:ext>
            </a:extLst>
          </p:cNvPr>
          <p:cNvSpPr/>
          <p:nvPr/>
        </p:nvSpPr>
        <p:spPr>
          <a:xfrm>
            <a:off x="666000" y="23159250"/>
            <a:ext cx="792000" cy="845999"/>
          </a:xfrm>
          <a:prstGeom prst="roundRect">
            <a:avLst/>
          </a:prstGeom>
          <a:solidFill>
            <a:srgbClr val="447294"/>
          </a:solidFill>
          <a:ln w="0">
            <a:solidFill>
              <a:srgbClr val="4472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62" name="אליפסה 161">
            <a:extLst>
              <a:ext uri="{FF2B5EF4-FFF2-40B4-BE49-F238E27FC236}">
                <a16:creationId xmlns:a16="http://schemas.microsoft.com/office/drawing/2014/main" id="{69D94D33-5050-CBAF-AF40-373C3DC22D8E}"/>
              </a:ext>
            </a:extLst>
          </p:cNvPr>
          <p:cNvSpPr/>
          <p:nvPr/>
        </p:nvSpPr>
        <p:spPr>
          <a:xfrm>
            <a:off x="925200" y="23440050"/>
            <a:ext cx="280800" cy="280800"/>
          </a:xfrm>
          <a:prstGeom prst="ellipse">
            <a:avLst/>
          </a:prstGeom>
          <a:solidFill>
            <a:srgbClr val="FFFFF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63" name="תיבת טקסט 162">
            <a:extLst>
              <a:ext uri="{FF2B5EF4-FFF2-40B4-BE49-F238E27FC236}">
                <a16:creationId xmlns:a16="http://schemas.microsoft.com/office/drawing/2014/main" id="{F40A4878-8042-579E-1102-B0EDC28A9748}"/>
              </a:ext>
            </a:extLst>
          </p:cNvPr>
          <p:cNvSpPr txBox="1"/>
          <p:nvPr/>
        </p:nvSpPr>
        <p:spPr>
          <a:xfrm>
            <a:off x="1638000" y="23203786"/>
            <a:ext cx="4896000" cy="391143"/>
          </a:xfrm>
          <a:prstGeom prst="rect">
            <a:avLst/>
          </a:prstGeom>
          <a:noFill/>
        </p:spPr>
        <p:txBody>
          <a:bodyPr vert="horz" lIns="18000" tIns="10800" rIns="18000" bIns="10800" rtlCol="1">
            <a:spAutoFit/>
          </a:bodyPr>
          <a:lstStyle/>
          <a:p>
            <a:r>
              <a:rPr lang="en-US" sz="2400" b="1">
                <a:solidFill>
                  <a:srgbClr val="073E60"/>
                </a:solidFill>
                <a:latin typeface="Aptos" panose="020B0004020202020204" pitchFamily="34" charset="0"/>
              </a:rPr>
              <a:t>Time &amp; history</a:t>
            </a:r>
            <a:endParaRPr lang="he-IL" sz="2400" b="1">
              <a:solidFill>
                <a:srgbClr val="073E60"/>
              </a:solidFill>
              <a:latin typeface="Aptos" panose="020B0004020202020204" pitchFamily="34" charset="0"/>
            </a:endParaRPr>
          </a:p>
        </p:txBody>
      </p:sp>
      <p:sp>
        <p:nvSpPr>
          <p:cNvPr id="164" name="תיבת טקסט 163">
            <a:extLst>
              <a:ext uri="{FF2B5EF4-FFF2-40B4-BE49-F238E27FC236}">
                <a16:creationId xmlns:a16="http://schemas.microsoft.com/office/drawing/2014/main" id="{644C637C-DCC3-98A3-5B1C-B8A99E2C095F}"/>
              </a:ext>
            </a:extLst>
          </p:cNvPr>
          <p:cNvSpPr txBox="1"/>
          <p:nvPr/>
        </p:nvSpPr>
        <p:spPr>
          <a:xfrm>
            <a:off x="1638000" y="23549386"/>
            <a:ext cx="4896000" cy="391143"/>
          </a:xfrm>
          <a:prstGeom prst="rect">
            <a:avLst/>
          </a:prstGeom>
          <a:noFill/>
        </p:spPr>
        <p:txBody>
          <a:bodyPr vert="horz" lIns="18000" tIns="10800" rIns="18000" bIns="10800" rtlCol="1">
            <a:spAutoFit/>
          </a:bodyPr>
          <a:lstStyle/>
          <a:p>
            <a:r>
              <a:rPr lang="en-US" sz="2400">
                <a:solidFill>
                  <a:srgbClr val="1B2934"/>
                </a:solidFill>
                <a:latin typeface="Aptos" panose="020B0004020202020204" pitchFamily="34" charset="0"/>
              </a:rPr>
              <a:t>timestamps - gaps - previous state</a:t>
            </a:r>
            <a:endParaRPr lang="he-IL" sz="2400">
              <a:solidFill>
                <a:srgbClr val="1B2934"/>
              </a:solidFill>
              <a:latin typeface="Aptos" panose="020B0004020202020204" pitchFamily="34" charset="0"/>
            </a:endParaRPr>
          </a:p>
        </p:txBody>
      </p:sp>
      <p:sp>
        <p:nvSpPr>
          <p:cNvPr id="165" name="מלבן: פינות מעוגלות 164">
            <a:extLst>
              <a:ext uri="{FF2B5EF4-FFF2-40B4-BE49-F238E27FC236}">
                <a16:creationId xmlns:a16="http://schemas.microsoft.com/office/drawing/2014/main" id="{4C422810-9BD0-4B6D-B4F1-3D175BA44CA3}"/>
              </a:ext>
            </a:extLst>
          </p:cNvPr>
          <p:cNvSpPr/>
          <p:nvPr/>
        </p:nvSpPr>
        <p:spPr>
          <a:xfrm>
            <a:off x="666000" y="25497151"/>
            <a:ext cx="6300000" cy="2192399"/>
          </a:xfrm>
          <a:prstGeom prst="roundRect">
            <a:avLst>
              <a:gd name="adj" fmla="val 8847"/>
            </a:avLst>
          </a:prstGeom>
          <a:solidFill>
            <a:srgbClr val="FFFDF7"/>
          </a:solidFill>
          <a:ln w="12700">
            <a:solidFill>
              <a:srgbClr val="CFDA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67" name="מלבן: פינות מעוגלות 166">
            <a:extLst>
              <a:ext uri="{FF2B5EF4-FFF2-40B4-BE49-F238E27FC236}">
                <a16:creationId xmlns:a16="http://schemas.microsoft.com/office/drawing/2014/main" id="{17A0671A-F7E3-24C8-2588-0DFB5109671B}"/>
              </a:ext>
            </a:extLst>
          </p:cNvPr>
          <p:cNvSpPr/>
          <p:nvPr/>
        </p:nvSpPr>
        <p:spPr>
          <a:xfrm>
            <a:off x="666000" y="25497151"/>
            <a:ext cx="219600" cy="2192399"/>
          </a:xfrm>
          <a:prstGeom prst="roundRect">
            <a:avLst/>
          </a:prstGeom>
          <a:solidFill>
            <a:srgbClr val="54B9C6"/>
          </a:solidFill>
          <a:ln w="0">
            <a:solidFill>
              <a:srgbClr val="54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68" name="תיבת טקסט 167">
            <a:extLst>
              <a:ext uri="{FF2B5EF4-FFF2-40B4-BE49-F238E27FC236}">
                <a16:creationId xmlns:a16="http://schemas.microsoft.com/office/drawing/2014/main" id="{09A6C86A-4D8D-1F5F-60A4-10D0C39FF585}"/>
              </a:ext>
            </a:extLst>
          </p:cNvPr>
          <p:cNvSpPr txBox="1"/>
          <p:nvPr/>
        </p:nvSpPr>
        <p:spPr>
          <a:xfrm>
            <a:off x="1065600" y="25583550"/>
            <a:ext cx="5724000" cy="575809"/>
          </a:xfrm>
          <a:prstGeom prst="rect">
            <a:avLst/>
          </a:prstGeom>
          <a:noFill/>
        </p:spPr>
        <p:txBody>
          <a:bodyPr vert="horz" lIns="18000" tIns="10800" rIns="18000" bIns="10800" rtlCol="1">
            <a:spAutoFit/>
          </a:bodyPr>
          <a:lstStyle/>
          <a:p>
            <a:r>
              <a:rPr lang="en-US" sz="3600" b="1" dirty="0">
                <a:solidFill>
                  <a:srgbClr val="073E60"/>
                </a:solidFill>
                <a:latin typeface="Aptos" panose="020B0004020202020204" pitchFamily="34" charset="0"/>
              </a:rPr>
              <a:t>Gradient Boosting</a:t>
            </a:r>
            <a:endParaRPr lang="he-IL" sz="3600" b="1" dirty="0">
              <a:solidFill>
                <a:srgbClr val="073E60"/>
              </a:solidFill>
              <a:latin typeface="Aptos" panose="020B0004020202020204" pitchFamily="34" charset="0"/>
            </a:endParaRPr>
          </a:p>
        </p:txBody>
      </p:sp>
      <p:sp>
        <p:nvSpPr>
          <p:cNvPr id="169" name="תיבת טקסט 168">
            <a:extLst>
              <a:ext uri="{FF2B5EF4-FFF2-40B4-BE49-F238E27FC236}">
                <a16:creationId xmlns:a16="http://schemas.microsoft.com/office/drawing/2014/main" id="{71F5DA09-70F5-11A6-74FA-90F76974FB8D}"/>
              </a:ext>
            </a:extLst>
          </p:cNvPr>
          <p:cNvSpPr txBox="1"/>
          <p:nvPr/>
        </p:nvSpPr>
        <p:spPr>
          <a:xfrm>
            <a:off x="1065600" y="26190619"/>
            <a:ext cx="5724000" cy="883585"/>
          </a:xfrm>
          <a:prstGeom prst="rect">
            <a:avLst/>
          </a:prstGeom>
          <a:noFill/>
        </p:spPr>
        <p:txBody>
          <a:bodyPr vert="horz" lIns="18000" tIns="10800" rIns="18000" bIns="10800" rtlCol="1">
            <a:spAutoFit/>
          </a:bodyPr>
          <a:lstStyle/>
          <a:p>
            <a:r>
              <a:rPr lang="en-US" sz="2800" dirty="0">
                <a:solidFill>
                  <a:srgbClr val="1B2934"/>
                </a:solidFill>
                <a:latin typeface="Aptos" panose="020B0004020202020204" pitchFamily="34" charset="0"/>
              </a:rPr>
              <a:t>Captures nonlinear interactions in tabular greenhouse data.</a:t>
            </a:r>
            <a:endParaRPr lang="he-IL" sz="2800" dirty="0">
              <a:solidFill>
                <a:srgbClr val="1B2934"/>
              </a:solidFill>
              <a:latin typeface="Aptos" panose="020B0004020202020204" pitchFamily="34" charset="0"/>
            </a:endParaRPr>
          </a:p>
        </p:txBody>
      </p:sp>
      <p:sp>
        <p:nvSpPr>
          <p:cNvPr id="170" name="מלבן: פינות מעוגלות 169">
            <a:extLst>
              <a:ext uri="{FF2B5EF4-FFF2-40B4-BE49-F238E27FC236}">
                <a16:creationId xmlns:a16="http://schemas.microsoft.com/office/drawing/2014/main" id="{4FD38E33-B61B-E4E8-DA70-D4447A0DCAD0}"/>
              </a:ext>
            </a:extLst>
          </p:cNvPr>
          <p:cNvSpPr/>
          <p:nvPr/>
        </p:nvSpPr>
        <p:spPr>
          <a:xfrm>
            <a:off x="666000" y="28002099"/>
            <a:ext cx="6300000" cy="2192399"/>
          </a:xfrm>
          <a:prstGeom prst="roundRect">
            <a:avLst>
              <a:gd name="adj" fmla="val 9716"/>
            </a:avLst>
          </a:prstGeom>
          <a:solidFill>
            <a:srgbClr val="FFFDF7"/>
          </a:solidFill>
          <a:ln w="12700">
            <a:solidFill>
              <a:srgbClr val="CFDA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1" name="מלבן: פינות מעוגלות 170">
            <a:extLst>
              <a:ext uri="{FF2B5EF4-FFF2-40B4-BE49-F238E27FC236}">
                <a16:creationId xmlns:a16="http://schemas.microsoft.com/office/drawing/2014/main" id="{779DC276-8875-A723-D4DC-51E949365EBD}"/>
              </a:ext>
            </a:extLst>
          </p:cNvPr>
          <p:cNvSpPr/>
          <p:nvPr/>
        </p:nvSpPr>
        <p:spPr>
          <a:xfrm>
            <a:off x="666000" y="28002099"/>
            <a:ext cx="219600" cy="2192399"/>
          </a:xfrm>
          <a:prstGeom prst="roundRect">
            <a:avLst/>
          </a:prstGeom>
          <a:solidFill>
            <a:srgbClr val="0C5B6E"/>
          </a:solidFill>
          <a:ln w="0">
            <a:solidFill>
              <a:srgbClr val="0C5B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2" name="תיבת טקסט 171">
            <a:extLst>
              <a:ext uri="{FF2B5EF4-FFF2-40B4-BE49-F238E27FC236}">
                <a16:creationId xmlns:a16="http://schemas.microsoft.com/office/drawing/2014/main" id="{CBD8C8AB-C0A1-0E83-DCEE-4136D0437719}"/>
              </a:ext>
            </a:extLst>
          </p:cNvPr>
          <p:cNvSpPr txBox="1"/>
          <p:nvPr/>
        </p:nvSpPr>
        <p:spPr>
          <a:xfrm>
            <a:off x="1065600" y="28088499"/>
            <a:ext cx="5724000" cy="575809"/>
          </a:xfrm>
          <a:prstGeom prst="rect">
            <a:avLst/>
          </a:prstGeom>
          <a:noFill/>
        </p:spPr>
        <p:txBody>
          <a:bodyPr vert="horz" lIns="18000" tIns="10800" rIns="18000" bIns="10800" rtlCol="1">
            <a:spAutoFit/>
          </a:bodyPr>
          <a:lstStyle/>
          <a:p>
            <a:r>
              <a:rPr lang="en-US" sz="3600" b="1">
                <a:solidFill>
                  <a:srgbClr val="073E60"/>
                </a:solidFill>
                <a:latin typeface="Aptos" panose="020B0004020202020204" pitchFamily="34" charset="0"/>
              </a:rPr>
              <a:t>LightGBM</a:t>
            </a:r>
            <a:endParaRPr lang="he-IL" sz="3600" b="1">
              <a:solidFill>
                <a:srgbClr val="073E60"/>
              </a:solidFill>
              <a:latin typeface="Aptos" panose="020B0004020202020204" pitchFamily="34" charset="0"/>
            </a:endParaRPr>
          </a:p>
        </p:txBody>
      </p:sp>
      <p:sp>
        <p:nvSpPr>
          <p:cNvPr id="173" name="תיבת טקסט 172">
            <a:extLst>
              <a:ext uri="{FF2B5EF4-FFF2-40B4-BE49-F238E27FC236}">
                <a16:creationId xmlns:a16="http://schemas.microsoft.com/office/drawing/2014/main" id="{25CD23BA-0856-6B46-BF46-DE509C46BF6F}"/>
              </a:ext>
            </a:extLst>
          </p:cNvPr>
          <p:cNvSpPr txBox="1"/>
          <p:nvPr/>
        </p:nvSpPr>
        <p:spPr>
          <a:xfrm>
            <a:off x="1065600" y="28771767"/>
            <a:ext cx="5724000" cy="883585"/>
          </a:xfrm>
          <a:prstGeom prst="rect">
            <a:avLst/>
          </a:prstGeom>
          <a:noFill/>
        </p:spPr>
        <p:txBody>
          <a:bodyPr vert="horz" lIns="18000" tIns="10800" rIns="18000" bIns="10800" rtlCol="1">
            <a:spAutoFit/>
          </a:bodyPr>
          <a:lstStyle/>
          <a:p>
            <a:r>
              <a:rPr lang="en-US" sz="2800" dirty="0">
                <a:solidFill>
                  <a:srgbClr val="1B2934"/>
                </a:solidFill>
                <a:latin typeface="Aptos" panose="020B0004020202020204" pitchFamily="34" charset="0"/>
              </a:rPr>
              <a:t>Predicts internal micro-climate from external weather.</a:t>
            </a:r>
            <a:endParaRPr lang="he-IL" sz="2800" dirty="0">
              <a:solidFill>
                <a:srgbClr val="1B2934"/>
              </a:solidFill>
              <a:latin typeface="Aptos" panose="020B0004020202020204" pitchFamily="34" charset="0"/>
            </a:endParaRPr>
          </a:p>
        </p:txBody>
      </p:sp>
      <p:sp>
        <p:nvSpPr>
          <p:cNvPr id="174" name="מלבן: פינות מעוגלות 173">
            <a:extLst>
              <a:ext uri="{FF2B5EF4-FFF2-40B4-BE49-F238E27FC236}">
                <a16:creationId xmlns:a16="http://schemas.microsoft.com/office/drawing/2014/main" id="{B3A2D530-8873-11F3-ED4A-9BA79BBA4235}"/>
              </a:ext>
            </a:extLst>
          </p:cNvPr>
          <p:cNvSpPr/>
          <p:nvPr/>
        </p:nvSpPr>
        <p:spPr>
          <a:xfrm>
            <a:off x="666000" y="30468950"/>
            <a:ext cx="6300000" cy="2192399"/>
          </a:xfrm>
          <a:prstGeom prst="roundRect">
            <a:avLst>
              <a:gd name="adj" fmla="val 9716"/>
            </a:avLst>
          </a:prstGeom>
          <a:solidFill>
            <a:srgbClr val="FFFDF7"/>
          </a:solidFill>
          <a:ln w="12700">
            <a:solidFill>
              <a:srgbClr val="CFDA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5" name="מלבן: פינות מעוגלות 174">
            <a:extLst>
              <a:ext uri="{FF2B5EF4-FFF2-40B4-BE49-F238E27FC236}">
                <a16:creationId xmlns:a16="http://schemas.microsoft.com/office/drawing/2014/main" id="{A592D8A6-B2FB-3E4E-83D0-C543CAE6AA08}"/>
              </a:ext>
            </a:extLst>
          </p:cNvPr>
          <p:cNvSpPr/>
          <p:nvPr/>
        </p:nvSpPr>
        <p:spPr>
          <a:xfrm>
            <a:off x="666000" y="30468950"/>
            <a:ext cx="219600" cy="2192399"/>
          </a:xfrm>
          <a:prstGeom prst="roundRect">
            <a:avLst/>
          </a:prstGeom>
          <a:solidFill>
            <a:srgbClr val="447294"/>
          </a:solidFill>
          <a:ln w="0">
            <a:solidFill>
              <a:srgbClr val="4472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6" name="תיבת טקסט 175">
            <a:extLst>
              <a:ext uri="{FF2B5EF4-FFF2-40B4-BE49-F238E27FC236}">
                <a16:creationId xmlns:a16="http://schemas.microsoft.com/office/drawing/2014/main" id="{AFCD9F0E-8F90-C729-9909-DF0C943EE763}"/>
              </a:ext>
            </a:extLst>
          </p:cNvPr>
          <p:cNvSpPr txBox="1"/>
          <p:nvPr/>
        </p:nvSpPr>
        <p:spPr>
          <a:xfrm>
            <a:off x="1065600" y="30555350"/>
            <a:ext cx="5724000" cy="575809"/>
          </a:xfrm>
          <a:prstGeom prst="rect">
            <a:avLst/>
          </a:prstGeom>
          <a:noFill/>
        </p:spPr>
        <p:txBody>
          <a:bodyPr vert="horz" lIns="18000" tIns="10800" rIns="18000" bIns="10800" rtlCol="1">
            <a:spAutoFit/>
          </a:bodyPr>
          <a:lstStyle/>
          <a:p>
            <a:r>
              <a:rPr lang="en-US" sz="3600" b="1">
                <a:solidFill>
                  <a:srgbClr val="073E60"/>
                </a:solidFill>
                <a:latin typeface="Aptos" panose="020B0004020202020204" pitchFamily="34" charset="0"/>
              </a:rPr>
              <a:t>XGBoost</a:t>
            </a:r>
            <a:endParaRPr lang="he-IL" sz="3600" b="1">
              <a:solidFill>
                <a:srgbClr val="073E60"/>
              </a:solidFill>
              <a:latin typeface="Aptos" panose="020B0004020202020204" pitchFamily="34" charset="0"/>
            </a:endParaRPr>
          </a:p>
        </p:txBody>
      </p:sp>
      <p:sp>
        <p:nvSpPr>
          <p:cNvPr id="177" name="תיבת טקסט 176">
            <a:extLst>
              <a:ext uri="{FF2B5EF4-FFF2-40B4-BE49-F238E27FC236}">
                <a16:creationId xmlns:a16="http://schemas.microsoft.com/office/drawing/2014/main" id="{1E6BFCF6-1B5B-593A-219A-0AD9D39267CE}"/>
              </a:ext>
            </a:extLst>
          </p:cNvPr>
          <p:cNvSpPr txBox="1"/>
          <p:nvPr/>
        </p:nvSpPr>
        <p:spPr>
          <a:xfrm>
            <a:off x="1065600" y="31219568"/>
            <a:ext cx="5724000" cy="1314473"/>
          </a:xfrm>
          <a:prstGeom prst="rect">
            <a:avLst/>
          </a:prstGeom>
          <a:noFill/>
        </p:spPr>
        <p:txBody>
          <a:bodyPr vert="horz" lIns="18000" tIns="10800" rIns="18000" bIns="10800" rtlCol="1">
            <a:spAutoFit/>
          </a:bodyPr>
          <a:lstStyle/>
          <a:p>
            <a:r>
              <a:rPr lang="en-US" sz="2800" dirty="0">
                <a:solidFill>
                  <a:srgbClr val="1B2934"/>
                </a:solidFill>
                <a:latin typeface="Aptos" panose="020B0004020202020204" pitchFamily="34" charset="0"/>
              </a:rPr>
              <a:t>Predicts root-zone pH/EC from sparse labels and engineered features.</a:t>
            </a:r>
            <a:endParaRPr lang="he-IL" sz="2800" dirty="0">
              <a:solidFill>
                <a:srgbClr val="1B2934"/>
              </a:solidFill>
              <a:latin typeface="Aptos" panose="020B0004020202020204" pitchFamily="34" charset="0"/>
            </a:endParaRPr>
          </a:p>
        </p:txBody>
      </p:sp>
      <p:sp>
        <p:nvSpPr>
          <p:cNvPr id="178" name="מלבן: פינות מעוגלות 177">
            <a:extLst>
              <a:ext uri="{FF2B5EF4-FFF2-40B4-BE49-F238E27FC236}">
                <a16:creationId xmlns:a16="http://schemas.microsoft.com/office/drawing/2014/main" id="{A978E716-482E-08DC-6D68-3AA156114910}"/>
              </a:ext>
            </a:extLst>
          </p:cNvPr>
          <p:cNvSpPr/>
          <p:nvPr/>
        </p:nvSpPr>
        <p:spPr>
          <a:xfrm>
            <a:off x="666000" y="32935800"/>
            <a:ext cx="6300000" cy="2192400"/>
          </a:xfrm>
          <a:prstGeom prst="roundRect">
            <a:avLst>
              <a:gd name="adj" fmla="val 8847"/>
            </a:avLst>
          </a:prstGeom>
          <a:solidFill>
            <a:srgbClr val="FFFDF7"/>
          </a:solidFill>
          <a:ln w="12700">
            <a:solidFill>
              <a:srgbClr val="CFDA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9" name="מלבן: פינות מעוגלות 178">
            <a:extLst>
              <a:ext uri="{FF2B5EF4-FFF2-40B4-BE49-F238E27FC236}">
                <a16:creationId xmlns:a16="http://schemas.microsoft.com/office/drawing/2014/main" id="{6D1B81DB-035E-A20C-8C01-D435EDBD751D}"/>
              </a:ext>
            </a:extLst>
          </p:cNvPr>
          <p:cNvSpPr/>
          <p:nvPr/>
        </p:nvSpPr>
        <p:spPr>
          <a:xfrm>
            <a:off x="666000" y="32935800"/>
            <a:ext cx="219600" cy="2192400"/>
          </a:xfrm>
          <a:prstGeom prst="roundRect">
            <a:avLst/>
          </a:prstGeom>
          <a:solidFill>
            <a:srgbClr val="8D9A9A"/>
          </a:solidFill>
          <a:ln w="0">
            <a:solidFill>
              <a:srgbClr val="8D9A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80" name="תיבת טקסט 179">
            <a:extLst>
              <a:ext uri="{FF2B5EF4-FFF2-40B4-BE49-F238E27FC236}">
                <a16:creationId xmlns:a16="http://schemas.microsoft.com/office/drawing/2014/main" id="{4745861C-2B42-E6F6-FC6C-EF9B340F939E}"/>
              </a:ext>
            </a:extLst>
          </p:cNvPr>
          <p:cNvSpPr txBox="1"/>
          <p:nvPr/>
        </p:nvSpPr>
        <p:spPr>
          <a:xfrm>
            <a:off x="1065600" y="33022201"/>
            <a:ext cx="5724000" cy="575809"/>
          </a:xfrm>
          <a:prstGeom prst="rect">
            <a:avLst/>
          </a:prstGeom>
          <a:noFill/>
        </p:spPr>
        <p:txBody>
          <a:bodyPr vert="horz" lIns="18000" tIns="10800" rIns="18000" bIns="10800" rtlCol="1">
            <a:spAutoFit/>
          </a:bodyPr>
          <a:lstStyle/>
          <a:p>
            <a:r>
              <a:rPr lang="en-US" sz="3600" b="1">
                <a:solidFill>
                  <a:srgbClr val="073E60"/>
                </a:solidFill>
                <a:latin typeface="Aptos" panose="020B0004020202020204" pitchFamily="34" charset="0"/>
              </a:rPr>
              <a:t>Huber Regression</a:t>
            </a:r>
            <a:endParaRPr lang="he-IL" sz="3600" b="1">
              <a:solidFill>
                <a:srgbClr val="073E60"/>
              </a:solidFill>
              <a:latin typeface="Aptos" panose="020B0004020202020204" pitchFamily="34" charset="0"/>
            </a:endParaRPr>
          </a:p>
        </p:txBody>
      </p:sp>
      <p:sp>
        <p:nvSpPr>
          <p:cNvPr id="181" name="תיבת טקסט 180">
            <a:extLst>
              <a:ext uri="{FF2B5EF4-FFF2-40B4-BE49-F238E27FC236}">
                <a16:creationId xmlns:a16="http://schemas.microsoft.com/office/drawing/2014/main" id="{6B6FDF86-5578-04D3-586D-E96D110DD6F9}"/>
              </a:ext>
            </a:extLst>
          </p:cNvPr>
          <p:cNvSpPr txBox="1"/>
          <p:nvPr/>
        </p:nvSpPr>
        <p:spPr>
          <a:xfrm>
            <a:off x="1065600" y="33629269"/>
            <a:ext cx="5724000" cy="883585"/>
          </a:xfrm>
          <a:prstGeom prst="rect">
            <a:avLst/>
          </a:prstGeom>
          <a:noFill/>
        </p:spPr>
        <p:txBody>
          <a:bodyPr vert="horz" lIns="18000" tIns="10800" rIns="18000" bIns="10800" rtlCol="1">
            <a:spAutoFit/>
          </a:bodyPr>
          <a:lstStyle/>
          <a:p>
            <a:r>
              <a:rPr lang="en-US" sz="2800" dirty="0">
                <a:solidFill>
                  <a:srgbClr val="1B2934"/>
                </a:solidFill>
                <a:latin typeface="Aptos" panose="020B0004020202020204" pitchFamily="34" charset="0"/>
              </a:rPr>
              <a:t>Stabilizes predictions under sharp fertigation, acid, or salinity shifts.</a:t>
            </a:r>
            <a:endParaRPr lang="he-IL" sz="2800" dirty="0">
              <a:solidFill>
                <a:srgbClr val="1B2934"/>
              </a:solidFill>
              <a:latin typeface="Aptos" panose="020B0004020202020204" pitchFamily="34" charset="0"/>
            </a:endParaRPr>
          </a:p>
        </p:txBody>
      </p:sp>
      <p:pic>
        <p:nvPicPr>
          <p:cNvPr id="15" name="Architecture model boxes teal">
            <a:extLst>
              <a:ext uri="{FF2B5EF4-FFF2-40B4-BE49-F238E27FC236}">
                <a16:creationId xmlns:a16="http://schemas.microsoft.com/office/drawing/2014/main" id="{10BBC093-9E1F-5118-3A4A-4CA174839A41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6116" y="8645125"/>
            <a:ext cx="8021267" cy="4903000"/>
          </a:xfrm>
          <a:prstGeom prst="rect">
            <a:avLst/>
          </a:prstGeom>
        </p:spPr>
      </p:pic>
      <p:pic>
        <p:nvPicPr>
          <p:cNvPr id="17" name="תמונה 16">
            <a:extLst>
              <a:ext uri="{FF2B5EF4-FFF2-40B4-BE49-F238E27FC236}">
                <a16:creationId xmlns:a16="http://schemas.microsoft.com/office/drawing/2014/main" id="{131A5177-8E27-831F-E9E2-54ED95B3CC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00" y="824805"/>
            <a:ext cx="2520255" cy="2531506"/>
          </a:xfrm>
          <a:prstGeom prst="rect">
            <a:avLst/>
          </a:prstGeom>
        </p:spPr>
      </p:pic>
      <p:pic>
        <p:nvPicPr>
          <p:cNvPr id="20" name="תמונה 19">
            <a:extLst>
              <a:ext uri="{FF2B5EF4-FFF2-40B4-BE49-F238E27FC236}">
                <a16:creationId xmlns:a16="http://schemas.microsoft.com/office/drawing/2014/main" id="{6089FF7B-7A21-7AA4-4C6B-23D1DE8B5B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8212" y="859338"/>
            <a:ext cx="2569597" cy="247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8443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525</Words>
  <Application>Microsoft Office PowerPoint</Application>
  <DocSecurity>0</DocSecurity>
  <PresentationFormat>מותאם אישית</PresentationFormat>
  <Paragraphs>89</Paragraphs>
  <Slides>1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ChatGPT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עדן אליהו</cp:lastModifiedBy>
  <cp:revision>52</cp:revision>
  <dcterms:created xsi:type="dcterms:W3CDTF">2026-05-29T07:57:29Z</dcterms:created>
  <dcterms:modified xsi:type="dcterms:W3CDTF">2026-05-30T17:14:39Z</dcterms:modified>
</cp:coreProperties>
</file>