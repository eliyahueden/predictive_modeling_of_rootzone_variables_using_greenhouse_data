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60" r:id="rId2"/>
    <p:sldMasterId id="2147483653" r:id="rId3"/>
  </p:sldMasterIdLst>
  <p:notesMasterIdLst>
    <p:notesMasterId r:id="rId5"/>
  </p:notesMasterIdLst>
  <p:handoutMasterIdLst>
    <p:handoutMasterId r:id="rId6"/>
  </p:handoutMasterIdLst>
  <p:sldIdLst>
    <p:sldId id="257" r:id="rId4"/>
  </p:sldIdLst>
  <p:sldSz cx="25192038" cy="35999738"/>
  <p:notesSz cx="6858000" cy="9144000"/>
  <p:defaultText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629">
          <p15:clr>
            <a:srgbClr val="A4A3A4"/>
          </p15:clr>
        </p15:guide>
        <p15:guide id="2" orient="horz" pos="315">
          <p15:clr>
            <a:srgbClr val="A4A3A4"/>
          </p15:clr>
        </p15:guide>
        <p15:guide id="3" orient="horz" pos="22047">
          <p15:clr>
            <a:srgbClr val="A4A3A4"/>
          </p15:clr>
        </p15:guide>
        <p15:guide id="4" orient="horz">
          <p15:clr>
            <a:srgbClr val="A4A3A4"/>
          </p15:clr>
        </p15:guide>
        <p15:guide id="5" pos="334">
          <p15:clr>
            <a:srgbClr val="A4A3A4"/>
          </p15:clr>
        </p15:guide>
        <p15:guide id="6" pos="15537">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658" autoAdjust="0"/>
    <p:restoredTop sz="94478" autoAdjust="0"/>
  </p:normalViewPr>
  <p:slideViewPr>
    <p:cSldViewPr snapToGrid="0" snapToObjects="1" showGuides="1">
      <p:cViewPr>
        <p:scale>
          <a:sx n="66" d="100"/>
          <a:sy n="66" d="100"/>
        </p:scale>
        <p:origin x="1590" y="-8262"/>
      </p:cViewPr>
      <p:guideLst>
        <p:guide orient="horz" pos="3629"/>
        <p:guide orient="horz" pos="315"/>
        <p:guide orient="horz" pos="22047"/>
        <p:guide orient="horz"/>
        <p:guide pos="334"/>
        <p:guide pos="15537"/>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2730"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Master" Target="slideMasters/slideMaster3.xml"/><Relationship Id="rId7" Type="http://schemas.openxmlformats.org/officeDocument/2006/relationships/commentAuthors" Target="commentAuthor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handoutMaster" Target="handoutMasters/handoutMaster1.xml"/><Relationship Id="rId11" Type="http://schemas.openxmlformats.org/officeDocument/2006/relationships/tableStyles" Target="tableStyles.xml"/><Relationship Id="rId5" Type="http://schemas.openxmlformats.org/officeDocument/2006/relationships/notesMaster" Target="notesMasters/notesMaster1.xml"/><Relationship Id="rId10"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6/28/2026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15330066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6/28/2026</a:t>
            </a:fld>
            <a:endParaRPr lang="en-US" dirty="0"/>
          </a:p>
        </p:txBody>
      </p:sp>
      <p:sp>
        <p:nvSpPr>
          <p:cNvPr id="4" name="Slide Image Placeholder 3"/>
          <p:cNvSpPr>
            <a:spLocks noGrp="1" noRot="1" noChangeAspect="1"/>
          </p:cNvSpPr>
          <p:nvPr>
            <p:ph type="sldImg" idx="2"/>
          </p:nvPr>
        </p:nvSpPr>
        <p:spPr>
          <a:xfrm>
            <a:off x="2228850" y="685800"/>
            <a:ext cx="24003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675050545"/>
      </p:ext>
    </p:extLst>
  </p:cSld>
  <p:clrMap bg1="lt1" tx1="dk1" bg2="lt2" tx2="dk2" accent1="accent1" accent2="accent2" accent3="accent3" accent4="accent4" accent5="accent5" accent6="accent6" hlink="hlink" folHlink="folHlink"/>
  <p:notesStyle>
    <a:lvl1pPr marL="0" algn="l" defTabSz="3599776" rtl="0" eaLnBrk="1" latinLnBrk="0" hangingPunct="1">
      <a:defRPr sz="4800" kern="1200">
        <a:solidFill>
          <a:schemeClr val="tx1"/>
        </a:solidFill>
        <a:latin typeface="+mn-lt"/>
        <a:ea typeface="+mn-ea"/>
        <a:cs typeface="+mn-cs"/>
      </a:defRPr>
    </a:lvl1pPr>
    <a:lvl2pPr marL="1799889" algn="l" defTabSz="3599776" rtl="0" eaLnBrk="1" latinLnBrk="0" hangingPunct="1">
      <a:defRPr sz="4800" kern="1200">
        <a:solidFill>
          <a:schemeClr val="tx1"/>
        </a:solidFill>
        <a:latin typeface="+mn-lt"/>
        <a:ea typeface="+mn-ea"/>
        <a:cs typeface="+mn-cs"/>
      </a:defRPr>
    </a:lvl2pPr>
    <a:lvl3pPr marL="3599776" algn="l" defTabSz="3599776" rtl="0" eaLnBrk="1" latinLnBrk="0" hangingPunct="1">
      <a:defRPr sz="4800" kern="1200">
        <a:solidFill>
          <a:schemeClr val="tx1"/>
        </a:solidFill>
        <a:latin typeface="+mn-lt"/>
        <a:ea typeface="+mn-ea"/>
        <a:cs typeface="+mn-cs"/>
      </a:defRPr>
    </a:lvl3pPr>
    <a:lvl4pPr marL="5399664" algn="l" defTabSz="3599776" rtl="0" eaLnBrk="1" latinLnBrk="0" hangingPunct="1">
      <a:defRPr sz="4800" kern="1200">
        <a:solidFill>
          <a:schemeClr val="tx1"/>
        </a:solidFill>
        <a:latin typeface="+mn-lt"/>
        <a:ea typeface="+mn-ea"/>
        <a:cs typeface="+mn-cs"/>
      </a:defRPr>
    </a:lvl4pPr>
    <a:lvl5pPr marL="7199552" algn="l" defTabSz="3599776" rtl="0" eaLnBrk="1" latinLnBrk="0" hangingPunct="1">
      <a:defRPr sz="4800" kern="1200">
        <a:solidFill>
          <a:schemeClr val="tx1"/>
        </a:solidFill>
        <a:latin typeface="+mn-lt"/>
        <a:ea typeface="+mn-ea"/>
        <a:cs typeface="+mn-cs"/>
      </a:defRPr>
    </a:lvl5pPr>
    <a:lvl6pPr marL="8999441" algn="l" defTabSz="3599776" rtl="0" eaLnBrk="1" latinLnBrk="0" hangingPunct="1">
      <a:defRPr sz="4800" kern="1200">
        <a:solidFill>
          <a:schemeClr val="tx1"/>
        </a:solidFill>
        <a:latin typeface="+mn-lt"/>
        <a:ea typeface="+mn-ea"/>
        <a:cs typeface="+mn-cs"/>
      </a:defRPr>
    </a:lvl6pPr>
    <a:lvl7pPr marL="10799330" algn="l" defTabSz="3599776" rtl="0" eaLnBrk="1" latinLnBrk="0" hangingPunct="1">
      <a:defRPr sz="4800" kern="1200">
        <a:solidFill>
          <a:schemeClr val="tx1"/>
        </a:solidFill>
        <a:latin typeface="+mn-lt"/>
        <a:ea typeface="+mn-ea"/>
        <a:cs typeface="+mn-cs"/>
      </a:defRPr>
    </a:lvl7pPr>
    <a:lvl8pPr marL="12599217" algn="l" defTabSz="3599776" rtl="0" eaLnBrk="1" latinLnBrk="0" hangingPunct="1">
      <a:defRPr sz="4800" kern="1200">
        <a:solidFill>
          <a:schemeClr val="tx1"/>
        </a:solidFill>
        <a:latin typeface="+mn-lt"/>
        <a:ea typeface="+mn-ea"/>
        <a:cs typeface="+mn-cs"/>
      </a:defRPr>
    </a:lvl8pPr>
    <a:lvl9pPr marL="14399106" algn="l" defTabSz="3599776" rtl="0" eaLnBrk="1" latinLnBrk="0" hangingPunct="1">
      <a:defRPr sz="48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18974" y="6425827"/>
            <a:ext cx="11898341"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529393" y="5804361"/>
            <a:ext cx="1188894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INTRODUCTION or ABSTRACT</a:t>
            </a:r>
          </a:p>
        </p:txBody>
      </p:sp>
      <p:sp>
        <p:nvSpPr>
          <p:cNvPr id="20" name="Text Placeholder 5"/>
          <p:cNvSpPr>
            <a:spLocks noGrp="1"/>
          </p:cNvSpPr>
          <p:nvPr>
            <p:ph type="body" sz="quarter" idx="20" hasCustomPrompt="1"/>
          </p:nvPr>
        </p:nvSpPr>
        <p:spPr>
          <a:xfrm>
            <a:off x="529391" y="15588601"/>
            <a:ext cx="11891854"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OBJECTIVES</a:t>
            </a:r>
          </a:p>
        </p:txBody>
      </p:sp>
      <p:sp>
        <p:nvSpPr>
          <p:cNvPr id="25" name="Text Placeholder 5"/>
          <p:cNvSpPr>
            <a:spLocks noGrp="1"/>
          </p:cNvSpPr>
          <p:nvPr>
            <p:ph type="body" sz="quarter" idx="25" hasCustomPrompt="1"/>
          </p:nvPr>
        </p:nvSpPr>
        <p:spPr>
          <a:xfrm>
            <a:off x="12725245" y="5804361"/>
            <a:ext cx="118887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CONCLUSIONS</a:t>
            </a:r>
          </a:p>
        </p:txBody>
      </p:sp>
      <p:sp>
        <p:nvSpPr>
          <p:cNvPr id="26" name="Text Placeholder 3"/>
          <p:cNvSpPr>
            <a:spLocks noGrp="1"/>
          </p:cNvSpPr>
          <p:nvPr>
            <p:ph type="body" sz="quarter" idx="26" hasCustomPrompt="1"/>
          </p:nvPr>
        </p:nvSpPr>
        <p:spPr>
          <a:xfrm>
            <a:off x="12725245" y="6425827"/>
            <a:ext cx="1188879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12725245" y="15607589"/>
            <a:ext cx="1188552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REFERENCES</a:t>
            </a:r>
          </a:p>
        </p:txBody>
      </p:sp>
      <p:sp>
        <p:nvSpPr>
          <p:cNvPr id="28" name="Text Placeholder 3"/>
          <p:cNvSpPr>
            <a:spLocks noGrp="1"/>
          </p:cNvSpPr>
          <p:nvPr>
            <p:ph type="body" sz="quarter" idx="28" hasCustomPrompt="1"/>
          </p:nvPr>
        </p:nvSpPr>
        <p:spPr>
          <a:xfrm>
            <a:off x="12725245" y="16274772"/>
            <a:ext cx="1189008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12725245" y="28083131"/>
            <a:ext cx="1187957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ACKNOWLEDGEMENTS or  CONTACT</a:t>
            </a:r>
          </a:p>
        </p:txBody>
      </p:sp>
      <p:sp>
        <p:nvSpPr>
          <p:cNvPr id="30" name="Text Placeholder 3"/>
          <p:cNvSpPr>
            <a:spLocks noGrp="1"/>
          </p:cNvSpPr>
          <p:nvPr>
            <p:ph type="body" sz="quarter" idx="30" hasCustomPrompt="1"/>
          </p:nvPr>
        </p:nvSpPr>
        <p:spPr>
          <a:xfrm>
            <a:off x="12725245" y="28767135"/>
            <a:ext cx="11885529"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0" name="Text Placeholder 3"/>
          <p:cNvSpPr>
            <a:spLocks noGrp="1"/>
          </p:cNvSpPr>
          <p:nvPr>
            <p:ph type="body" sz="quarter" idx="96" hasCustomPrompt="1"/>
          </p:nvPr>
        </p:nvSpPr>
        <p:spPr>
          <a:xfrm>
            <a:off x="518974" y="16257349"/>
            <a:ext cx="11899368"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76" name="Text Placeholder 76"/>
          <p:cNvSpPr>
            <a:spLocks noGrp="1"/>
          </p:cNvSpPr>
          <p:nvPr>
            <p:ph type="body" sz="quarter" idx="150" hasCustomPrompt="1"/>
          </p:nvPr>
        </p:nvSpPr>
        <p:spPr>
          <a:xfrm>
            <a:off x="3219687" y="3498370"/>
            <a:ext cx="18752664" cy="1015663"/>
          </a:xfrm>
          <a:prstGeom prst="rect">
            <a:avLst/>
          </a:prstGeom>
        </p:spPr>
        <p:txBody>
          <a:bodyPr anchor="t" anchorCtr="0">
            <a:spAutoFit/>
          </a:bodyPr>
          <a:lstStyle>
            <a:lvl1pPr marL="0" indent="0" algn="ctr">
              <a:buFontTx/>
              <a:buNone/>
              <a:defRPr sz="60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79" name="Text Placeholder 76"/>
          <p:cNvSpPr>
            <a:spLocks noGrp="1"/>
          </p:cNvSpPr>
          <p:nvPr>
            <p:ph type="body" sz="quarter" idx="151" hasCustomPrompt="1"/>
          </p:nvPr>
        </p:nvSpPr>
        <p:spPr>
          <a:xfrm>
            <a:off x="3219687" y="2218210"/>
            <a:ext cx="18752664" cy="1446550"/>
          </a:xfrm>
          <a:prstGeom prst="rect">
            <a:avLst/>
          </a:prstGeom>
        </p:spPr>
        <p:txBody>
          <a:bodyPr anchor="t" anchorCtr="0">
            <a:spAutoFit/>
          </a:bodyPr>
          <a:lstStyle>
            <a:lvl1pPr marL="0" indent="0" algn="ctr">
              <a:buFontTx/>
              <a:buNone/>
              <a:defRPr sz="88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80" name="Text Placeholder 76"/>
          <p:cNvSpPr>
            <a:spLocks noGrp="1"/>
          </p:cNvSpPr>
          <p:nvPr>
            <p:ph type="body" sz="quarter" idx="153" hasCustomPrompt="1"/>
          </p:nvPr>
        </p:nvSpPr>
        <p:spPr>
          <a:xfrm>
            <a:off x="3219687" y="580236"/>
            <a:ext cx="18752664" cy="1446550"/>
          </a:xfrm>
          <a:prstGeom prst="rect">
            <a:avLst/>
          </a:prstGeom>
        </p:spPr>
        <p:txBody>
          <a:bodyPr anchor="t" anchorCtr="0">
            <a:spAutoFit/>
          </a:bodyPr>
          <a:lstStyle>
            <a:lvl1pPr marL="0" indent="0" algn="ctr">
              <a:buFontTx/>
              <a:buNone/>
              <a:defRPr sz="8800" b="1">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ithout Quick Guide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18974" y="6425827"/>
            <a:ext cx="11898341"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529393" y="5804361"/>
            <a:ext cx="1188894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INTRODUCTION or ABSTRACT</a:t>
            </a:r>
          </a:p>
        </p:txBody>
      </p:sp>
      <p:sp>
        <p:nvSpPr>
          <p:cNvPr id="20" name="Text Placeholder 5"/>
          <p:cNvSpPr>
            <a:spLocks noGrp="1"/>
          </p:cNvSpPr>
          <p:nvPr>
            <p:ph type="body" sz="quarter" idx="20" hasCustomPrompt="1"/>
          </p:nvPr>
        </p:nvSpPr>
        <p:spPr>
          <a:xfrm>
            <a:off x="529391" y="15588601"/>
            <a:ext cx="11891854"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OBJECTIVES</a:t>
            </a:r>
          </a:p>
        </p:txBody>
      </p:sp>
      <p:sp>
        <p:nvSpPr>
          <p:cNvPr id="25" name="Text Placeholder 5"/>
          <p:cNvSpPr>
            <a:spLocks noGrp="1"/>
          </p:cNvSpPr>
          <p:nvPr>
            <p:ph type="body" sz="quarter" idx="25" hasCustomPrompt="1"/>
          </p:nvPr>
        </p:nvSpPr>
        <p:spPr>
          <a:xfrm>
            <a:off x="12725245" y="5804361"/>
            <a:ext cx="118887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CONCLUSIONS</a:t>
            </a:r>
          </a:p>
        </p:txBody>
      </p:sp>
      <p:sp>
        <p:nvSpPr>
          <p:cNvPr id="26" name="Text Placeholder 3"/>
          <p:cNvSpPr>
            <a:spLocks noGrp="1"/>
          </p:cNvSpPr>
          <p:nvPr>
            <p:ph type="body" sz="quarter" idx="26" hasCustomPrompt="1"/>
          </p:nvPr>
        </p:nvSpPr>
        <p:spPr>
          <a:xfrm>
            <a:off x="12725245" y="6425827"/>
            <a:ext cx="1188879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12725245" y="15607589"/>
            <a:ext cx="1188552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REFERENCES</a:t>
            </a:r>
          </a:p>
        </p:txBody>
      </p:sp>
      <p:sp>
        <p:nvSpPr>
          <p:cNvPr id="28" name="Text Placeholder 3"/>
          <p:cNvSpPr>
            <a:spLocks noGrp="1"/>
          </p:cNvSpPr>
          <p:nvPr>
            <p:ph type="body" sz="quarter" idx="28" hasCustomPrompt="1"/>
          </p:nvPr>
        </p:nvSpPr>
        <p:spPr>
          <a:xfrm>
            <a:off x="12725245" y="16274772"/>
            <a:ext cx="1189008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12725245" y="28083131"/>
            <a:ext cx="1187957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ACKNOWLEDGEMENTS or  CONTACT</a:t>
            </a:r>
          </a:p>
        </p:txBody>
      </p:sp>
      <p:sp>
        <p:nvSpPr>
          <p:cNvPr id="30" name="Text Placeholder 3"/>
          <p:cNvSpPr>
            <a:spLocks noGrp="1"/>
          </p:cNvSpPr>
          <p:nvPr>
            <p:ph type="body" sz="quarter" idx="30" hasCustomPrompt="1"/>
          </p:nvPr>
        </p:nvSpPr>
        <p:spPr>
          <a:xfrm>
            <a:off x="12725245" y="28767135"/>
            <a:ext cx="11885529"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0" name="Text Placeholder 3"/>
          <p:cNvSpPr>
            <a:spLocks noGrp="1"/>
          </p:cNvSpPr>
          <p:nvPr>
            <p:ph type="body" sz="quarter" idx="96" hasCustomPrompt="1"/>
          </p:nvPr>
        </p:nvSpPr>
        <p:spPr>
          <a:xfrm>
            <a:off x="518974" y="16257349"/>
            <a:ext cx="11899368"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76" name="Text Placeholder 76"/>
          <p:cNvSpPr>
            <a:spLocks noGrp="1"/>
          </p:cNvSpPr>
          <p:nvPr>
            <p:ph type="body" sz="quarter" idx="150" hasCustomPrompt="1"/>
          </p:nvPr>
        </p:nvSpPr>
        <p:spPr>
          <a:xfrm>
            <a:off x="3219687" y="3498370"/>
            <a:ext cx="18752664" cy="1015663"/>
          </a:xfrm>
          <a:prstGeom prst="rect">
            <a:avLst/>
          </a:prstGeom>
        </p:spPr>
        <p:txBody>
          <a:bodyPr anchor="t" anchorCtr="0">
            <a:spAutoFit/>
          </a:bodyPr>
          <a:lstStyle>
            <a:lvl1pPr marL="0" indent="0" algn="ctr">
              <a:buFontTx/>
              <a:buNone/>
              <a:defRPr sz="60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79" name="Text Placeholder 76"/>
          <p:cNvSpPr>
            <a:spLocks noGrp="1"/>
          </p:cNvSpPr>
          <p:nvPr>
            <p:ph type="body" sz="quarter" idx="151" hasCustomPrompt="1"/>
          </p:nvPr>
        </p:nvSpPr>
        <p:spPr>
          <a:xfrm>
            <a:off x="3219687" y="2218210"/>
            <a:ext cx="18752664" cy="1446550"/>
          </a:xfrm>
          <a:prstGeom prst="rect">
            <a:avLst/>
          </a:prstGeom>
        </p:spPr>
        <p:txBody>
          <a:bodyPr anchor="t" anchorCtr="0">
            <a:spAutoFit/>
          </a:bodyPr>
          <a:lstStyle>
            <a:lvl1pPr marL="0" indent="0" algn="ctr">
              <a:buFontTx/>
              <a:buNone/>
              <a:defRPr sz="88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80" name="Text Placeholder 76"/>
          <p:cNvSpPr>
            <a:spLocks noGrp="1"/>
          </p:cNvSpPr>
          <p:nvPr>
            <p:ph type="body" sz="quarter" idx="153" hasCustomPrompt="1"/>
          </p:nvPr>
        </p:nvSpPr>
        <p:spPr>
          <a:xfrm>
            <a:off x="3219687" y="580236"/>
            <a:ext cx="18752664" cy="1446550"/>
          </a:xfrm>
          <a:prstGeom prst="rect">
            <a:avLst/>
          </a:prstGeom>
        </p:spPr>
        <p:txBody>
          <a:bodyPr anchor="t" anchorCtr="0">
            <a:spAutoFit/>
          </a:bodyPr>
          <a:lstStyle>
            <a:lvl1pPr marL="0" indent="0" algn="ctr">
              <a:buFontTx/>
              <a:buNone/>
              <a:defRPr sz="8800" b="1">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extLst>
      <p:ext uri="{BB962C8B-B14F-4D97-AF65-F5344CB8AC3E}">
        <p14:creationId xmlns:p14="http://schemas.microsoft.com/office/powerpoint/2010/main" val="12706269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18974" y="6508586"/>
            <a:ext cx="5772264"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6" name="Text Placeholder 5"/>
          <p:cNvSpPr>
            <a:spLocks noGrp="1"/>
          </p:cNvSpPr>
          <p:nvPr>
            <p:ph type="body" sz="quarter" idx="11" hasCustomPrompt="1"/>
          </p:nvPr>
        </p:nvSpPr>
        <p:spPr>
          <a:xfrm>
            <a:off x="529393" y="5758641"/>
            <a:ext cx="5767709" cy="659288"/>
          </a:xfrm>
          <a:prstGeom prst="rect">
            <a:avLst/>
          </a:prstGeom>
          <a:noFill/>
        </p:spPr>
        <p:txBody>
          <a:bodyPr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INTRODUCTION</a:t>
            </a:r>
          </a:p>
        </p:txBody>
      </p:sp>
      <p:sp>
        <p:nvSpPr>
          <p:cNvPr id="19" name="Text Placeholder 3"/>
          <p:cNvSpPr>
            <a:spLocks noGrp="1"/>
          </p:cNvSpPr>
          <p:nvPr>
            <p:ph type="body" sz="quarter" idx="19" hasCustomPrompt="1"/>
          </p:nvPr>
        </p:nvSpPr>
        <p:spPr>
          <a:xfrm>
            <a:off x="518060" y="16174952"/>
            <a:ext cx="577317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0" name="Text Placeholder 5"/>
          <p:cNvSpPr>
            <a:spLocks noGrp="1"/>
          </p:cNvSpPr>
          <p:nvPr>
            <p:ph type="body" sz="quarter" idx="20" hasCustomPrompt="1"/>
          </p:nvPr>
        </p:nvSpPr>
        <p:spPr>
          <a:xfrm>
            <a:off x="529391" y="15542881"/>
            <a:ext cx="576861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6650633" y="6508586"/>
            <a:ext cx="11892594"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2" name="Text Placeholder 5"/>
          <p:cNvSpPr>
            <a:spLocks noGrp="1"/>
          </p:cNvSpPr>
          <p:nvPr>
            <p:ph type="body" sz="quarter" idx="22" hasCustomPrompt="1"/>
          </p:nvPr>
        </p:nvSpPr>
        <p:spPr>
          <a:xfrm>
            <a:off x="6650633" y="5758641"/>
            <a:ext cx="118925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(header)  MATERIALS &amp; METHODS</a:t>
            </a:r>
          </a:p>
        </p:txBody>
      </p:sp>
      <p:sp>
        <p:nvSpPr>
          <p:cNvPr id="23" name="Text Placeholder 3"/>
          <p:cNvSpPr>
            <a:spLocks noGrp="1"/>
          </p:cNvSpPr>
          <p:nvPr>
            <p:ph type="body" sz="quarter" idx="23" hasCustomPrompt="1"/>
          </p:nvPr>
        </p:nvSpPr>
        <p:spPr>
          <a:xfrm>
            <a:off x="6650633" y="23714639"/>
            <a:ext cx="1189259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4" name="Text Placeholder 5"/>
          <p:cNvSpPr>
            <a:spLocks noGrp="1"/>
          </p:cNvSpPr>
          <p:nvPr>
            <p:ph type="body" sz="quarter" idx="24" hasCustomPrompt="1"/>
          </p:nvPr>
        </p:nvSpPr>
        <p:spPr>
          <a:xfrm>
            <a:off x="6650633" y="23047456"/>
            <a:ext cx="118925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18892159" y="5758641"/>
            <a:ext cx="5766642"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18892159" y="6508586"/>
            <a:ext cx="5766642"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7" name="Text Placeholder 5"/>
          <p:cNvSpPr>
            <a:spLocks noGrp="1"/>
          </p:cNvSpPr>
          <p:nvPr>
            <p:ph type="body" sz="quarter" idx="27" hasCustomPrompt="1"/>
          </p:nvPr>
        </p:nvSpPr>
        <p:spPr>
          <a:xfrm>
            <a:off x="18892159" y="15608744"/>
            <a:ext cx="5766642"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18913086" y="16275927"/>
            <a:ext cx="5724789"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9" name="Text Placeholder 5"/>
          <p:cNvSpPr>
            <a:spLocks noGrp="1"/>
          </p:cNvSpPr>
          <p:nvPr>
            <p:ph type="body" sz="quarter" idx="29" hasCustomPrompt="1"/>
          </p:nvPr>
        </p:nvSpPr>
        <p:spPr>
          <a:xfrm>
            <a:off x="18892159" y="28580547"/>
            <a:ext cx="5766642" cy="659288"/>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CONTACT</a:t>
            </a:r>
          </a:p>
        </p:txBody>
      </p:sp>
      <p:sp>
        <p:nvSpPr>
          <p:cNvPr id="30" name="Text Placeholder 3"/>
          <p:cNvSpPr>
            <a:spLocks noGrp="1"/>
          </p:cNvSpPr>
          <p:nvPr>
            <p:ph type="body" sz="quarter" idx="30" hasCustomPrompt="1"/>
          </p:nvPr>
        </p:nvSpPr>
        <p:spPr>
          <a:xfrm>
            <a:off x="18890715" y="29330961"/>
            <a:ext cx="5769531"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84" name="Text Placeholder 76"/>
          <p:cNvSpPr>
            <a:spLocks noGrp="1"/>
          </p:cNvSpPr>
          <p:nvPr>
            <p:ph type="body" sz="quarter" idx="150" hasCustomPrompt="1"/>
          </p:nvPr>
        </p:nvSpPr>
        <p:spPr>
          <a:xfrm>
            <a:off x="3219687" y="3498370"/>
            <a:ext cx="18752664" cy="1015663"/>
          </a:xfrm>
          <a:prstGeom prst="rect">
            <a:avLst/>
          </a:prstGeom>
        </p:spPr>
        <p:txBody>
          <a:bodyPr anchor="t" anchorCtr="0">
            <a:spAutoFit/>
          </a:bodyPr>
          <a:lstStyle>
            <a:lvl1pPr marL="0" indent="0" algn="ctr">
              <a:buFontTx/>
              <a:buNone/>
              <a:defRPr sz="60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85" name="Text Placeholder 76"/>
          <p:cNvSpPr>
            <a:spLocks noGrp="1"/>
          </p:cNvSpPr>
          <p:nvPr>
            <p:ph type="body" sz="quarter" idx="151" hasCustomPrompt="1"/>
          </p:nvPr>
        </p:nvSpPr>
        <p:spPr>
          <a:xfrm>
            <a:off x="3219687" y="2218210"/>
            <a:ext cx="18752664" cy="1446550"/>
          </a:xfrm>
          <a:prstGeom prst="rect">
            <a:avLst/>
          </a:prstGeom>
        </p:spPr>
        <p:txBody>
          <a:bodyPr anchor="t" anchorCtr="0">
            <a:spAutoFit/>
          </a:bodyPr>
          <a:lstStyle>
            <a:lvl1pPr marL="0" indent="0" algn="ctr">
              <a:buFontTx/>
              <a:buNone/>
              <a:defRPr sz="88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86" name="Text Placeholder 76"/>
          <p:cNvSpPr>
            <a:spLocks noGrp="1"/>
          </p:cNvSpPr>
          <p:nvPr>
            <p:ph type="body" sz="quarter" idx="178" hasCustomPrompt="1"/>
          </p:nvPr>
        </p:nvSpPr>
        <p:spPr>
          <a:xfrm>
            <a:off x="3219687" y="580236"/>
            <a:ext cx="18752664" cy="1446550"/>
          </a:xfrm>
          <a:prstGeom prst="rect">
            <a:avLst/>
          </a:prstGeom>
        </p:spPr>
        <p:txBody>
          <a:bodyPr anchor="t" anchorCtr="0">
            <a:spAutoFit/>
          </a:bodyPr>
          <a:lstStyle>
            <a:lvl1pPr marL="0" indent="0" algn="ctr">
              <a:buFontTx/>
              <a:buNone/>
              <a:defRPr sz="8800" b="1">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
        <p:nvSpPr>
          <p:cNvPr id="31" name="TextBox 30"/>
          <p:cNvSpPr txBox="1"/>
          <p:nvPr userDrawn="1"/>
        </p:nvSpPr>
        <p:spPr>
          <a:xfrm>
            <a:off x="8186057" y="10798629"/>
            <a:ext cx="6357257" cy="461665"/>
          </a:xfrm>
          <a:prstGeom prst="rect">
            <a:avLst/>
          </a:prstGeom>
          <a:noFill/>
        </p:spPr>
        <p:txBody>
          <a:bodyPr wrap="square" rtlCol="0" anchor="t" anchorCtr="0">
            <a:spAutoFit/>
          </a:bodyPr>
          <a:lstStyle/>
          <a:p>
            <a:endParaRPr lang="en-US" sz="2400" dirty="0">
              <a:latin typeface="Times New Roman" panose="02020603050405020304" pitchFamily="18" charset="0"/>
              <a:cs typeface="Times New Roman" panose="02020603050405020304" pitchFamily="18" charset="0"/>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png"/><Relationship Id="rId7" Type="http://schemas.openxmlformats.org/officeDocument/2006/relationships/hyperlink" Target="https://www.posterpresentations.com/how-to-change-the-research-poster-template-colors.html" TargetMode="External"/><Relationship Id="rId2"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6.png"/></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png"/><Relationship Id="rId7" Type="http://schemas.openxmlformats.org/officeDocument/2006/relationships/hyperlink" Target="https://www.posterpresentations.com/how-to-change-the-research-poster-template-colors.html" TargetMode="External"/><Relationship Id="rId2" Type="http://schemas.openxmlformats.org/officeDocument/2006/relationships/theme" Target="../theme/theme3.xml"/><Relationship Id="rId1" Type="http://schemas.openxmlformats.org/officeDocument/2006/relationships/slideLayout" Target="../slideLayouts/slideLayout3.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6.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6" name="Table 35">
            <a:extLst>
              <a:ext uri="{FF2B5EF4-FFF2-40B4-BE49-F238E27FC236}">
                <a16:creationId xmlns:a16="http://schemas.microsoft.com/office/drawing/2014/main" id="{6CA1A99B-ADFE-0946-BD42-BD5A646350D9}"/>
              </a:ext>
            </a:extLst>
          </p:cNvPr>
          <p:cNvGraphicFramePr>
            <a:graphicFrameLocks noGrp="1"/>
          </p:cNvGraphicFramePr>
          <p:nvPr userDrawn="1">
            <p:extLst>
              <p:ext uri="{D42A27DB-BD31-4B8C-83A1-F6EECF244321}">
                <p14:modId xmlns:p14="http://schemas.microsoft.com/office/powerpoint/2010/main" val="4020684293"/>
              </p:ext>
            </p:extLst>
          </p:nvPr>
        </p:nvGraphicFramePr>
        <p:xfrm>
          <a:off x="-10750964" y="37356"/>
          <a:ext cx="10290587" cy="35976294"/>
        </p:xfrm>
        <a:graphic>
          <a:graphicData uri="http://schemas.openxmlformats.org/drawingml/2006/table">
            <a:tbl>
              <a:tblPr firstRow="1" bandRow="1">
                <a:tableStyleId>{5C22544A-7EE6-4342-B048-85BDC9FD1C3A}</a:tableStyleId>
              </a:tblPr>
              <a:tblGrid>
                <a:gridCol w="4412520">
                  <a:extLst>
                    <a:ext uri="{9D8B030D-6E8A-4147-A177-3AD203B41FA5}">
                      <a16:colId xmlns:a16="http://schemas.microsoft.com/office/drawing/2014/main" val="20000"/>
                    </a:ext>
                  </a:extLst>
                </a:gridCol>
                <a:gridCol w="5878067">
                  <a:extLst>
                    <a:ext uri="{9D8B030D-6E8A-4147-A177-3AD203B41FA5}">
                      <a16:colId xmlns:a16="http://schemas.microsoft.com/office/drawing/2014/main" val="20001"/>
                    </a:ext>
                  </a:extLst>
                </a:gridCol>
              </a:tblGrid>
              <a:tr h="1392775">
                <a:tc gridSpan="2">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dirty="0"/>
                    </a:p>
                  </a:txBody>
                  <a:tcPr/>
                </a:tc>
                <a:extLst>
                  <a:ext uri="{0D108BD9-81ED-4DB2-BD59-A6C34878D82A}">
                    <a16:rowId xmlns:a16="http://schemas.microsoft.com/office/drawing/2014/main" val="10000"/>
                  </a:ext>
                </a:extLst>
              </a:tr>
              <a:tr h="4281487">
                <a:tc gridSpan="2">
                  <a:txBody>
                    <a:bodyPr/>
                    <a:lstStyle/>
                    <a:p>
                      <a:pPr defTabSz="3765639"/>
                      <a:r>
                        <a:rPr lang="en-US" sz="2400" i="0" dirty="0">
                          <a:solidFill>
                            <a:srgbClr val="D9D9D9"/>
                          </a:solidFill>
                          <a:latin typeface="Arial"/>
                          <a:cs typeface="Arial"/>
                        </a:rPr>
                        <a:t>This PowerPoint template produces a </a:t>
                      </a:r>
                      <a:r>
                        <a:rPr lang="en-US" sz="2400" b="1" i="0" dirty="0">
                          <a:solidFill>
                            <a:srgbClr val="FFC000"/>
                          </a:solidFill>
                          <a:latin typeface="Arial"/>
                          <a:cs typeface="Arial"/>
                        </a:rPr>
                        <a:t>70x100cm</a:t>
                      </a:r>
                      <a:r>
                        <a:rPr lang="en-US" sz="2400" i="0" dirty="0">
                          <a:solidFill>
                            <a:srgbClr val="FFC000"/>
                          </a:solidFill>
                          <a:latin typeface="Arial"/>
                          <a:cs typeface="Arial"/>
                        </a:rPr>
                        <a:t> </a:t>
                      </a:r>
                      <a:r>
                        <a:rPr lang="en-US" sz="2400" i="0" dirty="0">
                          <a:solidFill>
                            <a:srgbClr val="D9D9D9"/>
                          </a:solidFill>
                          <a:latin typeface="Arial"/>
                          <a:cs typeface="Arial"/>
                        </a:rPr>
                        <a:t>presentation poster. You can use it to create your research poster by placing your title, subtitle, text, tables, charts and photos. </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We provide a series of online tutorials that will guide you through the poster design process and answer your poster production questions. For complete template tutorials,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the  </a:t>
                      </a:r>
                      <a:r>
                        <a:rPr lang="en-US" sz="2400" i="0" dirty="0">
                          <a:solidFill>
                            <a:srgbClr val="FFC000"/>
                          </a:solidFill>
                          <a:latin typeface="Arial"/>
                          <a:cs typeface="Arial"/>
                        </a:rPr>
                        <a:t>HELP DESK</a:t>
                      </a:r>
                      <a:r>
                        <a:rPr lang="en-US" sz="2400" i="0" baseline="0" dirty="0">
                          <a:solidFill>
                            <a:srgbClr val="D9D9D9"/>
                          </a:solidFill>
                          <a:latin typeface="Arial"/>
                          <a:cs typeface="Arial"/>
                        </a:rPr>
                        <a:t> </a:t>
                      </a:r>
                      <a:r>
                        <a:rPr lang="en-US" sz="2400" i="0" dirty="0">
                          <a:solidFill>
                            <a:srgbClr val="D9D9D9"/>
                          </a:solidFill>
                          <a:latin typeface="Arial"/>
                          <a:cs typeface="Arial"/>
                        </a:rPr>
                        <a:t>tab.</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To print your poster using our same-day professional printing service,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a:t>
                      </a:r>
                      <a:r>
                        <a:rPr lang="en-US" sz="2400" i="0" dirty="0">
                          <a:solidFill>
                            <a:srgbClr val="FFC000"/>
                          </a:solidFill>
                          <a:latin typeface="Arial"/>
                          <a:cs typeface="Arial"/>
                        </a:rPr>
                        <a:t>Order your poster</a:t>
                      </a:r>
                      <a:r>
                        <a:rPr lang="en-US" sz="2400" i="0" dirty="0">
                          <a:solidFill>
                            <a:srgbClr val="D9D9D9"/>
                          </a:solidFill>
                          <a:latin typeface="Arial"/>
                          <a:cs typeface="Arial"/>
                        </a:rPr>
                        <a:t>".</a:t>
                      </a:r>
                      <a:endParaRPr lang="en-US" sz="2400" b="1" dirty="0">
                        <a:solidFill>
                          <a:srgbClr val="D9D9D9"/>
                        </a:solidFill>
                        <a:latin typeface="Arial"/>
                        <a:cs typeface="Arial"/>
                      </a:endParaRPr>
                    </a:p>
                  </a:txBody>
                  <a:tcPr marL="182880" marT="137160">
                    <a:solidFill>
                      <a:srgbClr val="010101"/>
                    </a:solidFill>
                  </a:tcPr>
                </a:tc>
                <a:tc hMerge="1">
                  <a:txBody>
                    <a:bodyPr/>
                    <a:lstStyle/>
                    <a:p>
                      <a:pPr marL="0" indent="0" algn="l" defTabSz="114300"/>
                      <a:endParaRPr lang="en-US" sz="2400" b="0" baseline="0" dirty="0">
                        <a:solidFill>
                          <a:srgbClr val="FFC000"/>
                        </a:solidFill>
                        <a:latin typeface="Arial" panose="020B0604020202020204" pitchFamily="34" charset="0"/>
                        <a:cs typeface="Arial" panose="020B0604020202020204" pitchFamily="34" charset="0"/>
                      </a:endParaRPr>
                    </a:p>
                  </a:txBody>
                  <a:tcPr>
                    <a:solidFill>
                      <a:schemeClr val="tx1">
                        <a:lumMod val="95000"/>
                        <a:lumOff val="5000"/>
                      </a:schemeClr>
                    </a:solidFill>
                  </a:tcPr>
                </a:tc>
                <a:extLst>
                  <a:ext uri="{0D108BD9-81ED-4DB2-BD59-A6C34878D82A}">
                    <a16:rowId xmlns:a16="http://schemas.microsoft.com/office/drawing/2014/main" val="677555919"/>
                  </a:ext>
                </a:extLst>
              </a:tr>
              <a:tr h="5106834">
                <a:tc>
                  <a:txBody>
                    <a:bodyPr/>
                    <a:lstStyle/>
                    <a:p>
                      <a:pPr algn="ctr"/>
                      <a:endParaRPr lang="en-US" sz="2400" dirty="0">
                        <a:solidFill>
                          <a:srgbClr val="1F3A4E"/>
                        </a:solidFill>
                      </a:endParaRPr>
                    </a:p>
                    <a:p>
                      <a:pPr algn="ctr"/>
                      <a:endParaRPr lang="en-US" sz="2400" dirty="0">
                        <a:solidFill>
                          <a:srgbClr val="1F3A4E"/>
                        </a:solidFill>
                      </a:endParaRPr>
                    </a:p>
                    <a:p>
                      <a:pPr algn="ctr"/>
                      <a:r>
                        <a:rPr lang="en-US" sz="2400" dirty="0">
                          <a:solidFill>
                            <a:schemeClr val="bg1"/>
                          </a:solidFill>
                          <a:latin typeface="Arial" panose="020B0604020202020204" pitchFamily="34" charset="0"/>
                          <a:cs typeface="Arial" panose="020B0604020202020204" pitchFamily="34" charset="0"/>
                        </a:rPr>
                        <a:t>This is a template for a </a:t>
                      </a:r>
                    </a:p>
                    <a:p>
                      <a:pPr algn="ctr"/>
                      <a:r>
                        <a:rPr lang="en-US" sz="2400" dirty="0">
                          <a:solidFill>
                            <a:schemeClr val="bg1"/>
                          </a:solidFill>
                          <a:latin typeface="Arial" panose="020B0604020202020204" pitchFamily="34" charset="0"/>
                          <a:cs typeface="Arial" panose="020B0604020202020204" pitchFamily="34" charset="0"/>
                        </a:rPr>
                        <a:t>presentation poster</a:t>
                      </a:r>
                      <a:br>
                        <a:rPr lang="en-US" sz="2400" dirty="0">
                          <a:solidFill>
                            <a:schemeClr val="bg1"/>
                          </a:solidFill>
                          <a:latin typeface="Arial" panose="020B0604020202020204" pitchFamily="34" charset="0"/>
                          <a:cs typeface="Arial" panose="020B0604020202020204" pitchFamily="34" charset="0"/>
                        </a:rPr>
                      </a:br>
                      <a:r>
                        <a:rPr lang="en-US" sz="4000" b="1" dirty="0">
                          <a:solidFill>
                            <a:srgbClr val="FFC000"/>
                          </a:solidFill>
                          <a:latin typeface="Arial" panose="020B0604020202020204" pitchFamily="34" charset="0"/>
                          <a:cs typeface="Arial" panose="020B0604020202020204" pitchFamily="34" charset="0"/>
                        </a:rPr>
                        <a:t>70x100cm</a:t>
                      </a:r>
                      <a:br>
                        <a:rPr lang="en-US" sz="2400" dirty="0">
                          <a:solidFill>
                            <a:schemeClr val="bg1"/>
                          </a:solidFill>
                          <a:latin typeface="Arial" panose="020B0604020202020204" pitchFamily="34" charset="0"/>
                          <a:cs typeface="Arial" panose="020B0604020202020204" pitchFamily="34" charset="0"/>
                        </a:rPr>
                      </a:br>
                      <a:endParaRPr lang="en-US" sz="2400" dirty="0">
                        <a:solidFill>
                          <a:srgbClr val="1F3A4E"/>
                        </a:solidFill>
                      </a:endParaRPr>
                    </a:p>
                  </a:txBody>
                  <a:tcPr>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Important:</a:t>
                      </a:r>
                      <a:br>
                        <a:rPr lang="en-US" sz="2800" b="1" baseline="0" dirty="0">
                          <a:solidFill>
                            <a:srgbClr val="FFC000"/>
                          </a:solidFill>
                          <a:latin typeface="Arial" panose="020B0604020202020204" pitchFamily="34" charset="0"/>
                          <a:cs typeface="Arial" panose="020B0604020202020204" pitchFamily="34" charset="0"/>
                        </a:rPr>
                      </a:br>
                      <a:r>
                        <a:rPr lang="en-US" sz="2800" b="1" baseline="0" dirty="0">
                          <a:solidFill>
                            <a:srgbClr val="FFC000"/>
                          </a:solidFill>
                          <a:latin typeface="Arial" panose="020B0604020202020204" pitchFamily="34" charset="0"/>
                          <a:cs typeface="Arial" panose="020B0604020202020204" pitchFamily="34" charset="0"/>
                        </a:rPr>
                        <a:t>Check the template size</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Before you start working on your poster and to avoid printing problems check that you have downloaded and that you are using the correct size template for your poster presentation.</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This template can also be printed at the following sizes without distortion and without any additional formatting:</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100x143 cm</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27.5x39.37 inches </a:t>
                      </a:r>
                    </a:p>
                  </a:txBody>
                  <a:tcPr marL="182880" marT="137160">
                    <a:solidFill>
                      <a:srgbClr val="010101"/>
                    </a:solidFill>
                  </a:tcPr>
                </a:tc>
                <a:extLst>
                  <a:ext uri="{0D108BD9-81ED-4DB2-BD59-A6C34878D82A}">
                    <a16:rowId xmlns:a16="http://schemas.microsoft.com/office/drawing/2014/main" val="10008"/>
                  </a:ext>
                </a:extLst>
              </a:tr>
              <a:tr h="5003666">
                <a:tc>
                  <a:txBody>
                    <a:bodyPr/>
                    <a:lstStyle/>
                    <a:p>
                      <a:endParaRPr lang="en-US" sz="2400" dirty="0">
                        <a:solidFill>
                          <a:srgbClr val="1F3A4E"/>
                        </a:solidFill>
                      </a:endParaRPr>
                    </a:p>
                  </a:txBody>
                  <a:tcPr>
                    <a:blipFill rotWithShape="1">
                      <a:blip r:embed="rId3"/>
                      <a:stretch>
                        <a:fillRect/>
                      </a:stretch>
                    </a:blipFill>
                  </a:tcPr>
                </a:tc>
                <a:tc>
                  <a:txBody>
                    <a:bodyPr/>
                    <a:lstStyle/>
                    <a:p>
                      <a:pPr algn="l"/>
                      <a:r>
                        <a:rPr lang="en-US" sz="2800" b="1" baseline="0" dirty="0">
                          <a:solidFill>
                            <a:srgbClr val="FFC000"/>
                          </a:solidFill>
                          <a:latin typeface="Arial" panose="020B0604020202020204" pitchFamily="34" charset="0"/>
                          <a:cs typeface="Arial" panose="020B0604020202020204" pitchFamily="34" charset="0"/>
                        </a:rPr>
                        <a:t>How to </a:t>
                      </a:r>
                      <a:r>
                        <a:rPr lang="en-US" sz="4400" b="1" baseline="0" dirty="0">
                          <a:solidFill>
                            <a:srgbClr val="FFC000"/>
                          </a:solidFill>
                          <a:latin typeface="Arial" panose="020B0604020202020204" pitchFamily="34" charset="0"/>
                          <a:cs typeface="Arial" panose="020B0604020202020204" pitchFamily="34" charset="0"/>
                        </a:rPr>
                        <a:t>Zoom in </a:t>
                      </a:r>
                      <a:r>
                        <a:rPr lang="en-US" sz="2800" b="1" baseline="0" dirty="0">
                          <a:solidFill>
                            <a:srgbClr val="FFC000"/>
                          </a:solidFill>
                          <a:latin typeface="Arial" panose="020B0604020202020204" pitchFamily="34" charset="0"/>
                          <a:cs typeface="Arial" panose="020B0604020202020204" pitchFamily="34" charset="0"/>
                        </a:rPr>
                        <a:t>and </a:t>
                      </a:r>
                      <a:r>
                        <a:rPr lang="en-US" sz="2000" b="1" baseline="0" dirty="0">
                          <a:solidFill>
                            <a:srgbClr val="FFC000"/>
                          </a:solidFill>
                          <a:latin typeface="Arial" panose="020B0604020202020204" pitchFamily="34" charset="0"/>
                          <a:cs typeface="Arial" panose="020B0604020202020204" pitchFamily="34" charset="0"/>
                        </a:rPr>
                        <a:t>out</a:t>
                      </a:r>
                      <a:endParaRPr lang="en-US" sz="2800" b="1" baseline="0" dirty="0">
                        <a:solidFill>
                          <a:srgbClr val="FFC000"/>
                        </a:solidFill>
                        <a:latin typeface="Arial" panose="020B0604020202020204" pitchFamily="34" charset="0"/>
                        <a:cs typeface="Arial" panose="020B0604020202020204" pitchFamily="34" charset="0"/>
                      </a:endParaRPr>
                    </a:p>
                    <a:p>
                      <a:pPr algn="l"/>
                      <a:r>
                        <a:rPr lang="en-US" sz="2400" b="0" baseline="0" dirty="0">
                          <a:solidFill>
                            <a:srgbClr val="D9D9D9"/>
                          </a:solidFill>
                          <a:latin typeface="Arial" panose="020B0604020202020204" pitchFamily="34" charset="0"/>
                          <a:cs typeface="Arial" panose="020B0604020202020204" pitchFamily="34" charset="0"/>
                        </a:rPr>
                        <a:t>Use the PowerPoint zoom tool to adjust the screen magnification to view comfortably. PowerPoint provides 2 ways to zoom: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 </a:t>
                      </a:r>
                      <a:r>
                        <a:rPr lang="en-US" sz="2400" b="0" baseline="0" dirty="0">
                          <a:solidFill>
                            <a:srgbClr val="D9D9D9"/>
                          </a:solidFill>
                          <a:latin typeface="Arial" panose="020B0604020202020204" pitchFamily="34" charset="0"/>
                          <a:cs typeface="Arial" panose="020B0604020202020204" pitchFamily="34" charset="0"/>
                        </a:rPr>
                        <a:t>On the top menu bar click on the VIEW tab and then click on ZOOM. Choose the zoom percentage that works best for you.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 </a:t>
                      </a:r>
                      <a:r>
                        <a:rPr lang="en-US" sz="2400" b="0" baseline="0" dirty="0">
                          <a:solidFill>
                            <a:srgbClr val="D9D9D9"/>
                          </a:solidFill>
                          <a:latin typeface="Arial" panose="020B0604020202020204" pitchFamily="34" charset="0"/>
                          <a:cs typeface="Arial" panose="020B0604020202020204" pitchFamily="34" charset="0"/>
                        </a:rPr>
                        <a:t>For better zoom flexibility, use the zoom slider at the bottom right of the window.</a:t>
                      </a:r>
                    </a:p>
                  </a:txBody>
                  <a:tcPr marL="182880" marT="137160">
                    <a:solidFill>
                      <a:srgbClr val="010101"/>
                    </a:solidFill>
                  </a:tcPr>
                </a:tc>
                <a:extLst>
                  <a:ext uri="{0D108BD9-81ED-4DB2-BD59-A6C34878D82A}">
                    <a16:rowId xmlns:a16="http://schemas.microsoft.com/office/drawing/2014/main" val="10001"/>
                  </a:ext>
                </a:extLst>
              </a:tr>
              <a:tr h="2372872">
                <a:tc gridSpan="2">
                  <a:txBody>
                    <a:bodyPr/>
                    <a:lstStyle/>
                    <a:p>
                      <a:pPr marL="0" marR="0" lvl="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Ruler and Guides</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The dotted lines on his poster template are guides.  The horizontal and vertical guides will help you align your poster elements accurately. Text boxes and other elements will ”snap” to the guides and stay within the boundaries of the columns. To hide the guides go to VIEW and uncheck the Guides box.</a:t>
                      </a:r>
                    </a:p>
                  </a:txBody>
                  <a:tcPr>
                    <a:solidFill>
                      <a:srgbClr val="010101"/>
                    </a:solidFill>
                  </a:tcPr>
                </a:tc>
                <a:tc hMerge="1">
                  <a:txBody>
                    <a:bodyPr/>
                    <a:lstStyle/>
                    <a:p>
                      <a:endParaRPr lang="en-US" sz="2400" b="0" baseline="0" dirty="0">
                        <a:solidFill>
                          <a:schemeClr val="bg1"/>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extLst>
                  <a:ext uri="{0D108BD9-81ED-4DB2-BD59-A6C34878D82A}">
                    <a16:rowId xmlns:a16="http://schemas.microsoft.com/office/drawing/2014/main" val="10002"/>
                  </a:ext>
                </a:extLst>
              </a:tr>
              <a:tr h="4694162">
                <a:tc>
                  <a:txBody>
                    <a:bodyPr/>
                    <a:lstStyle/>
                    <a:p>
                      <a:endParaRPr lang="en-US" sz="2400" dirty="0">
                        <a:solidFill>
                          <a:srgbClr val="1F3A4E"/>
                        </a:solidFill>
                      </a:endParaRPr>
                    </a:p>
                  </a:txBody>
                  <a:tcPr>
                    <a:blipFill rotWithShape="1">
                      <a:blip r:embed="rId4"/>
                      <a:stretch>
                        <a:fillRect/>
                      </a:stretch>
                    </a:blipFill>
                  </a:tcPr>
                </a:tc>
                <a:tc>
                  <a:txBody>
                    <a:bodyPr/>
                    <a:lstStyle/>
                    <a:p>
                      <a:pPr marL="0" lvl="1" indent="0" algn="l" defTabSz="114300"/>
                      <a:r>
                        <a:rPr lang="en-US" sz="2800" b="1" baseline="0" dirty="0">
                          <a:solidFill>
                            <a:srgbClr val="FFC000"/>
                          </a:solidFill>
                          <a:latin typeface="Arial" panose="020B0604020202020204" pitchFamily="34" charset="0"/>
                          <a:cs typeface="Arial" panose="020B0604020202020204" pitchFamily="34" charset="0"/>
                        </a:rPr>
                        <a:t>Headers and text containers</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Included in this template are commonly used section headers such as Abstract, Objectives, Methods, Results, etc.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Click inside a section header to add its text.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add another header, click on edge of the section box so that it is outlined. Copy and paste it.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increase its size, click on the white circles and expand to the the desired size.</a:t>
                      </a:r>
                    </a:p>
                  </a:txBody>
                  <a:tcPr marL="182880" marT="137160">
                    <a:solidFill>
                      <a:srgbClr val="010101"/>
                    </a:solidFill>
                  </a:tcPr>
                </a:tc>
                <a:extLst>
                  <a:ext uri="{0D108BD9-81ED-4DB2-BD59-A6C34878D82A}">
                    <a16:rowId xmlns:a16="http://schemas.microsoft.com/office/drawing/2014/main" val="10003"/>
                  </a:ext>
                </a:extLst>
              </a:tr>
              <a:tr h="3817230">
                <a:tc gridSpan="2">
                  <a:txBody>
                    <a:bodyPr/>
                    <a:lstStyle/>
                    <a:p>
                      <a:r>
                        <a:rPr lang="en-US" sz="2800" b="1" dirty="0">
                          <a:solidFill>
                            <a:srgbClr val="FFC000"/>
                          </a:solidFill>
                          <a:latin typeface="Arial" panose="020B0604020202020204" pitchFamily="34" charset="0"/>
                          <a:cs typeface="Arial" panose="020B0604020202020204" pitchFamily="34" charset="0"/>
                        </a:rPr>
                        <a:t>Adding content to the poster</a:t>
                      </a:r>
                    </a:p>
                    <a:p>
                      <a:r>
                        <a:rPr lang="en-US" sz="2400" baseline="0" dirty="0">
                          <a:solidFill>
                            <a:srgbClr val="D9D9D9"/>
                          </a:solidFill>
                          <a:latin typeface="Arial" panose="020B0604020202020204" pitchFamily="34" charset="0"/>
                          <a:cs typeface="Arial" panose="020B0604020202020204" pitchFamily="34" charset="0"/>
                        </a:rPr>
                        <a:t>Start by adding your text to each section without spending too much time with formatting. Use the default font size even if your text extends beyond the bottom of the poster. Continue until you have added all your content including text, graphics, photos, etc. Once you finish adding your content you can go back and format your text as needed.</a:t>
                      </a:r>
                    </a:p>
                    <a:p>
                      <a:pPr marL="342900" indent="-342900">
                        <a:buFontTx/>
                        <a:buChar char="-"/>
                      </a:pPr>
                      <a:r>
                        <a:rPr lang="en-US" sz="2400" baseline="0" dirty="0">
                          <a:solidFill>
                            <a:srgbClr val="D9D9D9"/>
                          </a:solidFill>
                          <a:latin typeface="Arial" panose="020B0604020202020204" pitchFamily="34" charset="0"/>
                          <a:cs typeface="Arial" panose="020B0604020202020204" pitchFamily="34" charset="0"/>
                        </a:rPr>
                        <a:t>If you run out of room, try to reduce the size of your fonts and/or the size of your graphics. If there is a lot of empty space try to increase your font sizes and the size of your graphics. The font used for references can be smaller.</a:t>
                      </a:r>
                      <a:endParaRPr lang="en-US" sz="2400" dirty="0">
                        <a:solidFill>
                          <a:srgbClr val="D9D9D9"/>
                        </a:solidFill>
                        <a:latin typeface="Arial" panose="020B0604020202020204" pitchFamily="34" charset="0"/>
                        <a:cs typeface="Arial" panose="020B0604020202020204" pitchFamily="34" charset="0"/>
                      </a:endParaRPr>
                    </a:p>
                  </a:txBody>
                  <a:tcPr>
                    <a:solidFill>
                      <a:srgbClr val="010101"/>
                    </a:solidFill>
                  </a:tcPr>
                </a:tc>
                <a:tc hMerge="1">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4"/>
                  </a:ext>
                </a:extLst>
              </a:tr>
              <a:tr h="2527626">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Photos</a:t>
                      </a:r>
                    </a:p>
                    <a:p>
                      <a:pPr marL="0" marR="0" lvl="0" indent="0" algn="l" defTabSz="9779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9D9D9"/>
                          </a:solidFill>
                          <a:effectLst/>
                          <a:uLnTx/>
                          <a:uFillTx/>
                          <a:latin typeface="Arial"/>
                          <a:ea typeface="+mn-ea"/>
                          <a:cs typeface="Arial"/>
                        </a:rPr>
                        <a:t>You can add photos by dragging and dropping from your desktop, copy and paste, or by going to INSERT &gt; PICTURES. Resize images proportionally by holding down the SHIFT key and dragging one of the white corner handles (dots). For a professional-looking poster, do not distort your images by stretching them disproportionally.</a:t>
                      </a:r>
                    </a:p>
                  </a:txBody>
                  <a:tcPr marL="182880" marT="137160">
                    <a:solidFill>
                      <a:srgbClr val="010101"/>
                    </a:solidFill>
                  </a:tcPr>
                </a:tc>
                <a:tc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200" noProof="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5"/>
                  </a:ext>
                </a:extLst>
              </a:tr>
              <a:tr h="2223088">
                <a:tc gridSpan="2">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blipFill rotWithShape="1">
                      <a:blip r:embed="rId5"/>
                      <a:stretch>
                        <a:fillRect/>
                      </a:stretch>
                    </a:blipFill>
                  </a:tcPr>
                </a:tc>
                <a:tc hMerge="1">
                  <a:txBody>
                    <a:bodyPr/>
                    <a:lstStyle/>
                    <a:p>
                      <a:endParaRPr lang="en-US" sz="2400" dirty="0">
                        <a:solidFill>
                          <a:srgbClr val="1F3A4E"/>
                        </a:solidFill>
                      </a:endParaRPr>
                    </a:p>
                  </a:txBody>
                  <a:tcPr/>
                </a:tc>
                <a:extLst>
                  <a:ext uri="{0D108BD9-81ED-4DB2-BD59-A6C34878D82A}">
                    <a16:rowId xmlns:a16="http://schemas.microsoft.com/office/drawing/2014/main" val="10006"/>
                  </a:ext>
                </a:extLst>
              </a:tr>
              <a:tr h="1466691">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Quality check your graphics</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Zoom in and look at your images at 100%-200% magnification. If they look clear, they will print well. </a:t>
                      </a:r>
                    </a:p>
                  </a:txBody>
                  <a:tcPr marL="182880" marT="137160">
                    <a:solidFill>
                      <a:srgbClr val="010101"/>
                    </a:solidFill>
                  </a:tcPr>
                </a:tc>
                <a:tc hMerge="1">
                  <a:txBody>
                    <a:bodyPr/>
                    <a:lstStyle/>
                    <a:p>
                      <a:endParaRPr lang="en-US" sz="2400" dirty="0">
                        <a:solidFill>
                          <a:srgbClr val="1F3A4E"/>
                        </a:solidFill>
                      </a:endParaRPr>
                    </a:p>
                  </a:txBody>
                  <a:tcPr>
                    <a:solidFill>
                      <a:schemeClr val="tx1">
                        <a:lumMod val="95000"/>
                        <a:lumOff val="5000"/>
                      </a:schemeClr>
                    </a:solidFill>
                  </a:tcPr>
                </a:tc>
                <a:extLst>
                  <a:ext uri="{0D108BD9-81ED-4DB2-BD59-A6C34878D82A}">
                    <a16:rowId xmlns:a16="http://schemas.microsoft.com/office/drawing/2014/main" val="10007"/>
                  </a:ext>
                </a:extLst>
              </a:tr>
              <a:tr h="3089863">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chemeClr val="bg1"/>
                        </a:solidFill>
                        <a:latin typeface="Arial"/>
                        <a:cs typeface="Arial"/>
                      </a:endParaRPr>
                    </a:p>
                  </a:txBody>
                  <a:tcPr marL="182880" marT="137160">
                    <a:blipFill rotWithShape="1">
                      <a:blip r:embed="rId6"/>
                      <a:stretch>
                        <a:fillRect/>
                      </a:stretch>
                    </a:blipFill>
                  </a:tcPr>
                </a:tc>
                <a:tc hMerge="1">
                  <a:txBody>
                    <a:bodyPr/>
                    <a:lstStyle/>
                    <a:p>
                      <a:endParaRPr lang="en-US"/>
                    </a:p>
                  </a:txBody>
                  <a:tcPr/>
                </a:tc>
                <a:extLst>
                  <a:ext uri="{0D108BD9-81ED-4DB2-BD59-A6C34878D82A}">
                    <a16:rowId xmlns:a16="http://schemas.microsoft.com/office/drawing/2014/main" val="10010"/>
                  </a:ext>
                </a:extLst>
              </a:tr>
            </a:tbl>
          </a:graphicData>
        </a:graphic>
      </p:graphicFrame>
      <p:grpSp>
        <p:nvGrpSpPr>
          <p:cNvPr id="9" name="Group 8">
            <a:extLst>
              <a:ext uri="{FF2B5EF4-FFF2-40B4-BE49-F238E27FC236}">
                <a16:creationId xmlns:a16="http://schemas.microsoft.com/office/drawing/2014/main" id="{08DEEC71-333C-EB4F-94EA-63CA80BD11AC}"/>
              </a:ext>
            </a:extLst>
          </p:cNvPr>
          <p:cNvGrpSpPr/>
          <p:nvPr userDrawn="1"/>
        </p:nvGrpSpPr>
        <p:grpSpPr>
          <a:xfrm>
            <a:off x="0" y="0"/>
            <a:ext cx="25192038" cy="36013650"/>
            <a:chOff x="-282256" y="-251209"/>
            <a:chExt cx="25648282" cy="36391624"/>
          </a:xfrm>
        </p:grpSpPr>
        <p:sp>
          <p:nvSpPr>
            <p:cNvPr id="10" name="Freeform 9">
              <a:extLst>
                <a:ext uri="{FF2B5EF4-FFF2-40B4-BE49-F238E27FC236}">
                  <a16:creationId xmlns:a16="http://schemas.microsoft.com/office/drawing/2014/main" id="{DACE849D-9518-E947-B822-CB297FE580F1}"/>
                </a:ext>
              </a:extLst>
            </p:cNvPr>
            <p:cNvSpPr/>
            <p:nvPr userDrawn="1"/>
          </p:nvSpPr>
          <p:spPr>
            <a:xfrm>
              <a:off x="-240584" y="-231258"/>
              <a:ext cx="25606610" cy="36371673"/>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79000">
                  <a:schemeClr val="accent1">
                    <a:lumMod val="40000"/>
                    <a:lumOff val="60000"/>
                  </a:schemeClr>
                </a:gs>
                <a:gs pos="13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10">
              <a:extLst>
                <a:ext uri="{FF2B5EF4-FFF2-40B4-BE49-F238E27FC236}">
                  <a16:creationId xmlns:a16="http://schemas.microsoft.com/office/drawing/2014/main" id="{82ACFDD4-76B9-7B48-B709-EADB21739772}"/>
                </a:ext>
              </a:extLst>
            </p:cNvPr>
            <p:cNvSpPr/>
            <p:nvPr userDrawn="1"/>
          </p:nvSpPr>
          <p:spPr>
            <a:xfrm flipH="1" flipV="1">
              <a:off x="-240585" y="-231258"/>
              <a:ext cx="25606609" cy="36352958"/>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41000">
                  <a:schemeClr val="bg2"/>
                </a:gs>
                <a:gs pos="100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11">
              <a:extLst>
                <a:ext uri="{FF2B5EF4-FFF2-40B4-BE49-F238E27FC236}">
                  <a16:creationId xmlns:a16="http://schemas.microsoft.com/office/drawing/2014/main" id="{DFE4A334-6B3E-114C-A46F-86084BCD00CB}"/>
                </a:ext>
              </a:extLst>
            </p:cNvPr>
            <p:cNvSpPr/>
            <p:nvPr userDrawn="1"/>
          </p:nvSpPr>
          <p:spPr>
            <a:xfrm>
              <a:off x="-282256" y="-251209"/>
              <a:ext cx="25648281" cy="36391624"/>
            </a:xfrm>
            <a:custGeom>
              <a:avLst/>
              <a:gdLst>
                <a:gd name="connsiteX0" fmla="*/ 36576 w 39026592"/>
                <a:gd name="connsiteY0" fmla="*/ 0 h 30614112"/>
                <a:gd name="connsiteX1" fmla="*/ 15837408 w 39026592"/>
                <a:gd name="connsiteY1" fmla="*/ 30614112 h 30614112"/>
                <a:gd name="connsiteX2" fmla="*/ 39026592 w 39026592"/>
                <a:gd name="connsiteY2" fmla="*/ 13350240 h 30614112"/>
                <a:gd name="connsiteX3" fmla="*/ 0 w 39026592"/>
                <a:gd name="connsiteY3" fmla="*/ 73152 h 30614112"/>
                <a:gd name="connsiteX4" fmla="*/ 109728 w 39026592"/>
                <a:gd name="connsiteY4" fmla="*/ 146304 h 30614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026592" h="30614112">
                  <a:moveTo>
                    <a:pt x="36576" y="0"/>
                  </a:moveTo>
                  <a:lnTo>
                    <a:pt x="15837408" y="30614112"/>
                  </a:lnTo>
                  <a:lnTo>
                    <a:pt x="39026592" y="13350240"/>
                  </a:lnTo>
                  <a:lnTo>
                    <a:pt x="0" y="73152"/>
                  </a:lnTo>
                  <a:lnTo>
                    <a:pt x="109728" y="146304"/>
                  </a:lnTo>
                </a:path>
              </a:pathLst>
            </a:custGeom>
            <a:gradFill flip="none" rotWithShape="1">
              <a:gsLst>
                <a:gs pos="0">
                  <a:schemeClr val="bg1"/>
                </a:gs>
                <a:gs pos="76000">
                  <a:schemeClr val="accent1">
                    <a:lumMod val="30000"/>
                    <a:lumOff val="70000"/>
                    <a:alpha val="0"/>
                  </a:schemeClr>
                </a:gs>
              </a:gsLst>
              <a:path path="rect">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14" name="Table 13">
            <a:extLst>
              <a:ext uri="{FF2B5EF4-FFF2-40B4-BE49-F238E27FC236}">
                <a16:creationId xmlns:a16="http://schemas.microsoft.com/office/drawing/2014/main" id="{1505E797-B9BB-BF41-8A6D-FBBD7110479D}"/>
              </a:ext>
            </a:extLst>
          </p:cNvPr>
          <p:cNvGraphicFramePr>
            <a:graphicFrameLocks noGrp="1"/>
          </p:cNvGraphicFramePr>
          <p:nvPr userDrawn="1">
            <p:extLst>
              <p:ext uri="{D42A27DB-BD31-4B8C-83A1-F6EECF244321}">
                <p14:modId xmlns:p14="http://schemas.microsoft.com/office/powerpoint/2010/main" val="1760322990"/>
              </p:ext>
            </p:extLst>
          </p:nvPr>
        </p:nvGraphicFramePr>
        <p:xfrm>
          <a:off x="25652414" y="37356"/>
          <a:ext cx="10290587" cy="35957775"/>
        </p:xfrm>
        <a:graphic>
          <a:graphicData uri="http://schemas.openxmlformats.org/drawingml/2006/table">
            <a:tbl>
              <a:tblPr firstRow="1" bandRow="1">
                <a:tableStyleId>{5C22544A-7EE6-4342-B048-85BDC9FD1C3A}</a:tableStyleId>
              </a:tblPr>
              <a:tblGrid>
                <a:gridCol w="4899938">
                  <a:extLst>
                    <a:ext uri="{9D8B030D-6E8A-4147-A177-3AD203B41FA5}">
                      <a16:colId xmlns:a16="http://schemas.microsoft.com/office/drawing/2014/main" val="20000"/>
                    </a:ext>
                  </a:extLst>
                </a:gridCol>
                <a:gridCol w="351173">
                  <a:extLst>
                    <a:ext uri="{9D8B030D-6E8A-4147-A177-3AD203B41FA5}">
                      <a16:colId xmlns:a16="http://schemas.microsoft.com/office/drawing/2014/main" val="764104496"/>
                    </a:ext>
                  </a:extLst>
                </a:gridCol>
                <a:gridCol w="5039476">
                  <a:extLst>
                    <a:ext uri="{9D8B030D-6E8A-4147-A177-3AD203B41FA5}">
                      <a16:colId xmlns:a16="http://schemas.microsoft.com/office/drawing/2014/main" val="4164475170"/>
                    </a:ext>
                  </a:extLst>
                </a:gridCol>
              </a:tblGrid>
              <a:tr h="1768730">
                <a:tc gridSpan="3">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906470">
                <a:tc gridSpan="3">
                  <a:txBody>
                    <a:bodyPr/>
                    <a:lstStyle/>
                    <a:p>
                      <a:pPr algn="l"/>
                      <a:r>
                        <a:rPr lang="en-US" sz="2800" b="1" baseline="0" dirty="0">
                          <a:solidFill>
                            <a:srgbClr val="FFC000"/>
                          </a:solidFill>
                          <a:latin typeface="Arial" panose="020B0604020202020204" pitchFamily="34" charset="0"/>
                          <a:cs typeface="Arial" panose="020B0604020202020204" pitchFamily="34" charset="0"/>
                        </a:rPr>
                        <a:t>How to change the template colors</a:t>
                      </a: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change the overall template color theme by clicking on the COLORS dropdown menu under the DESIGN tab. You can see a tutorial here: </a:t>
                      </a:r>
                      <a:r>
                        <a:rPr lang="en-US" sz="2400" dirty="0">
                          <a:solidFill>
                            <a:srgbClr val="FFC000"/>
                          </a:solidFill>
                          <a:hlinkClick r:id="rId7">
                            <a:extLst>
                              <a:ext uri="{A12FA001-AC4F-418D-AE19-62706E023703}">
                                <ahyp:hlinkClr xmlns:ahyp="http://schemas.microsoft.com/office/drawing/2018/hyperlinkcolor" val="tx"/>
                              </a:ext>
                            </a:extLst>
                          </a:hlinkClick>
                        </a:rPr>
                        <a:t>https://www.posterpresentations.com/how-to-change-the-research-poster-template-colors.html</a:t>
                      </a:r>
                      <a:endParaRPr lang="en-US" sz="2400" dirty="0">
                        <a:solidFill>
                          <a:srgbClr val="FFC000"/>
                        </a:solidFill>
                      </a:endParaRP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also manually change the color of individual elements by going to VIEW &gt; SLIDE MASTER. On the left side of your screen select the background master where you can change the template background, column sizes, etc. </a:t>
                      </a: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After you finish working on the SLIDE MASTER, it is important that you go to VIEW &gt; NORMAL to continue working on your poster. </a:t>
                      </a:r>
                    </a:p>
                  </a:txBody>
                  <a:tcPr marL="182880" marT="137160">
                    <a:solidFill>
                      <a:schemeClr val="tx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3733058">
                <a:tc gridSpan="3">
                  <a:txBody>
                    <a:bodyPr/>
                    <a:lstStyle/>
                    <a:p>
                      <a:r>
                        <a:rPr lang="en-US" sz="2800" b="1" dirty="0">
                          <a:solidFill>
                            <a:srgbClr val="FFC000"/>
                          </a:solidFill>
                          <a:latin typeface="Arial" panose="020B0604020202020204" pitchFamily="34" charset="0"/>
                          <a:cs typeface="Arial" panose="020B0604020202020204" pitchFamily="34" charset="0"/>
                        </a:rPr>
                        <a:t>How to change the column layout configuration</a:t>
                      </a:r>
                    </a:p>
                    <a:p>
                      <a:r>
                        <a:rPr lang="en-US" sz="2400" dirty="0">
                          <a:solidFill>
                            <a:srgbClr val="D9D9D9"/>
                          </a:solidFill>
                          <a:latin typeface="Arial" panose="020B0604020202020204" pitchFamily="34" charset="0"/>
                          <a:cs typeface="Arial" panose="020B0604020202020204" pitchFamily="34" charset="0"/>
                        </a:rPr>
                        <a:t>You can manually change the configuration on the columns by going to VIEW &gt; SLIDE MASTER. You can delete columns, resize them or modify them as needed for your layout. </a:t>
                      </a:r>
                    </a:p>
                    <a:p>
                      <a:pPr marL="0" marR="0" indent="0" algn="l" defTabSz="3765366" rtl="0" eaLnBrk="1" fontAlgn="auto" latinLnBrk="0" hangingPunct="1">
                        <a:lnSpc>
                          <a:spcPct val="100000"/>
                        </a:lnSpc>
                        <a:spcBef>
                          <a:spcPts val="0"/>
                        </a:spcBef>
                        <a:spcAft>
                          <a:spcPts val="0"/>
                        </a:spcAft>
                        <a:buClrTx/>
                        <a:buSzTx/>
                        <a:buFontTx/>
                        <a:buNone/>
                        <a:tabLst/>
                        <a:defRPr/>
                      </a:pPr>
                      <a:r>
                        <a:rPr lang="en-US" sz="2400" dirty="0">
                          <a:solidFill>
                            <a:srgbClr val="D9D9D9"/>
                          </a:solidFill>
                          <a:latin typeface="Arial" panose="020B0604020202020204" pitchFamily="34" charset="0"/>
                          <a:cs typeface="Arial" panose="020B0604020202020204" pitchFamily="34" charset="0"/>
                        </a:rPr>
                        <a:t>You can see a tutorial here: </a:t>
                      </a:r>
                      <a:r>
                        <a:rPr lang="en-US" sz="2400" u="sng" dirty="0">
                          <a:solidFill>
                            <a:srgbClr val="FFC000"/>
                          </a:solidFill>
                          <a:latin typeface="Arial" panose="020B0604020202020204" pitchFamily="34" charset="0"/>
                          <a:cs typeface="Arial" panose="020B0604020202020204" pitchFamily="34" charset="0"/>
                        </a:rPr>
                        <a:t>https://</a:t>
                      </a:r>
                      <a:r>
                        <a:rPr lang="en-US" sz="2400" u="sng" dirty="0" err="1">
                          <a:solidFill>
                            <a:srgbClr val="FFC000"/>
                          </a:solidFill>
                          <a:latin typeface="Arial" panose="020B0604020202020204" pitchFamily="34" charset="0"/>
                          <a:cs typeface="Arial" panose="020B0604020202020204" pitchFamily="34" charset="0"/>
                        </a:rPr>
                        <a:t>www.posterpresentations.com</a:t>
                      </a:r>
                      <a:r>
                        <a:rPr lang="en-US" sz="2400" u="sng" dirty="0">
                          <a:solidFill>
                            <a:srgbClr val="FFC000"/>
                          </a:solidFill>
                          <a:latin typeface="Arial" panose="020B0604020202020204" pitchFamily="34" charset="0"/>
                          <a:cs typeface="Arial" panose="020B0604020202020204" pitchFamily="34" charset="0"/>
                        </a:rPr>
                        <a:t>/how-to-change-the-column-</a:t>
                      </a:r>
                      <a:r>
                        <a:rPr lang="en-US" sz="2400" u="sng" dirty="0" err="1">
                          <a:solidFill>
                            <a:srgbClr val="FFC000"/>
                          </a:solidFill>
                          <a:latin typeface="Arial" panose="020B0604020202020204" pitchFamily="34" charset="0"/>
                          <a:cs typeface="Arial" panose="020B0604020202020204" pitchFamily="34" charset="0"/>
                        </a:rPr>
                        <a:t>configuration.html</a:t>
                      </a:r>
                      <a:endParaRPr lang="en-US" sz="5400" u="sng" dirty="0">
                        <a:solidFill>
                          <a:srgbClr val="FFC000"/>
                        </a:solidFill>
                      </a:endParaRPr>
                    </a:p>
                  </a:txBody>
                  <a:tcPr marL="182880" marT="137160">
                    <a:solidFill>
                      <a:schemeClr val="tx1"/>
                    </a:solidFill>
                  </a:tcPr>
                </a:tc>
                <a:tc hMerge="1">
                  <a:txBody>
                    <a:bodyPr/>
                    <a:lstStyle/>
                    <a:p>
                      <a:endParaRPr lang="en-US"/>
                    </a:p>
                  </a:txBody>
                  <a:tcPr/>
                </a:tc>
                <a:tc hMerge="1">
                  <a:txBody>
                    <a:bodyPr/>
                    <a:lstStyle/>
                    <a:p>
                      <a:endParaRPr lang="en-US" dirty="0"/>
                    </a:p>
                  </a:txBody>
                  <a:tcPr marL="182880" marT="137160">
                    <a:solidFill>
                      <a:srgbClr val="010101"/>
                    </a:solidFill>
                  </a:tcPr>
                </a:tc>
                <a:extLst>
                  <a:ext uri="{0D108BD9-81ED-4DB2-BD59-A6C34878D82A}">
                    <a16:rowId xmlns:a16="http://schemas.microsoft.com/office/drawing/2014/main" val="10004"/>
                  </a:ext>
                </a:extLst>
              </a:tr>
              <a:tr h="2023905">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blipFill dpi="0" rotWithShape="1">
                      <a:blip r:embed="rId8">
                        <a:extLst>
                          <a:ext uri="{28A0092B-C50C-407E-A947-70E740481C1C}">
                            <a14:useLocalDpi xmlns:a14="http://schemas.microsoft.com/office/drawing/2010/main" val="0"/>
                          </a:ext>
                        </a:extLst>
                      </a:blip>
                      <a:srcRect/>
                      <a:stretch>
                        <a:fillRect/>
                      </a:stretch>
                    </a:blipFill>
                  </a:tcPr>
                </a:tc>
                <a:tc rowSpan="2"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panose="020B0604020202020204" pitchFamily="34" charset="0"/>
                          <a:cs typeface="Arial" panose="020B0604020202020204" pitchFamily="34" charset="0"/>
                        </a:rPr>
                        <a:t>The Quick Start</a:t>
                      </a:r>
                      <a:r>
                        <a:rPr lang="en-US" sz="2400" baseline="0" noProof="0" dirty="0">
                          <a:solidFill>
                            <a:srgbClr val="D9D9D9"/>
                          </a:solidFill>
                          <a:latin typeface="Arial" panose="020B0604020202020204" pitchFamily="34" charset="0"/>
                          <a:cs typeface="Arial" panose="020B0604020202020204" pitchFamily="34" charset="0"/>
                        </a:rPr>
                        <a:t> Guides</a:t>
                      </a:r>
                      <a:r>
                        <a:rPr lang="en-US" sz="2400" noProof="0" dirty="0">
                          <a:solidFill>
                            <a:srgbClr val="D9D9D9"/>
                          </a:solidFill>
                          <a:latin typeface="Arial" panose="020B0604020202020204" pitchFamily="34" charset="0"/>
                          <a:cs typeface="Arial" panose="020B0604020202020204" pitchFamily="34" charset="0"/>
                        </a:rPr>
                        <a:t> </a:t>
                      </a:r>
                      <a:r>
                        <a:rPr lang="en-US" sz="2400" u="sng" noProof="0" dirty="0">
                          <a:solidFill>
                            <a:srgbClr val="D9D9D9"/>
                          </a:solidFill>
                          <a:latin typeface="Arial" panose="020B0604020202020204" pitchFamily="34" charset="0"/>
                          <a:cs typeface="Arial" panose="020B0604020202020204" pitchFamily="34" charset="0"/>
                        </a:rPr>
                        <a:t>are outside the template’s printable area</a:t>
                      </a:r>
                      <a:r>
                        <a:rPr lang="en-US" sz="2400" noProof="0" dirty="0">
                          <a:solidFill>
                            <a:srgbClr val="D9D9D9"/>
                          </a:solidFill>
                          <a:latin typeface="Arial" panose="020B0604020202020204" pitchFamily="34" charset="0"/>
                          <a:cs typeface="Arial" panose="020B0604020202020204" pitchFamily="34" charset="0"/>
                        </a:rPr>
                        <a:t> and they will not be on the printed poster</a:t>
                      </a:r>
                      <a:r>
                        <a:rPr lang="en-US" sz="2400" baseline="0" noProof="0" dirty="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To hide the guides click on the </a:t>
                      </a:r>
                      <a:r>
                        <a:rPr lang="en-US" sz="2400" b="1" baseline="0" noProof="0" dirty="0">
                          <a:solidFill>
                            <a:srgbClr val="D9D9D9"/>
                          </a:solidFill>
                          <a:latin typeface="Arial" panose="020B0604020202020204" pitchFamily="34" charset="0"/>
                          <a:cs typeface="Arial" panose="020B0604020202020204" pitchFamily="34" charset="0"/>
                        </a:rPr>
                        <a:t>Home</a:t>
                      </a:r>
                      <a:r>
                        <a:rPr lang="en-US" sz="2400" baseline="0" noProof="0" dirty="0">
                          <a:solidFill>
                            <a:srgbClr val="D9D9D9"/>
                          </a:solidFill>
                          <a:latin typeface="Arial" panose="020B0604020202020204" pitchFamily="34" charset="0"/>
                          <a:cs typeface="Arial" panose="020B0604020202020204" pitchFamily="34" charset="0"/>
                        </a:rPr>
                        <a:t> tab (top of the screen) and then click on the </a:t>
                      </a:r>
                      <a:r>
                        <a:rPr lang="en-US" sz="2400" b="1"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 button below to see the available layouts. Choose the </a:t>
                      </a:r>
                      <a:r>
                        <a:rPr lang="en-US" sz="2400" b="1" baseline="0" noProof="0" dirty="0">
                          <a:solidFill>
                            <a:srgbClr val="D9D9D9"/>
                          </a:solidFill>
                          <a:latin typeface="Arial" panose="020B0604020202020204" pitchFamily="34" charset="0"/>
                          <a:cs typeface="Arial" panose="020B0604020202020204" pitchFamily="34" charset="0"/>
                        </a:rPr>
                        <a:t>Without Guides </a:t>
                      </a:r>
                      <a:r>
                        <a:rPr lang="en-US" sz="2400" b="0"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a:t>
                      </a: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rowSpan="2"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3200" b="1" noProof="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noProof="0">
                          <a:solidFill>
                            <a:srgbClr val="D9D9D9"/>
                          </a:solidFill>
                          <a:latin typeface="Arial" panose="020B0604020202020204" pitchFamily="34" charset="0"/>
                          <a:cs typeface="Arial" panose="020B0604020202020204" pitchFamily="34" charset="0"/>
                        </a:rPr>
                        <a:t>The Quick Start</a:t>
                      </a:r>
                      <a:r>
                        <a:rPr lang="en-US" sz="2800" baseline="0" noProof="0">
                          <a:solidFill>
                            <a:srgbClr val="D9D9D9"/>
                          </a:solidFill>
                          <a:latin typeface="Arial" panose="020B0604020202020204" pitchFamily="34" charset="0"/>
                          <a:cs typeface="Arial" panose="020B0604020202020204" pitchFamily="34" charset="0"/>
                        </a:rPr>
                        <a:t> Guides</a:t>
                      </a:r>
                      <a:r>
                        <a:rPr lang="en-US" sz="2800" noProof="0">
                          <a:solidFill>
                            <a:srgbClr val="D9D9D9"/>
                          </a:solidFill>
                          <a:latin typeface="Arial" panose="020B0604020202020204" pitchFamily="34" charset="0"/>
                          <a:cs typeface="Arial" panose="020B0604020202020204" pitchFamily="34" charset="0"/>
                        </a:rPr>
                        <a:t> </a:t>
                      </a:r>
                      <a:r>
                        <a:rPr lang="en-US" sz="2800" u="sng" noProof="0">
                          <a:solidFill>
                            <a:srgbClr val="D9D9D9"/>
                          </a:solidFill>
                          <a:latin typeface="Arial" panose="020B0604020202020204" pitchFamily="34" charset="0"/>
                          <a:cs typeface="Arial" panose="020B0604020202020204" pitchFamily="34" charset="0"/>
                        </a:rPr>
                        <a:t>are outside the template’s printable area</a:t>
                      </a:r>
                      <a:r>
                        <a:rPr lang="en-US" sz="2800" noProof="0">
                          <a:solidFill>
                            <a:srgbClr val="D9D9D9"/>
                          </a:solidFill>
                          <a:latin typeface="Arial" panose="020B0604020202020204" pitchFamily="34" charset="0"/>
                          <a:cs typeface="Arial" panose="020B0604020202020204" pitchFamily="34" charset="0"/>
                        </a:rPr>
                        <a:t> and they will not be on the printed poster</a:t>
                      </a:r>
                      <a:r>
                        <a:rPr lang="en-US" sz="2800" baseline="0" noProof="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To hide the guides click on the </a:t>
                      </a:r>
                      <a:r>
                        <a:rPr lang="en-US" sz="2800" b="1" baseline="0" noProof="0">
                          <a:solidFill>
                            <a:srgbClr val="D9D9D9"/>
                          </a:solidFill>
                          <a:latin typeface="Arial" panose="020B0604020202020204" pitchFamily="34" charset="0"/>
                          <a:cs typeface="Arial" panose="020B0604020202020204" pitchFamily="34" charset="0"/>
                        </a:rPr>
                        <a:t>Home</a:t>
                      </a:r>
                      <a:r>
                        <a:rPr lang="en-US" sz="2800" baseline="0" noProof="0">
                          <a:solidFill>
                            <a:srgbClr val="D9D9D9"/>
                          </a:solidFill>
                          <a:latin typeface="Arial" panose="020B0604020202020204" pitchFamily="34" charset="0"/>
                          <a:cs typeface="Arial" panose="020B0604020202020204" pitchFamily="34" charset="0"/>
                        </a:rPr>
                        <a:t> tab (top of the screen) and then click on the </a:t>
                      </a:r>
                      <a:r>
                        <a:rPr lang="en-US" sz="2800" b="1"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 button below to see the available layouts. Choose the </a:t>
                      </a:r>
                      <a:r>
                        <a:rPr lang="en-US" sz="2800" b="1" baseline="0" noProof="0">
                          <a:solidFill>
                            <a:srgbClr val="D9D9D9"/>
                          </a:solidFill>
                          <a:latin typeface="Arial" panose="020B0604020202020204" pitchFamily="34" charset="0"/>
                          <a:cs typeface="Arial" panose="020B0604020202020204" pitchFamily="34" charset="0"/>
                        </a:rPr>
                        <a:t>Without Guides </a:t>
                      </a:r>
                      <a:r>
                        <a:rPr lang="en-US" sz="2800" b="0"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a:t>
                      </a: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5"/>
                  </a:ext>
                </a:extLst>
              </a:tr>
              <a:tr h="6567070">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gridSpan="2" v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hMerge="1" vMerge="1">
                  <a:txBody>
                    <a:bodyPr/>
                    <a:lstStyle/>
                    <a:p>
                      <a:endParaRPr lang="en-US"/>
                    </a:p>
                  </a:txBody>
                  <a:tcPr/>
                </a:tc>
                <a:extLst>
                  <a:ext uri="{0D108BD9-81ED-4DB2-BD59-A6C34878D82A}">
                    <a16:rowId xmlns:a16="http://schemas.microsoft.com/office/drawing/2014/main" val="1766341567"/>
                  </a:ext>
                </a:extLst>
              </a:tr>
              <a:tr h="5578616">
                <a:tc>
                  <a:txBody>
                    <a:bodyPr/>
                    <a:lstStyle/>
                    <a:p>
                      <a:pPr rtl="0"/>
                      <a:r>
                        <a:rPr lang="en-US" sz="2800" b="1" dirty="0">
                          <a:solidFill>
                            <a:srgbClr val="FFC000"/>
                          </a:solidFill>
                          <a:latin typeface="Arial" panose="020B0604020202020204" pitchFamily="34" charset="0"/>
                          <a:cs typeface="Arial" panose="020B0604020202020204" pitchFamily="34" charset="0"/>
                        </a:rPr>
                        <a:t>How to</a:t>
                      </a:r>
                      <a:r>
                        <a:rPr lang="en-US" sz="2800" b="1" baseline="0" dirty="0">
                          <a:solidFill>
                            <a:srgbClr val="FFC000"/>
                          </a:solidFill>
                          <a:latin typeface="Arial" panose="020B0604020202020204" pitchFamily="34" charset="0"/>
                          <a:cs typeface="Arial" panose="020B0604020202020204" pitchFamily="34" charset="0"/>
                        </a:rPr>
                        <a:t> preview your poster prior to printing</a:t>
                      </a:r>
                      <a:endParaRPr lang="en-US" sz="2800" b="1" dirty="0">
                        <a:solidFill>
                          <a:srgbClr val="FFC000"/>
                        </a:solidFill>
                        <a:latin typeface="Arial" panose="020B0604020202020204" pitchFamily="34" charset="0"/>
                        <a:cs typeface="Arial" panose="020B0604020202020204" pitchFamily="34" charset="0"/>
                      </a:endParaRPr>
                    </a:p>
                    <a:p>
                      <a:pPr rtl="0"/>
                      <a:r>
                        <a:rPr lang="en-US" sz="2400" dirty="0">
                          <a:solidFill>
                            <a:srgbClr val="D9D9D9"/>
                          </a:solidFill>
                          <a:latin typeface="Arial" panose="020B0604020202020204" pitchFamily="34" charset="0"/>
                          <a:cs typeface="Arial" panose="020B0604020202020204" pitchFamily="34" charset="0"/>
                        </a:rPr>
                        <a:t>You can preview your poster at any time by pressing the </a:t>
                      </a:r>
                      <a:r>
                        <a:rPr lang="en-US" sz="2400" dirty="0">
                          <a:solidFill>
                            <a:srgbClr val="FFC000"/>
                          </a:solidFill>
                          <a:latin typeface="Arial" panose="020B0604020202020204" pitchFamily="34" charset="0"/>
                          <a:cs typeface="Arial" panose="020B0604020202020204" pitchFamily="34" charset="0"/>
                        </a:rPr>
                        <a:t>F5 key</a:t>
                      </a:r>
                      <a:r>
                        <a:rPr lang="en-US" sz="2400" dirty="0">
                          <a:solidFill>
                            <a:srgbClr val="D9D9D9"/>
                          </a:solidFill>
                          <a:latin typeface="Arial" panose="020B0604020202020204" pitchFamily="34" charset="0"/>
                          <a:cs typeface="Arial" panose="020B0604020202020204" pitchFamily="34" charset="0"/>
                        </a:rPr>
                        <a:t> on your keyboard. You will see on the screen what's on your poster and how it should look when printed. Press the </a:t>
                      </a:r>
                      <a:r>
                        <a:rPr lang="en-US" sz="2400" dirty="0">
                          <a:solidFill>
                            <a:srgbClr val="FFC000"/>
                          </a:solidFill>
                          <a:latin typeface="Arial" panose="020B0604020202020204" pitchFamily="34" charset="0"/>
                          <a:cs typeface="Arial" panose="020B0604020202020204" pitchFamily="34" charset="0"/>
                        </a:rPr>
                        <a:t>ESC key </a:t>
                      </a:r>
                      <a:r>
                        <a:rPr lang="en-US" sz="2400" dirty="0">
                          <a:solidFill>
                            <a:srgbClr val="D9D9D9"/>
                          </a:solidFill>
                          <a:latin typeface="Arial" panose="020B0604020202020204" pitchFamily="34" charset="0"/>
                          <a:cs typeface="Arial" panose="020B0604020202020204" pitchFamily="34" charset="0"/>
                        </a:rPr>
                        <a:t>to exit Preview.</a:t>
                      </a:r>
                    </a:p>
                  </a:txBody>
                  <a:tcPr marL="182880" marT="137160">
                    <a:solidFill>
                      <a:srgbClr val="010101"/>
                    </a:solidFill>
                  </a:tcPr>
                </a:tc>
                <a:tc gridSpan="2">
                  <a:txBody>
                    <a:bodyPr/>
                    <a:lstStyle/>
                    <a:p>
                      <a:pPr rtl="0"/>
                      <a:r>
                        <a:rPr lang="en-US" sz="11500" b="1" dirty="0">
                          <a:solidFill>
                            <a:srgbClr val="D9D9D9"/>
                          </a:solidFill>
                          <a:latin typeface="Arial" panose="020B0604020202020204" pitchFamily="34" charset="0"/>
                          <a:cs typeface="Arial" panose="020B0604020202020204" pitchFamily="34" charset="0"/>
                        </a:rPr>
                        <a:t>F5</a:t>
                      </a:r>
                      <a:r>
                        <a:rPr lang="en-US" sz="2400" baseline="0" dirty="0">
                          <a:solidFill>
                            <a:srgbClr val="D9D9D9"/>
                          </a:solidFill>
                          <a:latin typeface="Arial" panose="020B0604020202020204" pitchFamily="34" charset="0"/>
                          <a:cs typeface="Arial" panose="020B0604020202020204" pitchFamily="34" charset="0"/>
                        </a:rPr>
                        <a:t> </a:t>
                      </a:r>
                      <a:endParaRPr lang="en-US" sz="2400" dirty="0">
                        <a:solidFill>
                          <a:srgbClr val="D9D9D9"/>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tc hMerge="1">
                  <a:txBody>
                    <a:bodyPr/>
                    <a:lstStyle/>
                    <a:p>
                      <a:pPr algn="ctr"/>
                      <a:r>
                        <a:rPr lang="en-US" sz="13800" b="1" dirty="0">
                          <a:solidFill>
                            <a:srgbClr val="D9D9D9"/>
                          </a:solidFill>
                          <a:latin typeface="Arial" panose="020B0604020202020204" pitchFamily="34" charset="0"/>
                          <a:cs typeface="Arial" panose="020B0604020202020204" pitchFamily="34" charset="0"/>
                        </a:rPr>
                        <a:t>F5</a:t>
                      </a:r>
                      <a:r>
                        <a:rPr lang="en-US" sz="2800" baseline="0" dirty="0">
                          <a:solidFill>
                            <a:srgbClr val="D9D9D9"/>
                          </a:solidFill>
                          <a:latin typeface="Arial" panose="020B0604020202020204" pitchFamily="34" charset="0"/>
                          <a:cs typeface="Arial" panose="020B0604020202020204" pitchFamily="34" charset="0"/>
                        </a:rPr>
                        <a:t> </a:t>
                      </a:r>
                      <a:endParaRPr lang="en-US" sz="6000" dirty="0"/>
                    </a:p>
                  </a:txBody>
                  <a:tcPr marL="182880" marT="137160" anchor="ctr">
                    <a:solidFill>
                      <a:schemeClr val="tx1">
                        <a:lumMod val="95000"/>
                        <a:lumOff val="5000"/>
                      </a:schemeClr>
                    </a:solidFill>
                  </a:tcPr>
                </a:tc>
                <a:extLst>
                  <a:ext uri="{0D108BD9-81ED-4DB2-BD59-A6C34878D82A}">
                    <a16:rowId xmlns:a16="http://schemas.microsoft.com/office/drawing/2014/main" val="10006"/>
                  </a:ext>
                </a:extLst>
              </a:tr>
              <a:tr h="6401119">
                <a:tc gridSpan="3">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How to 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When you are ready to have your poster printed go online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and click on the "</a:t>
                      </a:r>
                      <a:r>
                        <a:rPr lang="en-US" sz="2400" noProof="0" dirty="0">
                          <a:solidFill>
                            <a:srgbClr val="FFC000"/>
                          </a:solidFill>
                          <a:latin typeface="Arial"/>
                          <a:cs typeface="Arial"/>
                        </a:rPr>
                        <a:t>Order Your Poster</a:t>
                      </a:r>
                      <a:r>
                        <a:rPr lang="en-US" sz="2400" noProof="0" dirty="0">
                          <a:solidFill>
                            <a:srgbClr val="D9D9D9"/>
                          </a:solidFill>
                          <a:latin typeface="Arial"/>
                          <a:cs typeface="Arial"/>
                        </a:rPr>
                        <a:t>" button. You can have your poster printed on professional papers, fabric for easy traveling and a variety of other materials. </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If you submit a PowerPoint document, you will be receiving a PDF proof for your approval prior to printing. If your order is placed and paid for before noon (Pacific time) Monday-Friday, your order will ship out that same day. FedEx Next day, Second day, Third day, and Free Ground services are offered. </a:t>
                      </a:r>
                    </a:p>
                    <a:p>
                      <a:pPr marL="0" marR="0" lvl="0" indent="0" algn="l" defTabSz="114300" rtl="0" eaLnBrk="1" fontAlgn="auto" latinLnBrk="0" hangingPunct="1">
                        <a:lnSpc>
                          <a:spcPct val="100000"/>
                        </a:lnSpc>
                        <a:spcBef>
                          <a:spcPts val="0"/>
                        </a:spcBef>
                        <a:spcAft>
                          <a:spcPts val="0"/>
                        </a:spcAft>
                        <a:buClrTx/>
                        <a:buSzTx/>
                        <a:buFontTx/>
                        <a:buNone/>
                        <a:tabLst/>
                        <a:defRPr/>
                      </a:pPr>
                      <a:br>
                        <a:rPr lang="en-US" sz="2400" noProof="0" dirty="0">
                          <a:solidFill>
                            <a:srgbClr val="D9D9D9"/>
                          </a:solidFill>
                          <a:latin typeface="Arial"/>
                          <a:cs typeface="Arial"/>
                        </a:rPr>
                      </a:br>
                      <a:r>
                        <a:rPr lang="en-US" sz="2400" noProof="0" dirty="0">
                          <a:solidFill>
                            <a:srgbClr val="D9D9D9"/>
                          </a:solidFill>
                          <a:latin typeface="Arial"/>
                          <a:cs typeface="Arial"/>
                        </a:rPr>
                        <a:t>Go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for more information.</a:t>
                      </a:r>
                    </a:p>
                  </a:txBody>
                  <a:tcPr marL="182880" marT="137160">
                    <a:solidFill>
                      <a:srgbClr val="01010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7"/>
                  </a:ext>
                </a:extLst>
              </a:tr>
              <a:tr h="1262579">
                <a:tc gridSpan="3">
                  <a:txBody>
                    <a:bodyPr/>
                    <a:lstStyle/>
                    <a:p>
                      <a:endParaRPr lang="en-US" sz="2400" dirty="0">
                        <a:solidFill>
                          <a:srgbClr val="1F3A4E"/>
                        </a:solidFill>
                      </a:endParaRPr>
                    </a:p>
                  </a:txBody>
                  <a:tcPr marL="182880" marT="137160">
                    <a:blipFill dpi="0" rotWithShape="1">
                      <a:blip r:embed="rId9">
                        <a:extLst>
                          <a:ext uri="{28A0092B-C50C-407E-A947-70E740481C1C}">
                            <a14:useLocalDpi xmlns:a14="http://schemas.microsoft.com/office/drawing/2010/main" val="0"/>
                          </a:ext>
                        </a:extLst>
                      </a:blip>
                      <a:srcRect/>
                      <a:stretch>
                        <a:fillRect/>
                      </a:stretch>
                    </a:blip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8"/>
                  </a:ext>
                </a:extLst>
              </a:tr>
              <a:tr h="1716228">
                <a:tc gridSpan="2">
                  <a:txBody>
                    <a:bodyPr/>
                    <a:lstStyle/>
                    <a:p>
                      <a:pPr>
                        <a:lnSpc>
                          <a:spcPts val="2600"/>
                        </a:lnSpc>
                      </a:pPr>
                      <a:r>
                        <a:rPr lang="en-US" sz="2000" dirty="0">
                          <a:solidFill>
                            <a:schemeClr val="bg1">
                              <a:lumMod val="85000"/>
                            </a:schemeClr>
                          </a:solidFill>
                          <a:latin typeface="Arial"/>
                          <a:cs typeface="Arial"/>
                        </a:rPr>
                        <a:t>© 2019</a:t>
                      </a:r>
                      <a:r>
                        <a:rPr lang="en-US" sz="2000" baseline="0" dirty="0">
                          <a:solidFill>
                            <a:schemeClr val="bg1">
                              <a:lumMod val="85000"/>
                            </a:schemeClr>
                          </a:solidFill>
                          <a:latin typeface="Arial"/>
                          <a:cs typeface="Arial"/>
                        </a:rPr>
                        <a:t> </a:t>
                      </a:r>
                      <a:r>
                        <a:rPr lang="en-US" sz="2000" dirty="0" err="1">
                          <a:solidFill>
                            <a:schemeClr val="bg1">
                              <a:lumMod val="85000"/>
                            </a:schemeClr>
                          </a:solidFill>
                          <a:latin typeface="Arial"/>
                          <a:cs typeface="Arial"/>
                        </a:rPr>
                        <a:t>PosterPresentations.com</a:t>
                      </a:r>
                      <a:br>
                        <a:rPr lang="en-US" sz="2000" dirty="0">
                          <a:solidFill>
                            <a:schemeClr val="bg1">
                              <a:lumMod val="85000"/>
                            </a:schemeClr>
                          </a:solidFill>
                          <a:latin typeface="Arial"/>
                          <a:cs typeface="Arial"/>
                        </a:rPr>
                      </a:br>
                      <a:r>
                        <a:rPr lang="en-US" sz="2000" dirty="0">
                          <a:solidFill>
                            <a:schemeClr val="bg1">
                              <a:lumMod val="85000"/>
                            </a:schemeClr>
                          </a:solidFill>
                          <a:latin typeface="Arial"/>
                          <a:cs typeface="Arial"/>
                        </a:rPr>
                        <a:t>2117 Fourth Street ,</a:t>
                      </a:r>
                      <a:r>
                        <a:rPr lang="en-US" sz="2000" baseline="0" dirty="0">
                          <a:solidFill>
                            <a:schemeClr val="bg1">
                              <a:lumMod val="85000"/>
                            </a:schemeClr>
                          </a:solidFill>
                          <a:latin typeface="Arial"/>
                          <a:cs typeface="Arial"/>
                        </a:rPr>
                        <a:t> STE C        </a:t>
                      </a:r>
                    </a:p>
                    <a:p>
                      <a:pPr>
                        <a:lnSpc>
                          <a:spcPts val="2600"/>
                        </a:lnSpc>
                      </a:pPr>
                      <a:r>
                        <a:rPr lang="en-US" sz="2000" baseline="0" dirty="0">
                          <a:solidFill>
                            <a:schemeClr val="bg1">
                              <a:lumMod val="85000"/>
                            </a:schemeClr>
                          </a:solidFill>
                          <a:latin typeface="Arial"/>
                          <a:cs typeface="Arial"/>
                        </a:rPr>
                        <a:t>Berkeley CA 94710 USA</a:t>
                      </a:r>
                      <a:endParaRPr lang="en-US" sz="2000" dirty="0">
                        <a:solidFill>
                          <a:schemeClr val="bg1">
                            <a:lumMod val="85000"/>
                          </a:schemeClr>
                        </a:solidFill>
                        <a:latin typeface="Arial"/>
                        <a:cs typeface="Arial"/>
                      </a:endParaRPr>
                    </a:p>
                  </a:txBody>
                  <a:tcPr marL="182880" marT="137160">
                    <a:solidFill>
                      <a:srgbClr val="010101"/>
                    </a:solidFill>
                  </a:tcPr>
                </a:tc>
                <a:tc hMerge="1">
                  <a:txBody>
                    <a:bodyPr/>
                    <a:lstStyle/>
                    <a:p>
                      <a:pPr>
                        <a:lnSpc>
                          <a:spcPts val="2600"/>
                        </a:lnSpc>
                      </a:pPr>
                      <a:endParaRPr lang="en-US" sz="2400" dirty="0">
                        <a:solidFill>
                          <a:schemeClr val="bg1">
                            <a:lumMod val="85000"/>
                          </a:schemeClr>
                        </a:solidFill>
                        <a:latin typeface="Arial"/>
                        <a:cs typeface="Arial"/>
                      </a:endParaRPr>
                    </a:p>
                  </a:txBody>
                  <a:tcPr marL="182880" marT="137160">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400" b="1" dirty="0">
                          <a:solidFill>
                            <a:srgbClr val="D0D0D0"/>
                          </a:solidFill>
                          <a:latin typeface="Arial"/>
                          <a:cs typeface="Arial"/>
                        </a:rPr>
                        <a:t>For complete tutorials</a:t>
                      </a:r>
                      <a:r>
                        <a:rPr lang="en-US" sz="2400" b="1" baseline="0" dirty="0">
                          <a:solidFill>
                            <a:srgbClr val="D0D0D0"/>
                          </a:solidFill>
                          <a:latin typeface="Arial"/>
                          <a:cs typeface="Arial"/>
                        </a:rPr>
                        <a:t> visit:</a:t>
                      </a:r>
                    </a:p>
                    <a:p>
                      <a:pPr marL="0" marR="0" indent="0" algn="l" defTabSz="4388900" rtl="0" eaLnBrk="1" fontAlgn="auto" latinLnBrk="0" hangingPunct="1">
                        <a:lnSpc>
                          <a:spcPct val="100000"/>
                        </a:lnSpc>
                        <a:spcBef>
                          <a:spcPts val="0"/>
                        </a:spcBef>
                        <a:spcAft>
                          <a:spcPts val="0"/>
                        </a:spcAft>
                        <a:buClrTx/>
                        <a:buSzTx/>
                        <a:buFontTx/>
                        <a:buNone/>
                        <a:tabLst/>
                        <a:defRPr/>
                      </a:pPr>
                      <a:r>
                        <a:rPr lang="en-US" sz="1800" b="1" dirty="0">
                          <a:solidFill>
                            <a:srgbClr val="FFC000"/>
                          </a:solidFill>
                          <a:latin typeface="Arial"/>
                          <a:cs typeface="Arial"/>
                        </a:rPr>
                        <a:t>https://</a:t>
                      </a:r>
                      <a:r>
                        <a:rPr lang="en-US" sz="1800" b="1" dirty="0" err="1">
                          <a:solidFill>
                            <a:srgbClr val="FFC000"/>
                          </a:solidFill>
                          <a:latin typeface="Arial"/>
                          <a:cs typeface="Arial"/>
                        </a:rPr>
                        <a:t>www.posterpresentations.com</a:t>
                      </a:r>
                      <a:r>
                        <a:rPr lang="en-US" sz="1800" b="1" dirty="0">
                          <a:solidFill>
                            <a:srgbClr val="FFC000"/>
                          </a:solidFill>
                          <a:latin typeface="Arial"/>
                          <a:cs typeface="Arial"/>
                        </a:rPr>
                        <a:t>/</a:t>
                      </a:r>
                      <a:r>
                        <a:rPr lang="en-US" sz="1800" b="1" dirty="0" err="1">
                          <a:solidFill>
                            <a:srgbClr val="FFC000"/>
                          </a:solidFill>
                          <a:latin typeface="Arial"/>
                          <a:cs typeface="Arial"/>
                        </a:rPr>
                        <a:t>helpdesk.html</a:t>
                      </a:r>
                      <a:endParaRPr lang="en-US" sz="13800" dirty="0"/>
                    </a:p>
                  </a:txBody>
                  <a:tcPr marL="182880" marT="137160">
                    <a:solidFill>
                      <a:srgbClr val="010101"/>
                    </a:solidFill>
                  </a:tcPr>
                </a:tc>
                <a:extLst>
                  <a:ext uri="{0D108BD9-81ED-4DB2-BD59-A6C34878D82A}">
                    <a16:rowId xmlns:a16="http://schemas.microsoft.com/office/drawing/2014/main" val="10009"/>
                  </a:ext>
                </a:extLst>
              </a:tr>
            </a:tbl>
          </a:graphicData>
        </a:graphic>
      </p:graphicFrame>
    </p:spTree>
  </p:cSld>
  <p:clrMap bg1="lt1" tx1="dk1" bg2="lt2" tx2="dk2" accent1="accent1" accent2="accent2" accent3="accent3" accent4="accent4" accent5="accent5" accent6="accent6" hlink="hlink" folHlink="folHlink"/>
  <p:sldLayoutIdLst>
    <p:sldLayoutId id="2147483659" r:id="rId1"/>
  </p:sldLayoutIdLst>
  <p:txStyles>
    <p:titleStyle>
      <a:lvl1pPr algn="ctr" defTabSz="3599776" rtl="0" eaLnBrk="1" latinLnBrk="0" hangingPunct="1">
        <a:spcBef>
          <a:spcPct val="0"/>
        </a:spcBef>
        <a:buNone/>
        <a:defRPr sz="7200" kern="1200">
          <a:solidFill>
            <a:schemeClr val="bg1"/>
          </a:solidFill>
          <a:latin typeface="Trebuchet MS" pitchFamily="34" charset="0"/>
          <a:ea typeface="+mj-ea"/>
          <a:cs typeface="+mj-cs"/>
        </a:defRPr>
      </a:lvl1pPr>
    </p:titleStyle>
    <p:bodyStyle>
      <a:lvl1pPr marL="1349916" indent="-1349916" algn="l" defTabSz="3599776" rtl="0" eaLnBrk="1" latinLnBrk="0" hangingPunct="1">
        <a:spcBef>
          <a:spcPct val="20000"/>
        </a:spcBef>
        <a:buFont typeface="Arial" pitchFamily="34" charset="0"/>
        <a:buChar char="•"/>
        <a:defRPr sz="12600" kern="1200">
          <a:solidFill>
            <a:schemeClr val="tx1"/>
          </a:solidFill>
          <a:latin typeface="+mn-lt"/>
          <a:ea typeface="+mn-ea"/>
          <a:cs typeface="+mn-cs"/>
        </a:defRPr>
      </a:lvl1pPr>
      <a:lvl2pPr marL="2924818" indent="-1124930" algn="l" defTabSz="3599776" rtl="0" eaLnBrk="1" latinLnBrk="0" hangingPunct="1">
        <a:spcBef>
          <a:spcPct val="20000"/>
        </a:spcBef>
        <a:buFont typeface="Arial" pitchFamily="34" charset="0"/>
        <a:buChar char="–"/>
        <a:defRPr sz="11100" kern="1200">
          <a:solidFill>
            <a:schemeClr val="tx1"/>
          </a:solidFill>
          <a:latin typeface="+mn-lt"/>
          <a:ea typeface="+mn-ea"/>
          <a:cs typeface="+mn-cs"/>
        </a:defRPr>
      </a:lvl2pPr>
      <a:lvl3pPr marL="4499721" indent="-899945" algn="l" defTabSz="3599776" rtl="0" eaLnBrk="1" latinLnBrk="0" hangingPunct="1">
        <a:spcBef>
          <a:spcPct val="20000"/>
        </a:spcBef>
        <a:buFont typeface="Arial" pitchFamily="34" charset="0"/>
        <a:buChar char="•"/>
        <a:defRPr sz="9500" kern="1200">
          <a:solidFill>
            <a:schemeClr val="tx1"/>
          </a:solidFill>
          <a:latin typeface="+mn-lt"/>
          <a:ea typeface="+mn-ea"/>
          <a:cs typeface="+mn-cs"/>
        </a:defRPr>
      </a:lvl3pPr>
      <a:lvl4pPr marL="629960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4pPr>
      <a:lvl5pPr marL="8099496"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5pPr>
      <a:lvl6pPr marL="9899385"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6pPr>
      <a:lvl7pPr marL="11699272"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7pPr>
      <a:lvl8pPr marL="13499161"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8pPr>
      <a:lvl9pPr marL="1529904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9pPr>
    </p:bodyStyle>
    <p:other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4F5351D2-4B9C-6B4B-AC02-8BA80ECA0317}"/>
              </a:ext>
            </a:extLst>
          </p:cNvPr>
          <p:cNvGrpSpPr/>
          <p:nvPr userDrawn="1"/>
        </p:nvGrpSpPr>
        <p:grpSpPr>
          <a:xfrm>
            <a:off x="-282256" y="-251209"/>
            <a:ext cx="25648282" cy="36391624"/>
            <a:chOff x="-282256" y="-251209"/>
            <a:chExt cx="25648282" cy="36391624"/>
          </a:xfrm>
        </p:grpSpPr>
        <p:sp>
          <p:nvSpPr>
            <p:cNvPr id="40" name="Freeform 39"/>
            <p:cNvSpPr/>
            <p:nvPr userDrawn="1"/>
          </p:nvSpPr>
          <p:spPr>
            <a:xfrm>
              <a:off x="-240584" y="-231258"/>
              <a:ext cx="25606610" cy="36371673"/>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79000">
                  <a:schemeClr val="accent1">
                    <a:lumMod val="40000"/>
                    <a:lumOff val="60000"/>
                  </a:schemeClr>
                </a:gs>
                <a:gs pos="13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Freeform 41"/>
            <p:cNvSpPr/>
            <p:nvPr userDrawn="1"/>
          </p:nvSpPr>
          <p:spPr>
            <a:xfrm flipH="1" flipV="1">
              <a:off x="-240585" y="-231258"/>
              <a:ext cx="25606609" cy="36352958"/>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41000">
                  <a:schemeClr val="bg2"/>
                </a:gs>
                <a:gs pos="100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Freeform 42"/>
            <p:cNvSpPr/>
            <p:nvPr userDrawn="1"/>
          </p:nvSpPr>
          <p:spPr>
            <a:xfrm>
              <a:off x="-282256" y="-251209"/>
              <a:ext cx="25648281" cy="36391624"/>
            </a:xfrm>
            <a:custGeom>
              <a:avLst/>
              <a:gdLst>
                <a:gd name="connsiteX0" fmla="*/ 36576 w 39026592"/>
                <a:gd name="connsiteY0" fmla="*/ 0 h 30614112"/>
                <a:gd name="connsiteX1" fmla="*/ 15837408 w 39026592"/>
                <a:gd name="connsiteY1" fmla="*/ 30614112 h 30614112"/>
                <a:gd name="connsiteX2" fmla="*/ 39026592 w 39026592"/>
                <a:gd name="connsiteY2" fmla="*/ 13350240 h 30614112"/>
                <a:gd name="connsiteX3" fmla="*/ 0 w 39026592"/>
                <a:gd name="connsiteY3" fmla="*/ 73152 h 30614112"/>
                <a:gd name="connsiteX4" fmla="*/ 109728 w 39026592"/>
                <a:gd name="connsiteY4" fmla="*/ 146304 h 30614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026592" h="30614112">
                  <a:moveTo>
                    <a:pt x="36576" y="0"/>
                  </a:moveTo>
                  <a:lnTo>
                    <a:pt x="15837408" y="30614112"/>
                  </a:lnTo>
                  <a:lnTo>
                    <a:pt x="39026592" y="13350240"/>
                  </a:lnTo>
                  <a:lnTo>
                    <a:pt x="0" y="73152"/>
                  </a:lnTo>
                  <a:lnTo>
                    <a:pt x="109728" y="146304"/>
                  </a:lnTo>
                </a:path>
              </a:pathLst>
            </a:custGeom>
            <a:gradFill flip="none" rotWithShape="1">
              <a:gsLst>
                <a:gs pos="0">
                  <a:schemeClr val="bg1"/>
                </a:gs>
                <a:gs pos="76000">
                  <a:schemeClr val="accent1">
                    <a:lumMod val="30000"/>
                    <a:lumOff val="70000"/>
                    <a:alpha val="0"/>
                  </a:schemeClr>
                </a:gs>
              </a:gsLst>
              <a:path path="rect">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627783235"/>
      </p:ext>
    </p:extLst>
  </p:cSld>
  <p:clrMap bg1="lt1" tx1="dk1" bg2="lt2" tx2="dk2" accent1="accent1" accent2="accent2" accent3="accent3" accent4="accent4" accent5="accent5" accent6="accent6" hlink="hlink" folHlink="folHlink"/>
  <p:sldLayoutIdLst>
    <p:sldLayoutId id="2147483661" r:id="rId1"/>
  </p:sldLayoutIdLst>
  <p:txStyles>
    <p:titleStyle>
      <a:lvl1pPr algn="ctr" defTabSz="3599776" rtl="0" eaLnBrk="1" latinLnBrk="0" hangingPunct="1">
        <a:spcBef>
          <a:spcPct val="0"/>
        </a:spcBef>
        <a:buNone/>
        <a:defRPr sz="7200" kern="1200">
          <a:solidFill>
            <a:schemeClr val="bg1"/>
          </a:solidFill>
          <a:latin typeface="Trebuchet MS" pitchFamily="34" charset="0"/>
          <a:ea typeface="+mj-ea"/>
          <a:cs typeface="+mj-cs"/>
        </a:defRPr>
      </a:lvl1pPr>
    </p:titleStyle>
    <p:bodyStyle>
      <a:lvl1pPr marL="1349916" indent="-1349916" algn="l" defTabSz="3599776" rtl="0" eaLnBrk="1" latinLnBrk="0" hangingPunct="1">
        <a:spcBef>
          <a:spcPct val="20000"/>
        </a:spcBef>
        <a:buFont typeface="Arial" pitchFamily="34" charset="0"/>
        <a:buChar char="•"/>
        <a:defRPr sz="12600" kern="1200">
          <a:solidFill>
            <a:schemeClr val="tx1"/>
          </a:solidFill>
          <a:latin typeface="+mn-lt"/>
          <a:ea typeface="+mn-ea"/>
          <a:cs typeface="+mn-cs"/>
        </a:defRPr>
      </a:lvl1pPr>
      <a:lvl2pPr marL="2924818" indent="-1124930" algn="l" defTabSz="3599776" rtl="0" eaLnBrk="1" latinLnBrk="0" hangingPunct="1">
        <a:spcBef>
          <a:spcPct val="20000"/>
        </a:spcBef>
        <a:buFont typeface="Arial" pitchFamily="34" charset="0"/>
        <a:buChar char="–"/>
        <a:defRPr sz="11100" kern="1200">
          <a:solidFill>
            <a:schemeClr val="tx1"/>
          </a:solidFill>
          <a:latin typeface="+mn-lt"/>
          <a:ea typeface="+mn-ea"/>
          <a:cs typeface="+mn-cs"/>
        </a:defRPr>
      </a:lvl2pPr>
      <a:lvl3pPr marL="4499721" indent="-899945" algn="l" defTabSz="3599776" rtl="0" eaLnBrk="1" latinLnBrk="0" hangingPunct="1">
        <a:spcBef>
          <a:spcPct val="20000"/>
        </a:spcBef>
        <a:buFont typeface="Arial" pitchFamily="34" charset="0"/>
        <a:buChar char="•"/>
        <a:defRPr sz="9500" kern="1200">
          <a:solidFill>
            <a:schemeClr val="tx1"/>
          </a:solidFill>
          <a:latin typeface="+mn-lt"/>
          <a:ea typeface="+mn-ea"/>
          <a:cs typeface="+mn-cs"/>
        </a:defRPr>
      </a:lvl3pPr>
      <a:lvl4pPr marL="629960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4pPr>
      <a:lvl5pPr marL="8099496"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5pPr>
      <a:lvl6pPr marL="9899385"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6pPr>
      <a:lvl7pPr marL="11699272"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7pPr>
      <a:lvl8pPr marL="13499161"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8pPr>
      <a:lvl9pPr marL="1529904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9pPr>
    </p:bodyStyle>
    <p:other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6" name="Table 35">
            <a:extLst>
              <a:ext uri="{FF2B5EF4-FFF2-40B4-BE49-F238E27FC236}">
                <a16:creationId xmlns:a16="http://schemas.microsoft.com/office/drawing/2014/main" id="{BE4C25E8-A394-434E-8360-04CD8A1473B8}"/>
              </a:ext>
            </a:extLst>
          </p:cNvPr>
          <p:cNvGraphicFramePr>
            <a:graphicFrameLocks noGrp="1"/>
          </p:cNvGraphicFramePr>
          <p:nvPr userDrawn="1">
            <p:extLst>
              <p:ext uri="{D42A27DB-BD31-4B8C-83A1-F6EECF244321}">
                <p14:modId xmlns:p14="http://schemas.microsoft.com/office/powerpoint/2010/main" val="4020684293"/>
              </p:ext>
            </p:extLst>
          </p:nvPr>
        </p:nvGraphicFramePr>
        <p:xfrm>
          <a:off x="-10750964" y="37356"/>
          <a:ext cx="10290587" cy="35976294"/>
        </p:xfrm>
        <a:graphic>
          <a:graphicData uri="http://schemas.openxmlformats.org/drawingml/2006/table">
            <a:tbl>
              <a:tblPr firstRow="1" bandRow="1">
                <a:tableStyleId>{5C22544A-7EE6-4342-B048-85BDC9FD1C3A}</a:tableStyleId>
              </a:tblPr>
              <a:tblGrid>
                <a:gridCol w="4412520">
                  <a:extLst>
                    <a:ext uri="{9D8B030D-6E8A-4147-A177-3AD203B41FA5}">
                      <a16:colId xmlns:a16="http://schemas.microsoft.com/office/drawing/2014/main" val="20000"/>
                    </a:ext>
                  </a:extLst>
                </a:gridCol>
                <a:gridCol w="5878067">
                  <a:extLst>
                    <a:ext uri="{9D8B030D-6E8A-4147-A177-3AD203B41FA5}">
                      <a16:colId xmlns:a16="http://schemas.microsoft.com/office/drawing/2014/main" val="20001"/>
                    </a:ext>
                  </a:extLst>
                </a:gridCol>
              </a:tblGrid>
              <a:tr h="1392775">
                <a:tc gridSpan="2">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dirty="0"/>
                    </a:p>
                  </a:txBody>
                  <a:tcPr/>
                </a:tc>
                <a:extLst>
                  <a:ext uri="{0D108BD9-81ED-4DB2-BD59-A6C34878D82A}">
                    <a16:rowId xmlns:a16="http://schemas.microsoft.com/office/drawing/2014/main" val="10000"/>
                  </a:ext>
                </a:extLst>
              </a:tr>
              <a:tr h="4281487">
                <a:tc gridSpan="2">
                  <a:txBody>
                    <a:bodyPr/>
                    <a:lstStyle/>
                    <a:p>
                      <a:pPr defTabSz="3765639"/>
                      <a:r>
                        <a:rPr lang="en-US" sz="2400" i="0" dirty="0">
                          <a:solidFill>
                            <a:srgbClr val="D9D9D9"/>
                          </a:solidFill>
                          <a:latin typeface="Arial"/>
                          <a:cs typeface="Arial"/>
                        </a:rPr>
                        <a:t>This PowerPoint template produces a </a:t>
                      </a:r>
                      <a:r>
                        <a:rPr lang="en-US" sz="2400" b="1" i="0" dirty="0">
                          <a:solidFill>
                            <a:srgbClr val="FFC000"/>
                          </a:solidFill>
                          <a:latin typeface="Arial"/>
                          <a:cs typeface="Arial"/>
                        </a:rPr>
                        <a:t>70x100cm</a:t>
                      </a:r>
                      <a:r>
                        <a:rPr lang="en-US" sz="2400" i="0" dirty="0">
                          <a:solidFill>
                            <a:srgbClr val="FFC000"/>
                          </a:solidFill>
                          <a:latin typeface="Arial"/>
                          <a:cs typeface="Arial"/>
                        </a:rPr>
                        <a:t> </a:t>
                      </a:r>
                      <a:r>
                        <a:rPr lang="en-US" sz="2400" i="0" dirty="0">
                          <a:solidFill>
                            <a:srgbClr val="D9D9D9"/>
                          </a:solidFill>
                          <a:latin typeface="Arial"/>
                          <a:cs typeface="Arial"/>
                        </a:rPr>
                        <a:t>presentation poster. You can use it to create your research poster by placing your title, subtitle, text, tables, charts and photos. </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We provide a series of online tutorials that will guide you through the poster design process and answer your poster production questions. For complete template tutorials,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the  </a:t>
                      </a:r>
                      <a:r>
                        <a:rPr lang="en-US" sz="2400" i="0" dirty="0">
                          <a:solidFill>
                            <a:srgbClr val="FFC000"/>
                          </a:solidFill>
                          <a:latin typeface="Arial"/>
                          <a:cs typeface="Arial"/>
                        </a:rPr>
                        <a:t>HELP DESK</a:t>
                      </a:r>
                      <a:r>
                        <a:rPr lang="en-US" sz="2400" i="0" baseline="0" dirty="0">
                          <a:solidFill>
                            <a:srgbClr val="D9D9D9"/>
                          </a:solidFill>
                          <a:latin typeface="Arial"/>
                          <a:cs typeface="Arial"/>
                        </a:rPr>
                        <a:t> </a:t>
                      </a:r>
                      <a:r>
                        <a:rPr lang="en-US" sz="2400" i="0" dirty="0">
                          <a:solidFill>
                            <a:srgbClr val="D9D9D9"/>
                          </a:solidFill>
                          <a:latin typeface="Arial"/>
                          <a:cs typeface="Arial"/>
                        </a:rPr>
                        <a:t>tab.</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To print your poster using our same-day professional printing service,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a:t>
                      </a:r>
                      <a:r>
                        <a:rPr lang="en-US" sz="2400" i="0" dirty="0">
                          <a:solidFill>
                            <a:srgbClr val="FFC000"/>
                          </a:solidFill>
                          <a:latin typeface="Arial"/>
                          <a:cs typeface="Arial"/>
                        </a:rPr>
                        <a:t>Order your poster</a:t>
                      </a:r>
                      <a:r>
                        <a:rPr lang="en-US" sz="2400" i="0" dirty="0">
                          <a:solidFill>
                            <a:srgbClr val="D9D9D9"/>
                          </a:solidFill>
                          <a:latin typeface="Arial"/>
                          <a:cs typeface="Arial"/>
                        </a:rPr>
                        <a:t>".</a:t>
                      </a:r>
                      <a:endParaRPr lang="en-US" sz="2400" b="1" dirty="0">
                        <a:solidFill>
                          <a:srgbClr val="D9D9D9"/>
                        </a:solidFill>
                        <a:latin typeface="Arial"/>
                        <a:cs typeface="Arial"/>
                      </a:endParaRPr>
                    </a:p>
                  </a:txBody>
                  <a:tcPr marL="182880" marT="137160">
                    <a:solidFill>
                      <a:srgbClr val="010101"/>
                    </a:solidFill>
                  </a:tcPr>
                </a:tc>
                <a:tc hMerge="1">
                  <a:txBody>
                    <a:bodyPr/>
                    <a:lstStyle/>
                    <a:p>
                      <a:pPr marL="0" indent="0" algn="l" defTabSz="114300"/>
                      <a:endParaRPr lang="en-US" sz="2400" b="0" baseline="0" dirty="0">
                        <a:solidFill>
                          <a:srgbClr val="FFC000"/>
                        </a:solidFill>
                        <a:latin typeface="Arial" panose="020B0604020202020204" pitchFamily="34" charset="0"/>
                        <a:cs typeface="Arial" panose="020B0604020202020204" pitchFamily="34" charset="0"/>
                      </a:endParaRPr>
                    </a:p>
                  </a:txBody>
                  <a:tcPr>
                    <a:solidFill>
                      <a:schemeClr val="tx1">
                        <a:lumMod val="95000"/>
                        <a:lumOff val="5000"/>
                      </a:schemeClr>
                    </a:solidFill>
                  </a:tcPr>
                </a:tc>
                <a:extLst>
                  <a:ext uri="{0D108BD9-81ED-4DB2-BD59-A6C34878D82A}">
                    <a16:rowId xmlns:a16="http://schemas.microsoft.com/office/drawing/2014/main" val="677555919"/>
                  </a:ext>
                </a:extLst>
              </a:tr>
              <a:tr h="5106834">
                <a:tc>
                  <a:txBody>
                    <a:bodyPr/>
                    <a:lstStyle/>
                    <a:p>
                      <a:pPr algn="ctr"/>
                      <a:endParaRPr lang="en-US" sz="2400" dirty="0">
                        <a:solidFill>
                          <a:srgbClr val="1F3A4E"/>
                        </a:solidFill>
                      </a:endParaRPr>
                    </a:p>
                    <a:p>
                      <a:pPr algn="ctr"/>
                      <a:endParaRPr lang="en-US" sz="2400" dirty="0">
                        <a:solidFill>
                          <a:srgbClr val="1F3A4E"/>
                        </a:solidFill>
                      </a:endParaRPr>
                    </a:p>
                    <a:p>
                      <a:pPr algn="ctr"/>
                      <a:r>
                        <a:rPr lang="en-US" sz="2400" dirty="0">
                          <a:solidFill>
                            <a:schemeClr val="bg1"/>
                          </a:solidFill>
                          <a:latin typeface="Arial" panose="020B0604020202020204" pitchFamily="34" charset="0"/>
                          <a:cs typeface="Arial" panose="020B0604020202020204" pitchFamily="34" charset="0"/>
                        </a:rPr>
                        <a:t>This is a template for a </a:t>
                      </a:r>
                    </a:p>
                    <a:p>
                      <a:pPr algn="ctr"/>
                      <a:r>
                        <a:rPr lang="en-US" sz="2400" dirty="0">
                          <a:solidFill>
                            <a:schemeClr val="bg1"/>
                          </a:solidFill>
                          <a:latin typeface="Arial" panose="020B0604020202020204" pitchFamily="34" charset="0"/>
                          <a:cs typeface="Arial" panose="020B0604020202020204" pitchFamily="34" charset="0"/>
                        </a:rPr>
                        <a:t>presentation poster</a:t>
                      </a:r>
                      <a:br>
                        <a:rPr lang="en-US" sz="2400" dirty="0">
                          <a:solidFill>
                            <a:schemeClr val="bg1"/>
                          </a:solidFill>
                          <a:latin typeface="Arial" panose="020B0604020202020204" pitchFamily="34" charset="0"/>
                          <a:cs typeface="Arial" panose="020B0604020202020204" pitchFamily="34" charset="0"/>
                        </a:rPr>
                      </a:br>
                      <a:r>
                        <a:rPr lang="en-US" sz="4000" b="1" dirty="0">
                          <a:solidFill>
                            <a:srgbClr val="FFC000"/>
                          </a:solidFill>
                          <a:latin typeface="Arial" panose="020B0604020202020204" pitchFamily="34" charset="0"/>
                          <a:cs typeface="Arial" panose="020B0604020202020204" pitchFamily="34" charset="0"/>
                        </a:rPr>
                        <a:t>70x100cm</a:t>
                      </a:r>
                      <a:br>
                        <a:rPr lang="en-US" sz="2400" dirty="0">
                          <a:solidFill>
                            <a:schemeClr val="bg1"/>
                          </a:solidFill>
                          <a:latin typeface="Arial" panose="020B0604020202020204" pitchFamily="34" charset="0"/>
                          <a:cs typeface="Arial" panose="020B0604020202020204" pitchFamily="34" charset="0"/>
                        </a:rPr>
                      </a:br>
                      <a:endParaRPr lang="en-US" sz="2400" dirty="0">
                        <a:solidFill>
                          <a:srgbClr val="1F3A4E"/>
                        </a:solidFill>
                      </a:endParaRPr>
                    </a:p>
                  </a:txBody>
                  <a:tcPr>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Important:</a:t>
                      </a:r>
                      <a:br>
                        <a:rPr lang="en-US" sz="2800" b="1" baseline="0" dirty="0">
                          <a:solidFill>
                            <a:srgbClr val="FFC000"/>
                          </a:solidFill>
                          <a:latin typeface="Arial" panose="020B0604020202020204" pitchFamily="34" charset="0"/>
                          <a:cs typeface="Arial" panose="020B0604020202020204" pitchFamily="34" charset="0"/>
                        </a:rPr>
                      </a:br>
                      <a:r>
                        <a:rPr lang="en-US" sz="2800" b="1" baseline="0" dirty="0">
                          <a:solidFill>
                            <a:srgbClr val="FFC000"/>
                          </a:solidFill>
                          <a:latin typeface="Arial" panose="020B0604020202020204" pitchFamily="34" charset="0"/>
                          <a:cs typeface="Arial" panose="020B0604020202020204" pitchFamily="34" charset="0"/>
                        </a:rPr>
                        <a:t>Check the template size</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Before you start working on your poster and to avoid printing problems check that you have downloaded and that you are using the correct size template for your poster presentation.</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This template can also be printed at the following sizes without distortion and without any additional formatting:</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100x143 cm</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27.5x39.37 inches </a:t>
                      </a:r>
                    </a:p>
                  </a:txBody>
                  <a:tcPr marL="182880" marT="137160">
                    <a:solidFill>
                      <a:srgbClr val="010101"/>
                    </a:solidFill>
                  </a:tcPr>
                </a:tc>
                <a:extLst>
                  <a:ext uri="{0D108BD9-81ED-4DB2-BD59-A6C34878D82A}">
                    <a16:rowId xmlns:a16="http://schemas.microsoft.com/office/drawing/2014/main" val="10008"/>
                  </a:ext>
                </a:extLst>
              </a:tr>
              <a:tr h="5003666">
                <a:tc>
                  <a:txBody>
                    <a:bodyPr/>
                    <a:lstStyle/>
                    <a:p>
                      <a:endParaRPr lang="en-US" sz="2400" dirty="0">
                        <a:solidFill>
                          <a:srgbClr val="1F3A4E"/>
                        </a:solidFill>
                      </a:endParaRPr>
                    </a:p>
                  </a:txBody>
                  <a:tcPr>
                    <a:blipFill rotWithShape="1">
                      <a:blip r:embed="rId3"/>
                      <a:stretch>
                        <a:fillRect/>
                      </a:stretch>
                    </a:blipFill>
                  </a:tcPr>
                </a:tc>
                <a:tc>
                  <a:txBody>
                    <a:bodyPr/>
                    <a:lstStyle/>
                    <a:p>
                      <a:pPr algn="l"/>
                      <a:r>
                        <a:rPr lang="en-US" sz="2800" b="1" baseline="0" dirty="0">
                          <a:solidFill>
                            <a:srgbClr val="FFC000"/>
                          </a:solidFill>
                          <a:latin typeface="Arial" panose="020B0604020202020204" pitchFamily="34" charset="0"/>
                          <a:cs typeface="Arial" panose="020B0604020202020204" pitchFamily="34" charset="0"/>
                        </a:rPr>
                        <a:t>How to </a:t>
                      </a:r>
                      <a:r>
                        <a:rPr lang="en-US" sz="4400" b="1" baseline="0" dirty="0">
                          <a:solidFill>
                            <a:srgbClr val="FFC000"/>
                          </a:solidFill>
                          <a:latin typeface="Arial" panose="020B0604020202020204" pitchFamily="34" charset="0"/>
                          <a:cs typeface="Arial" panose="020B0604020202020204" pitchFamily="34" charset="0"/>
                        </a:rPr>
                        <a:t>Zoom in </a:t>
                      </a:r>
                      <a:r>
                        <a:rPr lang="en-US" sz="2800" b="1" baseline="0" dirty="0">
                          <a:solidFill>
                            <a:srgbClr val="FFC000"/>
                          </a:solidFill>
                          <a:latin typeface="Arial" panose="020B0604020202020204" pitchFamily="34" charset="0"/>
                          <a:cs typeface="Arial" panose="020B0604020202020204" pitchFamily="34" charset="0"/>
                        </a:rPr>
                        <a:t>and </a:t>
                      </a:r>
                      <a:r>
                        <a:rPr lang="en-US" sz="2000" b="1" baseline="0" dirty="0">
                          <a:solidFill>
                            <a:srgbClr val="FFC000"/>
                          </a:solidFill>
                          <a:latin typeface="Arial" panose="020B0604020202020204" pitchFamily="34" charset="0"/>
                          <a:cs typeface="Arial" panose="020B0604020202020204" pitchFamily="34" charset="0"/>
                        </a:rPr>
                        <a:t>out</a:t>
                      </a:r>
                      <a:endParaRPr lang="en-US" sz="2800" b="1" baseline="0" dirty="0">
                        <a:solidFill>
                          <a:srgbClr val="FFC000"/>
                        </a:solidFill>
                        <a:latin typeface="Arial" panose="020B0604020202020204" pitchFamily="34" charset="0"/>
                        <a:cs typeface="Arial" panose="020B0604020202020204" pitchFamily="34" charset="0"/>
                      </a:endParaRPr>
                    </a:p>
                    <a:p>
                      <a:pPr algn="l"/>
                      <a:r>
                        <a:rPr lang="en-US" sz="2400" b="0" baseline="0" dirty="0">
                          <a:solidFill>
                            <a:srgbClr val="D9D9D9"/>
                          </a:solidFill>
                          <a:latin typeface="Arial" panose="020B0604020202020204" pitchFamily="34" charset="0"/>
                          <a:cs typeface="Arial" panose="020B0604020202020204" pitchFamily="34" charset="0"/>
                        </a:rPr>
                        <a:t>Use the PowerPoint zoom tool to adjust the screen magnification to view comfortably. PowerPoint provides 2 ways to zoom: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 </a:t>
                      </a:r>
                      <a:r>
                        <a:rPr lang="en-US" sz="2400" b="0" baseline="0" dirty="0">
                          <a:solidFill>
                            <a:srgbClr val="D9D9D9"/>
                          </a:solidFill>
                          <a:latin typeface="Arial" panose="020B0604020202020204" pitchFamily="34" charset="0"/>
                          <a:cs typeface="Arial" panose="020B0604020202020204" pitchFamily="34" charset="0"/>
                        </a:rPr>
                        <a:t>On the top menu bar click on the VIEW tab and then click on ZOOM. Choose the zoom percentage that works best for you.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 </a:t>
                      </a:r>
                      <a:r>
                        <a:rPr lang="en-US" sz="2400" b="0" baseline="0" dirty="0">
                          <a:solidFill>
                            <a:srgbClr val="D9D9D9"/>
                          </a:solidFill>
                          <a:latin typeface="Arial" panose="020B0604020202020204" pitchFamily="34" charset="0"/>
                          <a:cs typeface="Arial" panose="020B0604020202020204" pitchFamily="34" charset="0"/>
                        </a:rPr>
                        <a:t>For better zoom flexibility, use the zoom slider at the bottom right of the window.</a:t>
                      </a:r>
                    </a:p>
                  </a:txBody>
                  <a:tcPr marL="182880" marT="137160">
                    <a:solidFill>
                      <a:srgbClr val="010101"/>
                    </a:solidFill>
                  </a:tcPr>
                </a:tc>
                <a:extLst>
                  <a:ext uri="{0D108BD9-81ED-4DB2-BD59-A6C34878D82A}">
                    <a16:rowId xmlns:a16="http://schemas.microsoft.com/office/drawing/2014/main" val="10001"/>
                  </a:ext>
                </a:extLst>
              </a:tr>
              <a:tr h="2372872">
                <a:tc gridSpan="2">
                  <a:txBody>
                    <a:bodyPr/>
                    <a:lstStyle/>
                    <a:p>
                      <a:pPr marL="0" marR="0" lvl="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Ruler and Guides</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The dotted lines on his poster template are guides.  The horizontal and vertical guides will help you align your poster elements accurately. Text boxes and other elements will ”snap” to the guides and stay within the boundaries of the columns. To hide the guides go to VIEW and uncheck the Guides box.</a:t>
                      </a:r>
                    </a:p>
                  </a:txBody>
                  <a:tcPr>
                    <a:solidFill>
                      <a:srgbClr val="010101"/>
                    </a:solidFill>
                  </a:tcPr>
                </a:tc>
                <a:tc hMerge="1">
                  <a:txBody>
                    <a:bodyPr/>
                    <a:lstStyle/>
                    <a:p>
                      <a:endParaRPr lang="en-US" sz="2400" b="0" baseline="0" dirty="0">
                        <a:solidFill>
                          <a:schemeClr val="bg1"/>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extLst>
                  <a:ext uri="{0D108BD9-81ED-4DB2-BD59-A6C34878D82A}">
                    <a16:rowId xmlns:a16="http://schemas.microsoft.com/office/drawing/2014/main" val="10002"/>
                  </a:ext>
                </a:extLst>
              </a:tr>
              <a:tr h="4694162">
                <a:tc>
                  <a:txBody>
                    <a:bodyPr/>
                    <a:lstStyle/>
                    <a:p>
                      <a:endParaRPr lang="en-US" sz="2400" dirty="0">
                        <a:solidFill>
                          <a:srgbClr val="1F3A4E"/>
                        </a:solidFill>
                      </a:endParaRPr>
                    </a:p>
                  </a:txBody>
                  <a:tcPr>
                    <a:blipFill rotWithShape="1">
                      <a:blip r:embed="rId4"/>
                      <a:stretch>
                        <a:fillRect/>
                      </a:stretch>
                    </a:blipFill>
                  </a:tcPr>
                </a:tc>
                <a:tc>
                  <a:txBody>
                    <a:bodyPr/>
                    <a:lstStyle/>
                    <a:p>
                      <a:pPr marL="0" lvl="1" indent="0" algn="l" defTabSz="114300"/>
                      <a:r>
                        <a:rPr lang="en-US" sz="2800" b="1" baseline="0" dirty="0">
                          <a:solidFill>
                            <a:srgbClr val="FFC000"/>
                          </a:solidFill>
                          <a:latin typeface="Arial" panose="020B0604020202020204" pitchFamily="34" charset="0"/>
                          <a:cs typeface="Arial" panose="020B0604020202020204" pitchFamily="34" charset="0"/>
                        </a:rPr>
                        <a:t>Headers and text containers</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Included in this template are commonly used section headers such as Abstract, Objectives, Methods, Results, etc.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Click inside a section header to add its text.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add another header, click on edge of the section box so that it is outlined. Copy and paste it.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increase its size, click on the white circles and expand to the the desired size.</a:t>
                      </a:r>
                    </a:p>
                  </a:txBody>
                  <a:tcPr marL="182880" marT="137160">
                    <a:solidFill>
                      <a:srgbClr val="010101"/>
                    </a:solidFill>
                  </a:tcPr>
                </a:tc>
                <a:extLst>
                  <a:ext uri="{0D108BD9-81ED-4DB2-BD59-A6C34878D82A}">
                    <a16:rowId xmlns:a16="http://schemas.microsoft.com/office/drawing/2014/main" val="10003"/>
                  </a:ext>
                </a:extLst>
              </a:tr>
              <a:tr h="3817230">
                <a:tc gridSpan="2">
                  <a:txBody>
                    <a:bodyPr/>
                    <a:lstStyle/>
                    <a:p>
                      <a:r>
                        <a:rPr lang="en-US" sz="2800" b="1" dirty="0">
                          <a:solidFill>
                            <a:srgbClr val="FFC000"/>
                          </a:solidFill>
                          <a:latin typeface="Arial" panose="020B0604020202020204" pitchFamily="34" charset="0"/>
                          <a:cs typeface="Arial" panose="020B0604020202020204" pitchFamily="34" charset="0"/>
                        </a:rPr>
                        <a:t>Adding content to the poster</a:t>
                      </a:r>
                    </a:p>
                    <a:p>
                      <a:r>
                        <a:rPr lang="en-US" sz="2400" baseline="0" dirty="0">
                          <a:solidFill>
                            <a:srgbClr val="D9D9D9"/>
                          </a:solidFill>
                          <a:latin typeface="Arial" panose="020B0604020202020204" pitchFamily="34" charset="0"/>
                          <a:cs typeface="Arial" panose="020B0604020202020204" pitchFamily="34" charset="0"/>
                        </a:rPr>
                        <a:t>Start by adding your text to each section without spending too much time with formatting. Use the default font size even if your text extends beyond the bottom of the poster. Continue until you have added all your content including text, graphics, photos, etc. Once you finish adding your content you can go back and format your text as needed.</a:t>
                      </a:r>
                    </a:p>
                    <a:p>
                      <a:pPr marL="342900" indent="-342900">
                        <a:buFontTx/>
                        <a:buChar char="-"/>
                      </a:pPr>
                      <a:r>
                        <a:rPr lang="en-US" sz="2400" baseline="0" dirty="0">
                          <a:solidFill>
                            <a:srgbClr val="D9D9D9"/>
                          </a:solidFill>
                          <a:latin typeface="Arial" panose="020B0604020202020204" pitchFamily="34" charset="0"/>
                          <a:cs typeface="Arial" panose="020B0604020202020204" pitchFamily="34" charset="0"/>
                        </a:rPr>
                        <a:t>If you run out of room, try to reduce the size of your fonts and/or the size of your graphics. If there is a lot of empty space try to increase your font sizes and the size of your graphics. The font used for references can be smaller.</a:t>
                      </a:r>
                      <a:endParaRPr lang="en-US" sz="2400" dirty="0">
                        <a:solidFill>
                          <a:srgbClr val="D9D9D9"/>
                        </a:solidFill>
                        <a:latin typeface="Arial" panose="020B0604020202020204" pitchFamily="34" charset="0"/>
                        <a:cs typeface="Arial" panose="020B0604020202020204" pitchFamily="34" charset="0"/>
                      </a:endParaRPr>
                    </a:p>
                  </a:txBody>
                  <a:tcPr>
                    <a:solidFill>
                      <a:srgbClr val="010101"/>
                    </a:solidFill>
                  </a:tcPr>
                </a:tc>
                <a:tc hMerge="1">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4"/>
                  </a:ext>
                </a:extLst>
              </a:tr>
              <a:tr h="2527626">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Photos</a:t>
                      </a:r>
                    </a:p>
                    <a:p>
                      <a:pPr marL="0" marR="0" lvl="0" indent="0" algn="l" defTabSz="9779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9D9D9"/>
                          </a:solidFill>
                          <a:effectLst/>
                          <a:uLnTx/>
                          <a:uFillTx/>
                          <a:latin typeface="Arial"/>
                          <a:ea typeface="+mn-ea"/>
                          <a:cs typeface="Arial"/>
                        </a:rPr>
                        <a:t>You can add photos by dragging and dropping from your desktop, copy and paste, or by going to INSERT &gt; PICTURES. Resize images proportionally by holding down the SHIFT key and dragging one of the white corner handles (dots). For a professional-looking poster, do not distort your images by stretching them disproportionally.</a:t>
                      </a:r>
                    </a:p>
                  </a:txBody>
                  <a:tcPr marL="182880" marT="137160">
                    <a:solidFill>
                      <a:srgbClr val="010101"/>
                    </a:solidFill>
                  </a:tcPr>
                </a:tc>
                <a:tc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200" noProof="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5"/>
                  </a:ext>
                </a:extLst>
              </a:tr>
              <a:tr h="2223088">
                <a:tc gridSpan="2">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blipFill rotWithShape="1">
                      <a:blip r:embed="rId5"/>
                      <a:stretch>
                        <a:fillRect/>
                      </a:stretch>
                    </a:blipFill>
                  </a:tcPr>
                </a:tc>
                <a:tc hMerge="1">
                  <a:txBody>
                    <a:bodyPr/>
                    <a:lstStyle/>
                    <a:p>
                      <a:endParaRPr lang="en-US" sz="2400" dirty="0">
                        <a:solidFill>
                          <a:srgbClr val="1F3A4E"/>
                        </a:solidFill>
                      </a:endParaRPr>
                    </a:p>
                  </a:txBody>
                  <a:tcPr/>
                </a:tc>
                <a:extLst>
                  <a:ext uri="{0D108BD9-81ED-4DB2-BD59-A6C34878D82A}">
                    <a16:rowId xmlns:a16="http://schemas.microsoft.com/office/drawing/2014/main" val="10006"/>
                  </a:ext>
                </a:extLst>
              </a:tr>
              <a:tr h="1466691">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Quality check your graphics</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Zoom in and look at your images at 100%-200% magnification. If they look clear, they will print well. </a:t>
                      </a:r>
                    </a:p>
                  </a:txBody>
                  <a:tcPr marL="182880" marT="137160">
                    <a:solidFill>
                      <a:srgbClr val="010101"/>
                    </a:solidFill>
                  </a:tcPr>
                </a:tc>
                <a:tc hMerge="1">
                  <a:txBody>
                    <a:bodyPr/>
                    <a:lstStyle/>
                    <a:p>
                      <a:endParaRPr lang="en-US" sz="2400" dirty="0">
                        <a:solidFill>
                          <a:srgbClr val="1F3A4E"/>
                        </a:solidFill>
                      </a:endParaRPr>
                    </a:p>
                  </a:txBody>
                  <a:tcPr>
                    <a:solidFill>
                      <a:schemeClr val="tx1">
                        <a:lumMod val="95000"/>
                        <a:lumOff val="5000"/>
                      </a:schemeClr>
                    </a:solidFill>
                  </a:tcPr>
                </a:tc>
                <a:extLst>
                  <a:ext uri="{0D108BD9-81ED-4DB2-BD59-A6C34878D82A}">
                    <a16:rowId xmlns:a16="http://schemas.microsoft.com/office/drawing/2014/main" val="10007"/>
                  </a:ext>
                </a:extLst>
              </a:tr>
              <a:tr h="3089863">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chemeClr val="bg1"/>
                        </a:solidFill>
                        <a:latin typeface="Arial"/>
                        <a:cs typeface="Arial"/>
                      </a:endParaRPr>
                    </a:p>
                  </a:txBody>
                  <a:tcPr marL="182880" marT="137160">
                    <a:blipFill rotWithShape="1">
                      <a:blip r:embed="rId6"/>
                      <a:stretch>
                        <a:fillRect/>
                      </a:stretch>
                    </a:blipFill>
                  </a:tcPr>
                </a:tc>
                <a:tc hMerge="1">
                  <a:txBody>
                    <a:bodyPr/>
                    <a:lstStyle/>
                    <a:p>
                      <a:endParaRPr lang="en-US"/>
                    </a:p>
                  </a:txBody>
                  <a:tcPr/>
                </a:tc>
                <a:extLst>
                  <a:ext uri="{0D108BD9-81ED-4DB2-BD59-A6C34878D82A}">
                    <a16:rowId xmlns:a16="http://schemas.microsoft.com/office/drawing/2014/main" val="10010"/>
                  </a:ext>
                </a:extLst>
              </a:tr>
            </a:tbl>
          </a:graphicData>
        </a:graphic>
      </p:graphicFrame>
      <p:grpSp>
        <p:nvGrpSpPr>
          <p:cNvPr id="9" name="Group 8">
            <a:extLst>
              <a:ext uri="{FF2B5EF4-FFF2-40B4-BE49-F238E27FC236}">
                <a16:creationId xmlns:a16="http://schemas.microsoft.com/office/drawing/2014/main" id="{EF4C1283-BAAA-6D41-8C60-C18DCEE718CC}"/>
              </a:ext>
            </a:extLst>
          </p:cNvPr>
          <p:cNvGrpSpPr/>
          <p:nvPr userDrawn="1"/>
        </p:nvGrpSpPr>
        <p:grpSpPr>
          <a:xfrm>
            <a:off x="0" y="0"/>
            <a:ext cx="25192038" cy="36013650"/>
            <a:chOff x="-282256" y="-251209"/>
            <a:chExt cx="25648282" cy="36391624"/>
          </a:xfrm>
        </p:grpSpPr>
        <p:sp>
          <p:nvSpPr>
            <p:cNvPr id="10" name="Freeform 9">
              <a:extLst>
                <a:ext uri="{FF2B5EF4-FFF2-40B4-BE49-F238E27FC236}">
                  <a16:creationId xmlns:a16="http://schemas.microsoft.com/office/drawing/2014/main" id="{5A8CCE7E-6AD5-334C-B9DB-A6AFE8966A68}"/>
                </a:ext>
              </a:extLst>
            </p:cNvPr>
            <p:cNvSpPr/>
            <p:nvPr userDrawn="1"/>
          </p:nvSpPr>
          <p:spPr>
            <a:xfrm>
              <a:off x="-240584" y="-231258"/>
              <a:ext cx="25606610" cy="36371673"/>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79000">
                  <a:schemeClr val="accent1">
                    <a:lumMod val="40000"/>
                    <a:lumOff val="60000"/>
                  </a:schemeClr>
                </a:gs>
                <a:gs pos="13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10">
              <a:extLst>
                <a:ext uri="{FF2B5EF4-FFF2-40B4-BE49-F238E27FC236}">
                  <a16:creationId xmlns:a16="http://schemas.microsoft.com/office/drawing/2014/main" id="{82A0E442-DFA0-7C45-A18E-391E6A121090}"/>
                </a:ext>
              </a:extLst>
            </p:cNvPr>
            <p:cNvSpPr/>
            <p:nvPr userDrawn="1"/>
          </p:nvSpPr>
          <p:spPr>
            <a:xfrm flipH="1" flipV="1">
              <a:off x="-240585" y="-231258"/>
              <a:ext cx="25606609" cy="36352958"/>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41000">
                  <a:schemeClr val="bg2"/>
                </a:gs>
                <a:gs pos="100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11">
              <a:extLst>
                <a:ext uri="{FF2B5EF4-FFF2-40B4-BE49-F238E27FC236}">
                  <a16:creationId xmlns:a16="http://schemas.microsoft.com/office/drawing/2014/main" id="{372B1B3A-5764-1141-AD33-81F113CC7BE4}"/>
                </a:ext>
              </a:extLst>
            </p:cNvPr>
            <p:cNvSpPr/>
            <p:nvPr userDrawn="1"/>
          </p:nvSpPr>
          <p:spPr>
            <a:xfrm>
              <a:off x="-282256" y="-251209"/>
              <a:ext cx="25648281" cy="36391624"/>
            </a:xfrm>
            <a:custGeom>
              <a:avLst/>
              <a:gdLst>
                <a:gd name="connsiteX0" fmla="*/ 36576 w 39026592"/>
                <a:gd name="connsiteY0" fmla="*/ 0 h 30614112"/>
                <a:gd name="connsiteX1" fmla="*/ 15837408 w 39026592"/>
                <a:gd name="connsiteY1" fmla="*/ 30614112 h 30614112"/>
                <a:gd name="connsiteX2" fmla="*/ 39026592 w 39026592"/>
                <a:gd name="connsiteY2" fmla="*/ 13350240 h 30614112"/>
                <a:gd name="connsiteX3" fmla="*/ 0 w 39026592"/>
                <a:gd name="connsiteY3" fmla="*/ 73152 h 30614112"/>
                <a:gd name="connsiteX4" fmla="*/ 109728 w 39026592"/>
                <a:gd name="connsiteY4" fmla="*/ 146304 h 30614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026592" h="30614112">
                  <a:moveTo>
                    <a:pt x="36576" y="0"/>
                  </a:moveTo>
                  <a:lnTo>
                    <a:pt x="15837408" y="30614112"/>
                  </a:lnTo>
                  <a:lnTo>
                    <a:pt x="39026592" y="13350240"/>
                  </a:lnTo>
                  <a:lnTo>
                    <a:pt x="0" y="73152"/>
                  </a:lnTo>
                  <a:lnTo>
                    <a:pt x="109728" y="146304"/>
                  </a:lnTo>
                </a:path>
              </a:pathLst>
            </a:custGeom>
            <a:gradFill flip="none" rotWithShape="1">
              <a:gsLst>
                <a:gs pos="0">
                  <a:schemeClr val="bg1"/>
                </a:gs>
                <a:gs pos="76000">
                  <a:schemeClr val="accent1">
                    <a:lumMod val="30000"/>
                    <a:lumOff val="70000"/>
                    <a:alpha val="0"/>
                  </a:schemeClr>
                </a:gs>
              </a:gsLst>
              <a:path path="rect">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14" name="Table 13">
            <a:extLst>
              <a:ext uri="{FF2B5EF4-FFF2-40B4-BE49-F238E27FC236}">
                <a16:creationId xmlns:a16="http://schemas.microsoft.com/office/drawing/2014/main" id="{AA930D81-2FAB-CD4D-AF1B-62386968629E}"/>
              </a:ext>
            </a:extLst>
          </p:cNvPr>
          <p:cNvGraphicFramePr>
            <a:graphicFrameLocks noGrp="1"/>
          </p:cNvGraphicFramePr>
          <p:nvPr userDrawn="1">
            <p:extLst>
              <p:ext uri="{D42A27DB-BD31-4B8C-83A1-F6EECF244321}">
                <p14:modId xmlns:p14="http://schemas.microsoft.com/office/powerpoint/2010/main" val="2042975874"/>
              </p:ext>
            </p:extLst>
          </p:nvPr>
        </p:nvGraphicFramePr>
        <p:xfrm>
          <a:off x="25652414" y="37356"/>
          <a:ext cx="10290587" cy="35957775"/>
        </p:xfrm>
        <a:graphic>
          <a:graphicData uri="http://schemas.openxmlformats.org/drawingml/2006/table">
            <a:tbl>
              <a:tblPr firstRow="1" bandRow="1">
                <a:tableStyleId>{5C22544A-7EE6-4342-B048-85BDC9FD1C3A}</a:tableStyleId>
              </a:tblPr>
              <a:tblGrid>
                <a:gridCol w="4899938">
                  <a:extLst>
                    <a:ext uri="{9D8B030D-6E8A-4147-A177-3AD203B41FA5}">
                      <a16:colId xmlns:a16="http://schemas.microsoft.com/office/drawing/2014/main" val="20000"/>
                    </a:ext>
                  </a:extLst>
                </a:gridCol>
                <a:gridCol w="351173">
                  <a:extLst>
                    <a:ext uri="{9D8B030D-6E8A-4147-A177-3AD203B41FA5}">
                      <a16:colId xmlns:a16="http://schemas.microsoft.com/office/drawing/2014/main" val="764104496"/>
                    </a:ext>
                  </a:extLst>
                </a:gridCol>
                <a:gridCol w="5039476">
                  <a:extLst>
                    <a:ext uri="{9D8B030D-6E8A-4147-A177-3AD203B41FA5}">
                      <a16:colId xmlns:a16="http://schemas.microsoft.com/office/drawing/2014/main" val="4164475170"/>
                    </a:ext>
                  </a:extLst>
                </a:gridCol>
              </a:tblGrid>
              <a:tr h="1768730">
                <a:tc gridSpan="3">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906470">
                <a:tc gridSpan="3">
                  <a:txBody>
                    <a:bodyPr/>
                    <a:lstStyle/>
                    <a:p>
                      <a:pPr algn="l"/>
                      <a:r>
                        <a:rPr lang="en-US" sz="2800" b="1" baseline="0" dirty="0">
                          <a:solidFill>
                            <a:srgbClr val="FFC000"/>
                          </a:solidFill>
                          <a:latin typeface="Arial" panose="020B0604020202020204" pitchFamily="34" charset="0"/>
                          <a:cs typeface="Arial" panose="020B0604020202020204" pitchFamily="34" charset="0"/>
                        </a:rPr>
                        <a:t>How to change the template colors</a:t>
                      </a: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change the overall template color theme by clicking on the COLORS dropdown menu under the DESIGN tab. You can see a tutorial here: </a:t>
                      </a:r>
                      <a:r>
                        <a:rPr lang="en-US" sz="2400" dirty="0">
                          <a:solidFill>
                            <a:srgbClr val="FFC000"/>
                          </a:solidFill>
                          <a:hlinkClick r:id="rId7">
                            <a:extLst>
                              <a:ext uri="{A12FA001-AC4F-418D-AE19-62706E023703}">
                                <ahyp:hlinkClr xmlns:ahyp="http://schemas.microsoft.com/office/drawing/2018/hyperlinkcolor" val="tx"/>
                              </a:ext>
                            </a:extLst>
                          </a:hlinkClick>
                        </a:rPr>
                        <a:t>https://www.posterpresentations.com/how-to-change-the-research-poster-template-colors.html</a:t>
                      </a:r>
                      <a:endParaRPr lang="en-US" sz="2400" dirty="0">
                        <a:solidFill>
                          <a:srgbClr val="FFC000"/>
                        </a:solidFill>
                      </a:endParaRP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also manually change the color of individual elements by going to VIEW &gt; SLIDE MASTER. On the left side of your screen select the background master where you can change the template background, column sizes, etc. </a:t>
                      </a: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After you finish working on the SLIDE MASTER, it is important that you go to VIEW &gt; NORMAL to continue working on your poster. </a:t>
                      </a:r>
                    </a:p>
                  </a:txBody>
                  <a:tcPr marL="182880" marT="137160">
                    <a:solidFill>
                      <a:schemeClr val="tx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3733058">
                <a:tc gridSpan="3">
                  <a:txBody>
                    <a:bodyPr/>
                    <a:lstStyle/>
                    <a:p>
                      <a:r>
                        <a:rPr lang="en-US" sz="2800" b="1" dirty="0">
                          <a:solidFill>
                            <a:srgbClr val="FFC000"/>
                          </a:solidFill>
                          <a:latin typeface="Arial" panose="020B0604020202020204" pitchFamily="34" charset="0"/>
                          <a:cs typeface="Arial" panose="020B0604020202020204" pitchFamily="34" charset="0"/>
                        </a:rPr>
                        <a:t>How to change the column layout configuration</a:t>
                      </a:r>
                    </a:p>
                    <a:p>
                      <a:r>
                        <a:rPr lang="en-US" sz="2400" dirty="0">
                          <a:solidFill>
                            <a:srgbClr val="D9D9D9"/>
                          </a:solidFill>
                          <a:latin typeface="Arial" panose="020B0604020202020204" pitchFamily="34" charset="0"/>
                          <a:cs typeface="Arial" panose="020B0604020202020204" pitchFamily="34" charset="0"/>
                        </a:rPr>
                        <a:t>You can manually change the configuration on the columns by going to VIEW &gt; SLIDE MASTER. You can delete columns, resize them or modify them as needed for your layout. </a:t>
                      </a:r>
                    </a:p>
                    <a:p>
                      <a:pPr marL="0" marR="0" indent="0" algn="l" defTabSz="3765366" rtl="0" eaLnBrk="1" fontAlgn="auto" latinLnBrk="0" hangingPunct="1">
                        <a:lnSpc>
                          <a:spcPct val="100000"/>
                        </a:lnSpc>
                        <a:spcBef>
                          <a:spcPts val="0"/>
                        </a:spcBef>
                        <a:spcAft>
                          <a:spcPts val="0"/>
                        </a:spcAft>
                        <a:buClrTx/>
                        <a:buSzTx/>
                        <a:buFontTx/>
                        <a:buNone/>
                        <a:tabLst/>
                        <a:defRPr/>
                      </a:pPr>
                      <a:r>
                        <a:rPr lang="en-US" sz="2400" dirty="0">
                          <a:solidFill>
                            <a:srgbClr val="D9D9D9"/>
                          </a:solidFill>
                          <a:latin typeface="Arial" panose="020B0604020202020204" pitchFamily="34" charset="0"/>
                          <a:cs typeface="Arial" panose="020B0604020202020204" pitchFamily="34" charset="0"/>
                        </a:rPr>
                        <a:t>You can see a tutorial here: </a:t>
                      </a:r>
                      <a:r>
                        <a:rPr lang="en-US" sz="2400" u="sng" dirty="0">
                          <a:solidFill>
                            <a:srgbClr val="FFC000"/>
                          </a:solidFill>
                          <a:latin typeface="Arial" panose="020B0604020202020204" pitchFamily="34" charset="0"/>
                          <a:cs typeface="Arial" panose="020B0604020202020204" pitchFamily="34" charset="0"/>
                        </a:rPr>
                        <a:t>https://</a:t>
                      </a:r>
                      <a:r>
                        <a:rPr lang="en-US" sz="2400" u="sng" dirty="0" err="1">
                          <a:solidFill>
                            <a:srgbClr val="FFC000"/>
                          </a:solidFill>
                          <a:latin typeface="Arial" panose="020B0604020202020204" pitchFamily="34" charset="0"/>
                          <a:cs typeface="Arial" panose="020B0604020202020204" pitchFamily="34" charset="0"/>
                        </a:rPr>
                        <a:t>www.posterpresentations.com</a:t>
                      </a:r>
                      <a:r>
                        <a:rPr lang="en-US" sz="2400" u="sng" dirty="0">
                          <a:solidFill>
                            <a:srgbClr val="FFC000"/>
                          </a:solidFill>
                          <a:latin typeface="Arial" panose="020B0604020202020204" pitchFamily="34" charset="0"/>
                          <a:cs typeface="Arial" panose="020B0604020202020204" pitchFamily="34" charset="0"/>
                        </a:rPr>
                        <a:t>/how-to-change-the-column-</a:t>
                      </a:r>
                      <a:r>
                        <a:rPr lang="en-US" sz="2400" u="sng" dirty="0" err="1">
                          <a:solidFill>
                            <a:srgbClr val="FFC000"/>
                          </a:solidFill>
                          <a:latin typeface="Arial" panose="020B0604020202020204" pitchFamily="34" charset="0"/>
                          <a:cs typeface="Arial" panose="020B0604020202020204" pitchFamily="34" charset="0"/>
                        </a:rPr>
                        <a:t>configuration.html</a:t>
                      </a:r>
                      <a:endParaRPr lang="en-US" sz="5400" u="sng" dirty="0">
                        <a:solidFill>
                          <a:srgbClr val="FFC000"/>
                        </a:solidFill>
                      </a:endParaRPr>
                    </a:p>
                  </a:txBody>
                  <a:tcPr marL="182880" marT="137160">
                    <a:solidFill>
                      <a:schemeClr val="tx1"/>
                    </a:solidFill>
                  </a:tcPr>
                </a:tc>
                <a:tc hMerge="1">
                  <a:txBody>
                    <a:bodyPr/>
                    <a:lstStyle/>
                    <a:p>
                      <a:endParaRPr lang="en-US"/>
                    </a:p>
                  </a:txBody>
                  <a:tcPr/>
                </a:tc>
                <a:tc hMerge="1">
                  <a:txBody>
                    <a:bodyPr/>
                    <a:lstStyle/>
                    <a:p>
                      <a:endParaRPr lang="en-US" dirty="0"/>
                    </a:p>
                  </a:txBody>
                  <a:tcPr marL="182880" marT="137160">
                    <a:solidFill>
                      <a:srgbClr val="010101"/>
                    </a:solidFill>
                  </a:tcPr>
                </a:tc>
                <a:extLst>
                  <a:ext uri="{0D108BD9-81ED-4DB2-BD59-A6C34878D82A}">
                    <a16:rowId xmlns:a16="http://schemas.microsoft.com/office/drawing/2014/main" val="10004"/>
                  </a:ext>
                </a:extLst>
              </a:tr>
              <a:tr h="2023905">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blipFill dpi="0" rotWithShape="1">
                      <a:blip r:embed="rId8">
                        <a:extLst>
                          <a:ext uri="{28A0092B-C50C-407E-A947-70E740481C1C}">
                            <a14:useLocalDpi xmlns:a14="http://schemas.microsoft.com/office/drawing/2010/main" val="0"/>
                          </a:ext>
                        </a:extLst>
                      </a:blip>
                      <a:srcRect/>
                      <a:stretch>
                        <a:fillRect/>
                      </a:stretch>
                    </a:blipFill>
                  </a:tcPr>
                </a:tc>
                <a:tc rowSpan="2"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panose="020B0604020202020204" pitchFamily="34" charset="0"/>
                          <a:cs typeface="Arial" panose="020B0604020202020204" pitchFamily="34" charset="0"/>
                        </a:rPr>
                        <a:t>The Quick Start</a:t>
                      </a:r>
                      <a:r>
                        <a:rPr lang="en-US" sz="2400" baseline="0" noProof="0" dirty="0">
                          <a:solidFill>
                            <a:srgbClr val="D9D9D9"/>
                          </a:solidFill>
                          <a:latin typeface="Arial" panose="020B0604020202020204" pitchFamily="34" charset="0"/>
                          <a:cs typeface="Arial" panose="020B0604020202020204" pitchFamily="34" charset="0"/>
                        </a:rPr>
                        <a:t> Guides</a:t>
                      </a:r>
                      <a:r>
                        <a:rPr lang="en-US" sz="2400" noProof="0" dirty="0">
                          <a:solidFill>
                            <a:srgbClr val="D9D9D9"/>
                          </a:solidFill>
                          <a:latin typeface="Arial" panose="020B0604020202020204" pitchFamily="34" charset="0"/>
                          <a:cs typeface="Arial" panose="020B0604020202020204" pitchFamily="34" charset="0"/>
                        </a:rPr>
                        <a:t> </a:t>
                      </a:r>
                      <a:r>
                        <a:rPr lang="en-US" sz="2400" u="sng" noProof="0" dirty="0">
                          <a:solidFill>
                            <a:srgbClr val="D9D9D9"/>
                          </a:solidFill>
                          <a:latin typeface="Arial" panose="020B0604020202020204" pitchFamily="34" charset="0"/>
                          <a:cs typeface="Arial" panose="020B0604020202020204" pitchFamily="34" charset="0"/>
                        </a:rPr>
                        <a:t>are outside the template’s printable area</a:t>
                      </a:r>
                      <a:r>
                        <a:rPr lang="en-US" sz="2400" noProof="0" dirty="0">
                          <a:solidFill>
                            <a:srgbClr val="D9D9D9"/>
                          </a:solidFill>
                          <a:latin typeface="Arial" panose="020B0604020202020204" pitchFamily="34" charset="0"/>
                          <a:cs typeface="Arial" panose="020B0604020202020204" pitchFamily="34" charset="0"/>
                        </a:rPr>
                        <a:t> and they will not be on the printed poster</a:t>
                      </a:r>
                      <a:r>
                        <a:rPr lang="en-US" sz="2400" baseline="0" noProof="0" dirty="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To hide the guides click on the </a:t>
                      </a:r>
                      <a:r>
                        <a:rPr lang="en-US" sz="2400" b="1" baseline="0" noProof="0" dirty="0">
                          <a:solidFill>
                            <a:srgbClr val="D9D9D9"/>
                          </a:solidFill>
                          <a:latin typeface="Arial" panose="020B0604020202020204" pitchFamily="34" charset="0"/>
                          <a:cs typeface="Arial" panose="020B0604020202020204" pitchFamily="34" charset="0"/>
                        </a:rPr>
                        <a:t>Home</a:t>
                      </a:r>
                      <a:r>
                        <a:rPr lang="en-US" sz="2400" baseline="0" noProof="0" dirty="0">
                          <a:solidFill>
                            <a:srgbClr val="D9D9D9"/>
                          </a:solidFill>
                          <a:latin typeface="Arial" panose="020B0604020202020204" pitchFamily="34" charset="0"/>
                          <a:cs typeface="Arial" panose="020B0604020202020204" pitchFamily="34" charset="0"/>
                        </a:rPr>
                        <a:t> tab (top of the screen) and then click on the </a:t>
                      </a:r>
                      <a:r>
                        <a:rPr lang="en-US" sz="2400" b="1"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 button below to see the available layouts. Choose the </a:t>
                      </a:r>
                      <a:r>
                        <a:rPr lang="en-US" sz="2400" b="1" baseline="0" noProof="0" dirty="0">
                          <a:solidFill>
                            <a:srgbClr val="D9D9D9"/>
                          </a:solidFill>
                          <a:latin typeface="Arial" panose="020B0604020202020204" pitchFamily="34" charset="0"/>
                          <a:cs typeface="Arial" panose="020B0604020202020204" pitchFamily="34" charset="0"/>
                        </a:rPr>
                        <a:t>Without Guides </a:t>
                      </a:r>
                      <a:r>
                        <a:rPr lang="en-US" sz="2400" b="0"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a:t>
                      </a: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rowSpan="2"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3200" b="1" noProof="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noProof="0">
                          <a:solidFill>
                            <a:srgbClr val="D9D9D9"/>
                          </a:solidFill>
                          <a:latin typeface="Arial" panose="020B0604020202020204" pitchFamily="34" charset="0"/>
                          <a:cs typeface="Arial" panose="020B0604020202020204" pitchFamily="34" charset="0"/>
                        </a:rPr>
                        <a:t>The Quick Start</a:t>
                      </a:r>
                      <a:r>
                        <a:rPr lang="en-US" sz="2800" baseline="0" noProof="0">
                          <a:solidFill>
                            <a:srgbClr val="D9D9D9"/>
                          </a:solidFill>
                          <a:latin typeface="Arial" panose="020B0604020202020204" pitchFamily="34" charset="0"/>
                          <a:cs typeface="Arial" panose="020B0604020202020204" pitchFamily="34" charset="0"/>
                        </a:rPr>
                        <a:t> Guides</a:t>
                      </a:r>
                      <a:r>
                        <a:rPr lang="en-US" sz="2800" noProof="0">
                          <a:solidFill>
                            <a:srgbClr val="D9D9D9"/>
                          </a:solidFill>
                          <a:latin typeface="Arial" panose="020B0604020202020204" pitchFamily="34" charset="0"/>
                          <a:cs typeface="Arial" panose="020B0604020202020204" pitchFamily="34" charset="0"/>
                        </a:rPr>
                        <a:t> </a:t>
                      </a:r>
                      <a:r>
                        <a:rPr lang="en-US" sz="2800" u="sng" noProof="0">
                          <a:solidFill>
                            <a:srgbClr val="D9D9D9"/>
                          </a:solidFill>
                          <a:latin typeface="Arial" panose="020B0604020202020204" pitchFamily="34" charset="0"/>
                          <a:cs typeface="Arial" panose="020B0604020202020204" pitchFamily="34" charset="0"/>
                        </a:rPr>
                        <a:t>are outside the template’s printable area</a:t>
                      </a:r>
                      <a:r>
                        <a:rPr lang="en-US" sz="2800" noProof="0">
                          <a:solidFill>
                            <a:srgbClr val="D9D9D9"/>
                          </a:solidFill>
                          <a:latin typeface="Arial" panose="020B0604020202020204" pitchFamily="34" charset="0"/>
                          <a:cs typeface="Arial" panose="020B0604020202020204" pitchFamily="34" charset="0"/>
                        </a:rPr>
                        <a:t> and they will not be on the printed poster</a:t>
                      </a:r>
                      <a:r>
                        <a:rPr lang="en-US" sz="2800" baseline="0" noProof="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To hide the guides click on the </a:t>
                      </a:r>
                      <a:r>
                        <a:rPr lang="en-US" sz="2800" b="1" baseline="0" noProof="0">
                          <a:solidFill>
                            <a:srgbClr val="D9D9D9"/>
                          </a:solidFill>
                          <a:latin typeface="Arial" panose="020B0604020202020204" pitchFamily="34" charset="0"/>
                          <a:cs typeface="Arial" panose="020B0604020202020204" pitchFamily="34" charset="0"/>
                        </a:rPr>
                        <a:t>Home</a:t>
                      </a:r>
                      <a:r>
                        <a:rPr lang="en-US" sz="2800" baseline="0" noProof="0">
                          <a:solidFill>
                            <a:srgbClr val="D9D9D9"/>
                          </a:solidFill>
                          <a:latin typeface="Arial" panose="020B0604020202020204" pitchFamily="34" charset="0"/>
                          <a:cs typeface="Arial" panose="020B0604020202020204" pitchFamily="34" charset="0"/>
                        </a:rPr>
                        <a:t> tab (top of the screen) and then click on the </a:t>
                      </a:r>
                      <a:r>
                        <a:rPr lang="en-US" sz="2800" b="1"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 button below to see the available layouts. Choose the </a:t>
                      </a:r>
                      <a:r>
                        <a:rPr lang="en-US" sz="2800" b="1" baseline="0" noProof="0">
                          <a:solidFill>
                            <a:srgbClr val="D9D9D9"/>
                          </a:solidFill>
                          <a:latin typeface="Arial" panose="020B0604020202020204" pitchFamily="34" charset="0"/>
                          <a:cs typeface="Arial" panose="020B0604020202020204" pitchFamily="34" charset="0"/>
                        </a:rPr>
                        <a:t>Without Guides </a:t>
                      </a:r>
                      <a:r>
                        <a:rPr lang="en-US" sz="2800" b="0"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a:t>
                      </a: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5"/>
                  </a:ext>
                </a:extLst>
              </a:tr>
              <a:tr h="6567070">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gridSpan="2" v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hMerge="1" vMerge="1">
                  <a:txBody>
                    <a:bodyPr/>
                    <a:lstStyle/>
                    <a:p>
                      <a:endParaRPr lang="en-US"/>
                    </a:p>
                  </a:txBody>
                  <a:tcPr/>
                </a:tc>
                <a:extLst>
                  <a:ext uri="{0D108BD9-81ED-4DB2-BD59-A6C34878D82A}">
                    <a16:rowId xmlns:a16="http://schemas.microsoft.com/office/drawing/2014/main" val="1766341567"/>
                  </a:ext>
                </a:extLst>
              </a:tr>
              <a:tr h="5578616">
                <a:tc>
                  <a:txBody>
                    <a:bodyPr/>
                    <a:lstStyle/>
                    <a:p>
                      <a:pPr rtl="0"/>
                      <a:r>
                        <a:rPr lang="en-US" sz="2800" b="1" dirty="0">
                          <a:solidFill>
                            <a:srgbClr val="FFC000"/>
                          </a:solidFill>
                          <a:latin typeface="Arial" panose="020B0604020202020204" pitchFamily="34" charset="0"/>
                          <a:cs typeface="Arial" panose="020B0604020202020204" pitchFamily="34" charset="0"/>
                        </a:rPr>
                        <a:t>How to</a:t>
                      </a:r>
                      <a:r>
                        <a:rPr lang="en-US" sz="2800" b="1" baseline="0" dirty="0">
                          <a:solidFill>
                            <a:srgbClr val="FFC000"/>
                          </a:solidFill>
                          <a:latin typeface="Arial" panose="020B0604020202020204" pitchFamily="34" charset="0"/>
                          <a:cs typeface="Arial" panose="020B0604020202020204" pitchFamily="34" charset="0"/>
                        </a:rPr>
                        <a:t> preview your poster prior to printing</a:t>
                      </a:r>
                      <a:endParaRPr lang="en-US" sz="2800" b="1" dirty="0">
                        <a:solidFill>
                          <a:srgbClr val="FFC000"/>
                        </a:solidFill>
                        <a:latin typeface="Arial" panose="020B0604020202020204" pitchFamily="34" charset="0"/>
                        <a:cs typeface="Arial" panose="020B0604020202020204" pitchFamily="34" charset="0"/>
                      </a:endParaRPr>
                    </a:p>
                    <a:p>
                      <a:pPr rtl="0"/>
                      <a:r>
                        <a:rPr lang="en-US" sz="2400" dirty="0">
                          <a:solidFill>
                            <a:srgbClr val="D9D9D9"/>
                          </a:solidFill>
                          <a:latin typeface="Arial" panose="020B0604020202020204" pitchFamily="34" charset="0"/>
                          <a:cs typeface="Arial" panose="020B0604020202020204" pitchFamily="34" charset="0"/>
                        </a:rPr>
                        <a:t>You can preview your poster at any time by pressing the </a:t>
                      </a:r>
                      <a:r>
                        <a:rPr lang="en-US" sz="2400" dirty="0">
                          <a:solidFill>
                            <a:srgbClr val="FFC000"/>
                          </a:solidFill>
                          <a:latin typeface="Arial" panose="020B0604020202020204" pitchFamily="34" charset="0"/>
                          <a:cs typeface="Arial" panose="020B0604020202020204" pitchFamily="34" charset="0"/>
                        </a:rPr>
                        <a:t>F5 key</a:t>
                      </a:r>
                      <a:r>
                        <a:rPr lang="en-US" sz="2400" dirty="0">
                          <a:solidFill>
                            <a:srgbClr val="D9D9D9"/>
                          </a:solidFill>
                          <a:latin typeface="Arial" panose="020B0604020202020204" pitchFamily="34" charset="0"/>
                          <a:cs typeface="Arial" panose="020B0604020202020204" pitchFamily="34" charset="0"/>
                        </a:rPr>
                        <a:t> on your keyboard. You will see on the screen what's on your poster and how it should look when printed. Press the </a:t>
                      </a:r>
                      <a:r>
                        <a:rPr lang="en-US" sz="2400" dirty="0">
                          <a:solidFill>
                            <a:srgbClr val="FFC000"/>
                          </a:solidFill>
                          <a:latin typeface="Arial" panose="020B0604020202020204" pitchFamily="34" charset="0"/>
                          <a:cs typeface="Arial" panose="020B0604020202020204" pitchFamily="34" charset="0"/>
                        </a:rPr>
                        <a:t>ESC key </a:t>
                      </a:r>
                      <a:r>
                        <a:rPr lang="en-US" sz="2400" dirty="0">
                          <a:solidFill>
                            <a:srgbClr val="D9D9D9"/>
                          </a:solidFill>
                          <a:latin typeface="Arial" panose="020B0604020202020204" pitchFamily="34" charset="0"/>
                          <a:cs typeface="Arial" panose="020B0604020202020204" pitchFamily="34" charset="0"/>
                        </a:rPr>
                        <a:t>to exit Preview.</a:t>
                      </a:r>
                    </a:p>
                  </a:txBody>
                  <a:tcPr marL="182880" marT="137160">
                    <a:solidFill>
                      <a:srgbClr val="010101"/>
                    </a:solidFill>
                  </a:tcPr>
                </a:tc>
                <a:tc gridSpan="2">
                  <a:txBody>
                    <a:bodyPr/>
                    <a:lstStyle/>
                    <a:p>
                      <a:pPr rtl="0"/>
                      <a:r>
                        <a:rPr lang="en-US" sz="11500" b="1" dirty="0">
                          <a:solidFill>
                            <a:srgbClr val="D9D9D9"/>
                          </a:solidFill>
                          <a:latin typeface="Arial" panose="020B0604020202020204" pitchFamily="34" charset="0"/>
                          <a:cs typeface="Arial" panose="020B0604020202020204" pitchFamily="34" charset="0"/>
                        </a:rPr>
                        <a:t>F5</a:t>
                      </a:r>
                      <a:r>
                        <a:rPr lang="en-US" sz="2400" baseline="0" dirty="0">
                          <a:solidFill>
                            <a:srgbClr val="D9D9D9"/>
                          </a:solidFill>
                          <a:latin typeface="Arial" panose="020B0604020202020204" pitchFamily="34" charset="0"/>
                          <a:cs typeface="Arial" panose="020B0604020202020204" pitchFamily="34" charset="0"/>
                        </a:rPr>
                        <a:t> </a:t>
                      </a:r>
                      <a:endParaRPr lang="en-US" sz="2400" dirty="0">
                        <a:solidFill>
                          <a:srgbClr val="D9D9D9"/>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tc hMerge="1">
                  <a:txBody>
                    <a:bodyPr/>
                    <a:lstStyle/>
                    <a:p>
                      <a:pPr algn="ctr"/>
                      <a:r>
                        <a:rPr lang="en-US" sz="13800" b="1" dirty="0">
                          <a:solidFill>
                            <a:srgbClr val="D9D9D9"/>
                          </a:solidFill>
                          <a:latin typeface="Arial" panose="020B0604020202020204" pitchFamily="34" charset="0"/>
                          <a:cs typeface="Arial" panose="020B0604020202020204" pitchFamily="34" charset="0"/>
                        </a:rPr>
                        <a:t>F5</a:t>
                      </a:r>
                      <a:r>
                        <a:rPr lang="en-US" sz="2800" baseline="0" dirty="0">
                          <a:solidFill>
                            <a:srgbClr val="D9D9D9"/>
                          </a:solidFill>
                          <a:latin typeface="Arial" panose="020B0604020202020204" pitchFamily="34" charset="0"/>
                          <a:cs typeface="Arial" panose="020B0604020202020204" pitchFamily="34" charset="0"/>
                        </a:rPr>
                        <a:t> </a:t>
                      </a:r>
                      <a:endParaRPr lang="en-US" sz="6000" dirty="0"/>
                    </a:p>
                  </a:txBody>
                  <a:tcPr marL="182880" marT="137160" anchor="ctr">
                    <a:solidFill>
                      <a:schemeClr val="tx1">
                        <a:lumMod val="95000"/>
                        <a:lumOff val="5000"/>
                      </a:schemeClr>
                    </a:solidFill>
                  </a:tcPr>
                </a:tc>
                <a:extLst>
                  <a:ext uri="{0D108BD9-81ED-4DB2-BD59-A6C34878D82A}">
                    <a16:rowId xmlns:a16="http://schemas.microsoft.com/office/drawing/2014/main" val="10006"/>
                  </a:ext>
                </a:extLst>
              </a:tr>
              <a:tr h="6401119">
                <a:tc gridSpan="3">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How to 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When you are ready to have your poster printed go online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and click on the "</a:t>
                      </a:r>
                      <a:r>
                        <a:rPr lang="en-US" sz="2400" noProof="0" dirty="0">
                          <a:solidFill>
                            <a:srgbClr val="FFC000"/>
                          </a:solidFill>
                          <a:latin typeface="Arial"/>
                          <a:cs typeface="Arial"/>
                        </a:rPr>
                        <a:t>Order Your Poster</a:t>
                      </a:r>
                      <a:r>
                        <a:rPr lang="en-US" sz="2400" noProof="0" dirty="0">
                          <a:solidFill>
                            <a:srgbClr val="D9D9D9"/>
                          </a:solidFill>
                          <a:latin typeface="Arial"/>
                          <a:cs typeface="Arial"/>
                        </a:rPr>
                        <a:t>" button. You can have your poster printed on professional papers, fabric for easy traveling and a variety of other materials. </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If you submit a PowerPoint document, you will be receiving a PDF proof for your approval prior to printing. If your order is placed and paid for before noon (Pacific time) Monday-Friday, your order will ship out that same day. FedEx Next day, Second day, Third day, and Free Ground services are offered. </a:t>
                      </a:r>
                    </a:p>
                    <a:p>
                      <a:pPr marL="0" marR="0" lvl="0" indent="0" algn="l" defTabSz="114300" rtl="0" eaLnBrk="1" fontAlgn="auto" latinLnBrk="0" hangingPunct="1">
                        <a:lnSpc>
                          <a:spcPct val="100000"/>
                        </a:lnSpc>
                        <a:spcBef>
                          <a:spcPts val="0"/>
                        </a:spcBef>
                        <a:spcAft>
                          <a:spcPts val="0"/>
                        </a:spcAft>
                        <a:buClrTx/>
                        <a:buSzTx/>
                        <a:buFontTx/>
                        <a:buNone/>
                        <a:tabLst/>
                        <a:defRPr/>
                      </a:pPr>
                      <a:br>
                        <a:rPr lang="en-US" sz="2400" noProof="0" dirty="0">
                          <a:solidFill>
                            <a:srgbClr val="D9D9D9"/>
                          </a:solidFill>
                          <a:latin typeface="Arial"/>
                          <a:cs typeface="Arial"/>
                        </a:rPr>
                      </a:br>
                      <a:r>
                        <a:rPr lang="en-US" sz="2400" noProof="0" dirty="0">
                          <a:solidFill>
                            <a:srgbClr val="D9D9D9"/>
                          </a:solidFill>
                          <a:latin typeface="Arial"/>
                          <a:cs typeface="Arial"/>
                        </a:rPr>
                        <a:t>Go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for more information.</a:t>
                      </a:r>
                    </a:p>
                  </a:txBody>
                  <a:tcPr marL="182880" marT="137160">
                    <a:solidFill>
                      <a:srgbClr val="01010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7"/>
                  </a:ext>
                </a:extLst>
              </a:tr>
              <a:tr h="1262579">
                <a:tc gridSpan="3">
                  <a:txBody>
                    <a:bodyPr/>
                    <a:lstStyle/>
                    <a:p>
                      <a:endParaRPr lang="en-US" sz="2400" dirty="0">
                        <a:solidFill>
                          <a:srgbClr val="1F3A4E"/>
                        </a:solidFill>
                      </a:endParaRPr>
                    </a:p>
                  </a:txBody>
                  <a:tcPr marL="182880" marT="137160">
                    <a:blipFill dpi="0" rotWithShape="1">
                      <a:blip r:embed="rId9">
                        <a:extLst>
                          <a:ext uri="{28A0092B-C50C-407E-A947-70E740481C1C}">
                            <a14:useLocalDpi xmlns:a14="http://schemas.microsoft.com/office/drawing/2010/main" val="0"/>
                          </a:ext>
                        </a:extLst>
                      </a:blip>
                      <a:srcRect/>
                      <a:stretch>
                        <a:fillRect/>
                      </a:stretch>
                    </a:blip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8"/>
                  </a:ext>
                </a:extLst>
              </a:tr>
              <a:tr h="1716228">
                <a:tc gridSpan="2">
                  <a:txBody>
                    <a:bodyPr/>
                    <a:lstStyle/>
                    <a:p>
                      <a:pPr>
                        <a:lnSpc>
                          <a:spcPts val="2600"/>
                        </a:lnSpc>
                      </a:pPr>
                      <a:r>
                        <a:rPr lang="en-US" sz="2000" dirty="0">
                          <a:solidFill>
                            <a:schemeClr val="bg1">
                              <a:lumMod val="85000"/>
                            </a:schemeClr>
                          </a:solidFill>
                          <a:latin typeface="Arial"/>
                          <a:cs typeface="Arial"/>
                        </a:rPr>
                        <a:t>© 2019</a:t>
                      </a:r>
                      <a:r>
                        <a:rPr lang="en-US" sz="2000" baseline="0" dirty="0">
                          <a:solidFill>
                            <a:schemeClr val="bg1">
                              <a:lumMod val="85000"/>
                            </a:schemeClr>
                          </a:solidFill>
                          <a:latin typeface="Arial"/>
                          <a:cs typeface="Arial"/>
                        </a:rPr>
                        <a:t> </a:t>
                      </a:r>
                      <a:r>
                        <a:rPr lang="en-US" sz="2000" dirty="0" err="1">
                          <a:solidFill>
                            <a:schemeClr val="bg1">
                              <a:lumMod val="85000"/>
                            </a:schemeClr>
                          </a:solidFill>
                          <a:latin typeface="Arial"/>
                          <a:cs typeface="Arial"/>
                        </a:rPr>
                        <a:t>PosterPresentations.com</a:t>
                      </a:r>
                      <a:br>
                        <a:rPr lang="en-US" sz="2000" dirty="0">
                          <a:solidFill>
                            <a:schemeClr val="bg1">
                              <a:lumMod val="85000"/>
                            </a:schemeClr>
                          </a:solidFill>
                          <a:latin typeface="Arial"/>
                          <a:cs typeface="Arial"/>
                        </a:rPr>
                      </a:br>
                      <a:r>
                        <a:rPr lang="en-US" sz="2000" dirty="0">
                          <a:solidFill>
                            <a:schemeClr val="bg1">
                              <a:lumMod val="85000"/>
                            </a:schemeClr>
                          </a:solidFill>
                          <a:latin typeface="Arial"/>
                          <a:cs typeface="Arial"/>
                        </a:rPr>
                        <a:t>2117 Fourth Street ,</a:t>
                      </a:r>
                      <a:r>
                        <a:rPr lang="en-US" sz="2000" baseline="0" dirty="0">
                          <a:solidFill>
                            <a:schemeClr val="bg1">
                              <a:lumMod val="85000"/>
                            </a:schemeClr>
                          </a:solidFill>
                          <a:latin typeface="Arial"/>
                          <a:cs typeface="Arial"/>
                        </a:rPr>
                        <a:t> STE C        </a:t>
                      </a:r>
                    </a:p>
                    <a:p>
                      <a:pPr>
                        <a:lnSpc>
                          <a:spcPts val="2600"/>
                        </a:lnSpc>
                      </a:pPr>
                      <a:r>
                        <a:rPr lang="en-US" sz="2000" baseline="0" dirty="0">
                          <a:solidFill>
                            <a:schemeClr val="bg1">
                              <a:lumMod val="85000"/>
                            </a:schemeClr>
                          </a:solidFill>
                          <a:latin typeface="Arial"/>
                          <a:cs typeface="Arial"/>
                        </a:rPr>
                        <a:t>Berkeley CA 94710 USA</a:t>
                      </a:r>
                      <a:endParaRPr lang="en-US" sz="2000" dirty="0">
                        <a:solidFill>
                          <a:schemeClr val="bg1">
                            <a:lumMod val="85000"/>
                          </a:schemeClr>
                        </a:solidFill>
                        <a:latin typeface="Arial"/>
                        <a:cs typeface="Arial"/>
                      </a:endParaRPr>
                    </a:p>
                  </a:txBody>
                  <a:tcPr marL="182880" marT="137160">
                    <a:solidFill>
                      <a:srgbClr val="010101"/>
                    </a:solidFill>
                  </a:tcPr>
                </a:tc>
                <a:tc hMerge="1">
                  <a:txBody>
                    <a:bodyPr/>
                    <a:lstStyle/>
                    <a:p>
                      <a:pPr>
                        <a:lnSpc>
                          <a:spcPts val="2600"/>
                        </a:lnSpc>
                      </a:pPr>
                      <a:endParaRPr lang="en-US" sz="2400" dirty="0">
                        <a:solidFill>
                          <a:schemeClr val="bg1">
                            <a:lumMod val="85000"/>
                          </a:schemeClr>
                        </a:solidFill>
                        <a:latin typeface="Arial"/>
                        <a:cs typeface="Arial"/>
                      </a:endParaRPr>
                    </a:p>
                  </a:txBody>
                  <a:tcPr marL="182880" marT="137160">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400" b="1" dirty="0">
                          <a:solidFill>
                            <a:srgbClr val="D0D0D0"/>
                          </a:solidFill>
                          <a:latin typeface="Arial"/>
                          <a:cs typeface="Arial"/>
                        </a:rPr>
                        <a:t>For complete tutorials</a:t>
                      </a:r>
                      <a:r>
                        <a:rPr lang="en-US" sz="2400" b="1" baseline="0" dirty="0">
                          <a:solidFill>
                            <a:srgbClr val="D0D0D0"/>
                          </a:solidFill>
                          <a:latin typeface="Arial"/>
                          <a:cs typeface="Arial"/>
                        </a:rPr>
                        <a:t> visit:</a:t>
                      </a:r>
                    </a:p>
                    <a:p>
                      <a:pPr marL="0" marR="0" indent="0" algn="l" defTabSz="4388900" rtl="0" eaLnBrk="1" fontAlgn="auto" latinLnBrk="0" hangingPunct="1">
                        <a:lnSpc>
                          <a:spcPct val="100000"/>
                        </a:lnSpc>
                        <a:spcBef>
                          <a:spcPts val="0"/>
                        </a:spcBef>
                        <a:spcAft>
                          <a:spcPts val="0"/>
                        </a:spcAft>
                        <a:buClrTx/>
                        <a:buSzTx/>
                        <a:buFontTx/>
                        <a:buNone/>
                        <a:tabLst/>
                        <a:defRPr/>
                      </a:pPr>
                      <a:r>
                        <a:rPr lang="en-US" sz="1800" b="1" dirty="0">
                          <a:solidFill>
                            <a:srgbClr val="FFC000"/>
                          </a:solidFill>
                          <a:latin typeface="Arial"/>
                          <a:cs typeface="Arial"/>
                        </a:rPr>
                        <a:t>https://</a:t>
                      </a:r>
                      <a:r>
                        <a:rPr lang="en-US" sz="1800" b="1" dirty="0" err="1">
                          <a:solidFill>
                            <a:srgbClr val="FFC000"/>
                          </a:solidFill>
                          <a:latin typeface="Arial"/>
                          <a:cs typeface="Arial"/>
                        </a:rPr>
                        <a:t>www.posterpresentations.com</a:t>
                      </a:r>
                      <a:r>
                        <a:rPr lang="en-US" sz="1800" b="1" dirty="0">
                          <a:solidFill>
                            <a:srgbClr val="FFC000"/>
                          </a:solidFill>
                          <a:latin typeface="Arial"/>
                          <a:cs typeface="Arial"/>
                        </a:rPr>
                        <a:t>/</a:t>
                      </a:r>
                      <a:r>
                        <a:rPr lang="en-US" sz="1800" b="1" dirty="0" err="1">
                          <a:solidFill>
                            <a:srgbClr val="FFC000"/>
                          </a:solidFill>
                          <a:latin typeface="Arial"/>
                          <a:cs typeface="Arial"/>
                        </a:rPr>
                        <a:t>helpdesk.html</a:t>
                      </a:r>
                      <a:endParaRPr lang="en-US" sz="13800" dirty="0"/>
                    </a:p>
                  </a:txBody>
                  <a:tcPr marL="182880" marT="137160">
                    <a:solidFill>
                      <a:srgbClr val="010101"/>
                    </a:solidFill>
                  </a:tcPr>
                </a:tc>
                <a:extLst>
                  <a:ext uri="{0D108BD9-81ED-4DB2-BD59-A6C34878D82A}">
                    <a16:rowId xmlns:a16="http://schemas.microsoft.com/office/drawing/2014/main" val="10009"/>
                  </a:ext>
                </a:extLst>
              </a:tr>
            </a:tbl>
          </a:graphicData>
        </a:graphic>
      </p:graphicFrame>
    </p:spTree>
  </p:cSld>
  <p:clrMap bg1="lt1" tx1="dk1" bg2="lt2" tx2="dk2" accent1="accent1" accent2="accent2" accent3="accent3" accent4="accent4" accent5="accent5" accent6="accent6" hlink="hlink" folHlink="folHlink"/>
  <p:sldLayoutIdLst>
    <p:sldLayoutId id="2147483654" r:id="rId1"/>
  </p:sldLayoutIdLst>
  <p:txStyles>
    <p:titleStyle>
      <a:lvl1pPr algn="ctr" defTabSz="3599776" rtl="0" eaLnBrk="1" latinLnBrk="0" hangingPunct="1">
        <a:spcBef>
          <a:spcPct val="0"/>
        </a:spcBef>
        <a:buNone/>
        <a:defRPr sz="7200" kern="1200">
          <a:solidFill>
            <a:schemeClr val="bg1"/>
          </a:solidFill>
          <a:latin typeface="Trebuchet MS" pitchFamily="34" charset="0"/>
          <a:ea typeface="+mj-ea"/>
          <a:cs typeface="+mj-cs"/>
        </a:defRPr>
      </a:lvl1pPr>
    </p:titleStyle>
    <p:bodyStyle>
      <a:lvl1pPr marL="1349916" indent="-1349916" algn="l" defTabSz="3599776" rtl="0" eaLnBrk="1" latinLnBrk="0" hangingPunct="1">
        <a:spcBef>
          <a:spcPct val="20000"/>
        </a:spcBef>
        <a:buFont typeface="Arial" pitchFamily="34" charset="0"/>
        <a:buChar char="•"/>
        <a:defRPr sz="12600" kern="1200">
          <a:solidFill>
            <a:schemeClr val="tx1"/>
          </a:solidFill>
          <a:latin typeface="+mn-lt"/>
          <a:ea typeface="+mn-ea"/>
          <a:cs typeface="+mn-cs"/>
        </a:defRPr>
      </a:lvl1pPr>
      <a:lvl2pPr marL="2924818" indent="-1124930" algn="l" defTabSz="3599776" rtl="0" eaLnBrk="1" latinLnBrk="0" hangingPunct="1">
        <a:spcBef>
          <a:spcPct val="20000"/>
        </a:spcBef>
        <a:buFont typeface="Arial" pitchFamily="34" charset="0"/>
        <a:buChar char="–"/>
        <a:defRPr sz="11100" kern="1200">
          <a:solidFill>
            <a:schemeClr val="tx1"/>
          </a:solidFill>
          <a:latin typeface="+mn-lt"/>
          <a:ea typeface="+mn-ea"/>
          <a:cs typeface="+mn-cs"/>
        </a:defRPr>
      </a:lvl2pPr>
      <a:lvl3pPr marL="4499721" indent="-899945" algn="l" defTabSz="3599776" rtl="0" eaLnBrk="1" latinLnBrk="0" hangingPunct="1">
        <a:spcBef>
          <a:spcPct val="20000"/>
        </a:spcBef>
        <a:buFont typeface="Arial" pitchFamily="34" charset="0"/>
        <a:buChar char="•"/>
        <a:defRPr sz="9500" kern="1200">
          <a:solidFill>
            <a:schemeClr val="tx1"/>
          </a:solidFill>
          <a:latin typeface="+mn-lt"/>
          <a:ea typeface="+mn-ea"/>
          <a:cs typeface="+mn-cs"/>
        </a:defRPr>
      </a:lvl3pPr>
      <a:lvl4pPr marL="629960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4pPr>
      <a:lvl5pPr marL="8099496"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5pPr>
      <a:lvl6pPr marL="9899385"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6pPr>
      <a:lvl7pPr marL="11699272"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7pPr>
      <a:lvl8pPr marL="13499161"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8pPr>
      <a:lvl9pPr marL="1529904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9pPr>
    </p:bodyStyle>
    <p:other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 Id="rId9"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9293" y="520486"/>
            <a:ext cx="23760000" cy="468000"/>
          </a:xfrm>
          <a:prstGeom prst="rect">
            <a:avLst/>
          </a:prstGeom>
          <a:noFill/>
        </p:spPr>
        <p:txBody>
          <a:bodyPr wrap="square" lIns="36000" tIns="36000" rIns="36000" bIns="36000" anchor="ctr">
            <a:spAutoFit/>
          </a:bodyPr>
          <a:lstStyle/>
          <a:p>
            <a:pPr algn="ctr">
              <a:lnSpc>
                <a:spcPct val="105000"/>
              </a:lnSpc>
              <a:spcBef>
                <a:spcPts val="0"/>
              </a:spcBef>
              <a:spcAft>
                <a:spcPts val="0"/>
              </a:spcAft>
            </a:pPr>
            <a:r>
              <a:rPr sz="3200" b="1" i="0" dirty="0">
                <a:solidFill>
                  <a:srgbClr val="5E6E2E"/>
                </a:solidFill>
                <a:latin typeface="Calibri"/>
              </a:rPr>
              <a:t>RUPPIN ACADEMIC CENTER    ·    DEPARTMENT OF COMPUTER SCIENCE    ·    AI &amp; DATA SCIENCE SPECIALIZATION</a:t>
            </a:r>
          </a:p>
        </p:txBody>
      </p:sp>
      <p:sp>
        <p:nvSpPr>
          <p:cNvPr id="3" name="TextBox 2"/>
          <p:cNvSpPr txBox="1"/>
          <p:nvPr/>
        </p:nvSpPr>
        <p:spPr>
          <a:xfrm>
            <a:off x="3259293" y="1030972"/>
            <a:ext cx="18720000" cy="1919363"/>
          </a:xfrm>
          <a:prstGeom prst="rect">
            <a:avLst/>
          </a:prstGeom>
          <a:noFill/>
        </p:spPr>
        <p:txBody>
          <a:bodyPr wrap="square" lIns="36000" tIns="36000" rIns="36000" bIns="36000" anchor="ctr">
            <a:spAutoFit/>
          </a:bodyPr>
          <a:lstStyle/>
          <a:p>
            <a:pPr algn="ctr">
              <a:lnSpc>
                <a:spcPct val="100000"/>
              </a:lnSpc>
              <a:spcBef>
                <a:spcPts val="0"/>
              </a:spcBef>
              <a:spcAft>
                <a:spcPts val="0"/>
              </a:spcAft>
            </a:pPr>
            <a:r>
              <a:rPr sz="6000" b="1" i="0" dirty="0">
                <a:solidFill>
                  <a:srgbClr val="3D4A1F"/>
                </a:solidFill>
                <a:latin typeface="Cambria"/>
              </a:rPr>
              <a:t>Predictive Modeling of Root-Zone Variables
Using Greenhouse Data</a:t>
            </a:r>
          </a:p>
        </p:txBody>
      </p:sp>
      <p:sp>
        <p:nvSpPr>
          <p:cNvPr id="4" name="TextBox 3"/>
          <p:cNvSpPr txBox="1"/>
          <p:nvPr/>
        </p:nvSpPr>
        <p:spPr>
          <a:xfrm>
            <a:off x="3259293" y="2975845"/>
            <a:ext cx="8284343" cy="630869"/>
          </a:xfrm>
          <a:prstGeom prst="rect">
            <a:avLst/>
          </a:prstGeom>
          <a:noFill/>
        </p:spPr>
        <p:txBody>
          <a:bodyPr wrap="square" lIns="36000" tIns="36000" rIns="36000" bIns="36000" anchor="ctr">
            <a:spAutoFit/>
          </a:bodyPr>
          <a:lstStyle/>
          <a:p>
            <a:pPr algn="ctr">
              <a:lnSpc>
                <a:spcPct val="105000"/>
              </a:lnSpc>
              <a:spcBef>
                <a:spcPts val="0"/>
              </a:spcBef>
              <a:spcAft>
                <a:spcPts val="0"/>
              </a:spcAft>
            </a:pPr>
            <a:r>
              <a:rPr lang="en-US" sz="3600" b="1" i="0" dirty="0">
                <a:solidFill>
                  <a:srgbClr val="3D4A1F"/>
                </a:solidFill>
                <a:latin typeface="Calibri"/>
              </a:rPr>
              <a:t>Students: </a:t>
            </a:r>
            <a:r>
              <a:rPr sz="3600" b="1" i="0" dirty="0">
                <a:solidFill>
                  <a:srgbClr val="3D4A1F"/>
                </a:solidFill>
                <a:latin typeface="Calibri"/>
              </a:rPr>
              <a:t>Eden Eliyahu</a:t>
            </a:r>
            <a:r>
              <a:rPr lang="en-US" sz="3600" b="1" dirty="0">
                <a:solidFill>
                  <a:srgbClr val="3D4A1F"/>
                </a:solidFill>
                <a:latin typeface="Calibri"/>
              </a:rPr>
              <a:t>, </a:t>
            </a:r>
            <a:r>
              <a:rPr sz="3600" b="1" i="0" dirty="0">
                <a:solidFill>
                  <a:srgbClr val="3D4A1F"/>
                </a:solidFill>
                <a:latin typeface="Calibri"/>
              </a:rPr>
              <a:t>Oren Chaushu</a:t>
            </a:r>
          </a:p>
        </p:txBody>
      </p:sp>
      <p:sp>
        <p:nvSpPr>
          <p:cNvPr id="5" name="TextBox 4"/>
          <p:cNvSpPr txBox="1"/>
          <p:nvPr/>
        </p:nvSpPr>
        <p:spPr>
          <a:xfrm>
            <a:off x="12615312" y="2975844"/>
            <a:ext cx="9356019" cy="630869"/>
          </a:xfrm>
          <a:prstGeom prst="rect">
            <a:avLst/>
          </a:prstGeom>
          <a:noFill/>
        </p:spPr>
        <p:txBody>
          <a:bodyPr wrap="square" lIns="36000" tIns="36000" rIns="36000" bIns="36000" anchor="ctr">
            <a:spAutoFit/>
          </a:bodyPr>
          <a:lstStyle/>
          <a:p>
            <a:pPr algn="ctr">
              <a:lnSpc>
                <a:spcPct val="105000"/>
              </a:lnSpc>
            </a:pPr>
            <a:r>
              <a:rPr sz="3600" b="1" dirty="0">
                <a:solidFill>
                  <a:srgbClr val="3D4A1F"/>
                </a:solidFill>
                <a:latin typeface="Calibri"/>
              </a:rPr>
              <a:t>Supervisors:  Dr. Avner Priel</a:t>
            </a:r>
            <a:r>
              <a:rPr lang="en-US" sz="3600" b="1" dirty="0">
                <a:solidFill>
                  <a:srgbClr val="3D4A1F"/>
                </a:solidFill>
                <a:latin typeface="Calibri"/>
              </a:rPr>
              <a:t>, </a:t>
            </a:r>
            <a:r>
              <a:rPr sz="3600" b="1" dirty="0">
                <a:solidFill>
                  <a:srgbClr val="3D4A1F"/>
                </a:solidFill>
                <a:latin typeface="Calibri"/>
              </a:rPr>
              <a:t>Dr. Alaa Jamal</a:t>
            </a:r>
          </a:p>
        </p:txBody>
      </p:sp>
      <p:sp>
        <p:nvSpPr>
          <p:cNvPr id="6" name="Rounded Rectangle 5"/>
          <p:cNvSpPr/>
          <p:nvPr/>
        </p:nvSpPr>
        <p:spPr>
          <a:xfrm>
            <a:off x="1459293" y="3715804"/>
            <a:ext cx="22320000" cy="57600"/>
          </a:xfrm>
          <a:prstGeom prst="roundRect">
            <a:avLst>
              <a:gd name="adj" fmla="val 50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67293" y="3859803"/>
            <a:ext cx="11664000" cy="3814473"/>
          </a:xfrm>
          <a:prstGeom prst="roundRect">
            <a:avLst>
              <a:gd name="adj" fmla="val 5663"/>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8" name="Rounded Rectangle 7"/>
          <p:cNvSpPr/>
          <p:nvPr/>
        </p:nvSpPr>
        <p:spPr>
          <a:xfrm>
            <a:off x="937292" y="4111804"/>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dirty="0">
                <a:solidFill>
                  <a:srgbClr val="FFFFFF"/>
                </a:solidFill>
                <a:latin typeface="+mj-lt"/>
              </a:rPr>
              <a:t>01</a:t>
            </a:r>
          </a:p>
        </p:txBody>
      </p:sp>
      <p:sp>
        <p:nvSpPr>
          <p:cNvPr id="9" name="TextBox 8"/>
          <p:cNvSpPr txBox="1"/>
          <p:nvPr/>
        </p:nvSpPr>
        <p:spPr>
          <a:xfrm>
            <a:off x="1693293" y="4102654"/>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Motivation</a:t>
            </a:r>
          </a:p>
        </p:txBody>
      </p:sp>
      <p:sp>
        <p:nvSpPr>
          <p:cNvPr id="10" name="Rectangle 9"/>
          <p:cNvSpPr/>
          <p:nvPr/>
        </p:nvSpPr>
        <p:spPr>
          <a:xfrm>
            <a:off x="955293" y="4777604"/>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p>
        </p:txBody>
      </p:sp>
      <p:sp>
        <p:nvSpPr>
          <p:cNvPr id="11" name="TextBox 10"/>
          <p:cNvSpPr txBox="1"/>
          <p:nvPr/>
        </p:nvSpPr>
        <p:spPr>
          <a:xfrm>
            <a:off x="973293" y="4890553"/>
            <a:ext cx="11087999" cy="2405201"/>
          </a:xfrm>
          <a:prstGeom prst="rect">
            <a:avLst/>
          </a:prstGeom>
          <a:noFill/>
        </p:spPr>
        <p:txBody>
          <a:bodyPr wrap="square" lIns="36000" tIns="36000" rIns="36000" bIns="36000" anchor="t">
            <a:spAutoFit/>
          </a:bodyPr>
          <a:lstStyle/>
          <a:p>
            <a:pPr>
              <a:lnSpc>
                <a:spcPct val="106000"/>
              </a:lnSpc>
              <a:spcAft>
                <a:spcPts val="500"/>
              </a:spcAft>
            </a:pPr>
            <a:r>
              <a:rPr lang="en-US" sz="2400" dirty="0">
                <a:solidFill>
                  <a:schemeClr val="tx2">
                    <a:lumMod val="75000"/>
                  </a:schemeClr>
                </a:solidFill>
              </a:rPr>
              <a:t>Root-zone pH and EC affect nutrient availability, salinity stress, and fertilizer efficiency.</a:t>
            </a:r>
            <a:br>
              <a:rPr lang="en-US" sz="2400" dirty="0">
                <a:solidFill>
                  <a:schemeClr val="tx2">
                    <a:lumMod val="75000"/>
                  </a:schemeClr>
                </a:solidFill>
              </a:rPr>
            </a:br>
            <a:r>
              <a:rPr lang="en-US" sz="2400" dirty="0">
                <a:solidFill>
                  <a:schemeClr val="tx2">
                    <a:lumMod val="75000"/>
                  </a:schemeClr>
                </a:solidFill>
              </a:rPr>
              <a:t>In greenhouses, they are typically monitored through accurate but infrequent manual samples, leaving gaps where changes from irrigation, fertigation, climate, and plant uptake may be missed. </a:t>
            </a:r>
            <a:br>
              <a:rPr lang="en-US" sz="2400" dirty="0">
                <a:solidFill>
                  <a:schemeClr val="tx2">
                    <a:lumMod val="75000"/>
                  </a:schemeClr>
                </a:solidFill>
              </a:rPr>
            </a:br>
            <a:r>
              <a:rPr lang="en-US" sz="2400" dirty="0">
                <a:solidFill>
                  <a:schemeClr val="tx2">
                    <a:lumMod val="75000"/>
                  </a:schemeClr>
                </a:solidFill>
              </a:rPr>
              <a:t>Predicting pH and EC from greenhouse data can give growers earlier insight, support faster corrections, and improve crop management.</a:t>
            </a:r>
          </a:p>
        </p:txBody>
      </p:sp>
      <p:sp>
        <p:nvSpPr>
          <p:cNvPr id="12" name="Rounded Rectangle 11"/>
          <p:cNvSpPr/>
          <p:nvPr/>
        </p:nvSpPr>
        <p:spPr>
          <a:xfrm>
            <a:off x="667293" y="7936729"/>
            <a:ext cx="11664000" cy="3814473"/>
          </a:xfrm>
          <a:prstGeom prst="roundRect">
            <a:avLst>
              <a:gd name="adj" fmla="val 5663"/>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3" name="Rounded Rectangle 12"/>
          <p:cNvSpPr/>
          <p:nvPr/>
        </p:nvSpPr>
        <p:spPr>
          <a:xfrm>
            <a:off x="937292" y="8172309"/>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dirty="0">
                <a:solidFill>
                  <a:srgbClr val="FFFFFF"/>
                </a:solidFill>
                <a:latin typeface="+mj-lt"/>
              </a:rPr>
              <a:t>02</a:t>
            </a:r>
          </a:p>
        </p:txBody>
      </p:sp>
      <p:sp>
        <p:nvSpPr>
          <p:cNvPr id="14" name="TextBox 13"/>
          <p:cNvSpPr txBox="1"/>
          <p:nvPr/>
        </p:nvSpPr>
        <p:spPr>
          <a:xfrm>
            <a:off x="1693293" y="8163159"/>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Project Goal</a:t>
            </a:r>
          </a:p>
        </p:txBody>
      </p:sp>
      <p:sp>
        <p:nvSpPr>
          <p:cNvPr id="15" name="Rectangle 14"/>
          <p:cNvSpPr/>
          <p:nvPr/>
        </p:nvSpPr>
        <p:spPr>
          <a:xfrm>
            <a:off x="955293" y="883810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37292" y="8942091"/>
            <a:ext cx="11087999" cy="1699110"/>
          </a:xfrm>
          <a:prstGeom prst="rect">
            <a:avLst/>
          </a:prstGeom>
          <a:noFill/>
        </p:spPr>
        <p:txBody>
          <a:bodyPr wrap="square" lIns="36000" tIns="36000" rIns="36000" bIns="36000" anchor="t">
            <a:spAutoFit/>
          </a:bodyPr>
          <a:lstStyle/>
          <a:p>
            <a:pPr>
              <a:lnSpc>
                <a:spcPct val="106000"/>
              </a:lnSpc>
              <a:spcAft>
                <a:spcPts val="600"/>
              </a:spcAft>
            </a:pPr>
            <a:r>
              <a:rPr lang="en-US" sz="2400" dirty="0">
                <a:solidFill>
                  <a:schemeClr val="tx2">
                    <a:lumMod val="75000"/>
                  </a:schemeClr>
                </a:solidFill>
              </a:rPr>
              <a:t>▪ Develop a soft sensor that predicts future root-zone pH and EC from the latest measurement, forecasted climate, planned irrigation/fertigation and crop-state data.</a:t>
            </a:r>
          </a:p>
          <a:p>
            <a:pPr>
              <a:lnSpc>
                <a:spcPct val="106000"/>
              </a:lnSpc>
              <a:spcAft>
                <a:spcPts val="600"/>
              </a:spcAft>
            </a:pPr>
            <a:r>
              <a:rPr lang="en-US" sz="2400" dirty="0">
                <a:solidFill>
                  <a:schemeClr val="tx2">
                    <a:lumMod val="75000"/>
                  </a:schemeClr>
                </a:solidFill>
              </a:rPr>
              <a:t>▪ Estimate the t₀ → t₁ change so growers can test a planned irrigation/fertigation strategy, see expected future pH/EC values, and adjust before conditions drift.</a:t>
            </a:r>
          </a:p>
        </p:txBody>
      </p:sp>
      <p:sp>
        <p:nvSpPr>
          <p:cNvPr id="17" name="Rounded Rectangle 16"/>
          <p:cNvSpPr/>
          <p:nvPr/>
        </p:nvSpPr>
        <p:spPr>
          <a:xfrm>
            <a:off x="667293" y="11995804"/>
            <a:ext cx="11664000" cy="5256000"/>
          </a:xfrm>
          <a:prstGeom prst="roundRect">
            <a:avLst>
              <a:gd name="adj" fmla="val 411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937292" y="12247803"/>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dirty="0">
                <a:solidFill>
                  <a:srgbClr val="FFFFFF"/>
                </a:solidFill>
                <a:latin typeface="+mj-lt"/>
              </a:rPr>
              <a:t>03</a:t>
            </a:r>
          </a:p>
        </p:txBody>
      </p:sp>
      <p:sp>
        <p:nvSpPr>
          <p:cNvPr id="19" name="TextBox 18"/>
          <p:cNvSpPr txBox="1"/>
          <p:nvPr/>
        </p:nvSpPr>
        <p:spPr>
          <a:xfrm>
            <a:off x="1693293" y="12238654"/>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Data</a:t>
            </a:r>
          </a:p>
        </p:txBody>
      </p:sp>
      <p:sp>
        <p:nvSpPr>
          <p:cNvPr id="20" name="Rectangle 19"/>
          <p:cNvSpPr/>
          <p:nvPr/>
        </p:nvSpPr>
        <p:spPr>
          <a:xfrm>
            <a:off x="955293" y="12939004"/>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973293" y="13057803"/>
            <a:ext cx="3564000" cy="1224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4800" b="1" i="0" dirty="0">
                <a:solidFill>
                  <a:srgbClr val="3D4A1F"/>
                </a:solidFill>
                <a:latin typeface="Calibri"/>
              </a:rPr>
              <a:t>16,682</a:t>
            </a:r>
          </a:p>
          <a:p>
            <a:pPr algn="ctr">
              <a:lnSpc>
                <a:spcPct val="95000"/>
              </a:lnSpc>
              <a:spcBef>
                <a:spcPts val="200"/>
              </a:spcBef>
              <a:spcAft>
                <a:spcPts val="0"/>
              </a:spcAft>
            </a:pPr>
            <a:r>
              <a:rPr sz="3200" b="1" i="0" dirty="0">
                <a:solidFill>
                  <a:srgbClr val="2E3517"/>
                </a:solidFill>
                <a:latin typeface="Calibri"/>
              </a:rPr>
              <a:t>10-min rows</a:t>
            </a:r>
          </a:p>
        </p:txBody>
      </p:sp>
      <p:sp>
        <p:nvSpPr>
          <p:cNvPr id="22" name="Rounded Rectangle 21"/>
          <p:cNvSpPr/>
          <p:nvPr/>
        </p:nvSpPr>
        <p:spPr>
          <a:xfrm>
            <a:off x="4717293" y="13057803"/>
            <a:ext cx="3564000" cy="1224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4800" b="1" i="0" dirty="0">
                <a:solidFill>
                  <a:srgbClr val="3D4A1F"/>
                </a:solidFill>
                <a:latin typeface="Calibri"/>
              </a:rPr>
              <a:t>109</a:t>
            </a:r>
          </a:p>
          <a:p>
            <a:pPr algn="ctr">
              <a:lnSpc>
                <a:spcPct val="95000"/>
              </a:lnSpc>
              <a:spcBef>
                <a:spcPts val="200"/>
              </a:spcBef>
              <a:spcAft>
                <a:spcPts val="0"/>
              </a:spcAft>
            </a:pPr>
            <a:r>
              <a:rPr sz="3200" b="1" i="0" dirty="0">
                <a:solidFill>
                  <a:srgbClr val="2E3517"/>
                </a:solidFill>
                <a:latin typeface="Calibri"/>
              </a:rPr>
              <a:t>pH/EC labels</a:t>
            </a:r>
          </a:p>
        </p:txBody>
      </p:sp>
      <p:sp>
        <p:nvSpPr>
          <p:cNvPr id="23" name="Rounded Rectangle 22"/>
          <p:cNvSpPr/>
          <p:nvPr/>
        </p:nvSpPr>
        <p:spPr>
          <a:xfrm>
            <a:off x="8461293" y="13057803"/>
            <a:ext cx="3564000" cy="1224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lang="he-IL" sz="4800" b="1" dirty="0">
                <a:solidFill>
                  <a:srgbClr val="3D4A1F"/>
                </a:solidFill>
                <a:latin typeface="+mj-lt"/>
              </a:rPr>
              <a:t>+</a:t>
            </a:r>
            <a:r>
              <a:rPr lang="he-IL" sz="4800" b="1" i="0" dirty="0">
                <a:solidFill>
                  <a:srgbClr val="3D4A1F"/>
                </a:solidFill>
                <a:latin typeface="+mj-lt"/>
              </a:rPr>
              <a:t>20</a:t>
            </a:r>
            <a:endParaRPr sz="4800" b="1" i="0" dirty="0">
              <a:solidFill>
                <a:srgbClr val="3D4A1F"/>
              </a:solidFill>
              <a:latin typeface="+mj-lt"/>
            </a:endParaRPr>
          </a:p>
          <a:p>
            <a:pPr algn="ctr">
              <a:lnSpc>
                <a:spcPct val="95000"/>
              </a:lnSpc>
              <a:spcBef>
                <a:spcPts val="200"/>
              </a:spcBef>
              <a:spcAft>
                <a:spcPts val="0"/>
              </a:spcAft>
            </a:pPr>
            <a:r>
              <a:rPr sz="3200" b="1" i="0" dirty="0">
                <a:solidFill>
                  <a:srgbClr val="2E3517"/>
                </a:solidFill>
                <a:latin typeface="Calibri"/>
              </a:rPr>
              <a:t>input features</a:t>
            </a:r>
          </a:p>
        </p:txBody>
      </p:sp>
      <p:sp>
        <p:nvSpPr>
          <p:cNvPr id="24" name="TextBox 23"/>
          <p:cNvSpPr txBox="1"/>
          <p:nvPr/>
        </p:nvSpPr>
        <p:spPr>
          <a:xfrm>
            <a:off x="973293" y="14502883"/>
            <a:ext cx="11160000" cy="2456497"/>
          </a:xfrm>
          <a:prstGeom prst="rect">
            <a:avLst/>
          </a:prstGeom>
          <a:noFill/>
        </p:spPr>
        <p:txBody>
          <a:bodyPr wrap="square" lIns="36000" tIns="36000" rIns="36000" bIns="36000" anchor="t">
            <a:spAutoFit/>
          </a:bodyPr>
          <a:lstStyle/>
          <a:p>
            <a:pPr>
              <a:lnSpc>
                <a:spcPct val="106000"/>
              </a:lnSpc>
              <a:spcAft>
                <a:spcPts val="400"/>
              </a:spcAft>
            </a:pPr>
            <a:r>
              <a:rPr lang="en-US" sz="2400" b="1" dirty="0">
                <a:solidFill>
                  <a:schemeClr val="tx2">
                    <a:lumMod val="75000"/>
                  </a:schemeClr>
                </a:solidFill>
              </a:rPr>
              <a:t>Unified 10-minute master dataset, May 29 – Sep 21, 2025:</a:t>
            </a:r>
            <a:br>
              <a:rPr lang="en-US" sz="2400" dirty="0">
                <a:solidFill>
                  <a:schemeClr val="tx2">
                    <a:lumMod val="75000"/>
                  </a:schemeClr>
                </a:solidFill>
              </a:rPr>
            </a:br>
            <a:r>
              <a:rPr lang="he-IL" sz="2400" b="1" dirty="0">
                <a:solidFill>
                  <a:srgbClr val="5E6E2E"/>
                </a:solidFill>
              </a:rPr>
              <a:t>▪</a:t>
            </a:r>
            <a:r>
              <a:rPr lang="en-US" sz="2400" dirty="0">
                <a:solidFill>
                  <a:schemeClr val="tx2">
                    <a:lumMod val="75000"/>
                  </a:schemeClr>
                </a:solidFill>
              </a:rPr>
              <a:t> </a:t>
            </a:r>
            <a:r>
              <a:rPr lang="en-US" sz="2400" b="1" dirty="0">
                <a:solidFill>
                  <a:schemeClr val="tx2">
                    <a:lumMod val="75000"/>
                  </a:schemeClr>
                </a:solidFill>
              </a:rPr>
              <a:t>External weather &amp; solar radiation — </a:t>
            </a:r>
            <a:r>
              <a:rPr lang="en-US" sz="2400" dirty="0">
                <a:solidFill>
                  <a:schemeClr val="tx2">
                    <a:lumMod val="75000"/>
                  </a:schemeClr>
                </a:solidFill>
              </a:rPr>
              <a:t>weather station / solar sensor</a:t>
            </a:r>
          </a:p>
          <a:p>
            <a:pPr>
              <a:lnSpc>
                <a:spcPct val="106000"/>
              </a:lnSpc>
              <a:spcAft>
                <a:spcPts val="400"/>
              </a:spcAft>
            </a:pPr>
            <a:r>
              <a:rPr lang="he-IL" sz="2400" b="1" dirty="0">
                <a:solidFill>
                  <a:srgbClr val="5E6E2E"/>
                </a:solidFill>
              </a:rPr>
              <a:t>▪</a:t>
            </a:r>
            <a:r>
              <a:rPr lang="en-US" sz="2400" dirty="0">
                <a:solidFill>
                  <a:schemeClr val="tx2">
                    <a:lumMod val="75000"/>
                  </a:schemeClr>
                </a:solidFill>
              </a:rPr>
              <a:t> </a:t>
            </a:r>
            <a:r>
              <a:rPr lang="en-US" sz="2400" b="1" dirty="0">
                <a:solidFill>
                  <a:schemeClr val="tx2">
                    <a:lumMod val="75000"/>
                  </a:schemeClr>
                </a:solidFill>
              </a:rPr>
              <a:t>Greenhouse micro-climate </a:t>
            </a:r>
            <a:r>
              <a:rPr lang="he-IL" sz="2400" dirty="0"/>
              <a:t>—</a:t>
            </a:r>
            <a:r>
              <a:rPr lang="en-US" sz="2400" dirty="0"/>
              <a:t> </a:t>
            </a:r>
            <a:r>
              <a:rPr lang="en-US" sz="2400" dirty="0">
                <a:solidFill>
                  <a:schemeClr val="tx2">
                    <a:lumMod val="75000"/>
                  </a:schemeClr>
                </a:solidFill>
              </a:rPr>
              <a:t>internal sensors</a:t>
            </a:r>
            <a:br>
              <a:rPr lang="en-US" sz="2400" dirty="0">
                <a:solidFill>
                  <a:schemeClr val="tx2">
                    <a:lumMod val="75000"/>
                  </a:schemeClr>
                </a:solidFill>
              </a:rPr>
            </a:br>
            <a:r>
              <a:rPr lang="he-IL" sz="2400" b="1" dirty="0">
                <a:solidFill>
                  <a:srgbClr val="5E6E2E"/>
                </a:solidFill>
              </a:rPr>
              <a:t>▪</a:t>
            </a:r>
            <a:r>
              <a:rPr lang="en-US" sz="2400" dirty="0">
                <a:solidFill>
                  <a:schemeClr val="tx2">
                    <a:lumMod val="75000"/>
                  </a:schemeClr>
                </a:solidFill>
              </a:rPr>
              <a:t> </a:t>
            </a:r>
            <a:r>
              <a:rPr lang="en-US" sz="2400" b="1" dirty="0">
                <a:solidFill>
                  <a:schemeClr val="tx2">
                    <a:lumMod val="75000"/>
                  </a:schemeClr>
                </a:solidFill>
              </a:rPr>
              <a:t>Irrigation &amp; fertigation </a:t>
            </a:r>
            <a:r>
              <a:rPr lang="he-IL" sz="2400" dirty="0"/>
              <a:t>—</a:t>
            </a:r>
            <a:r>
              <a:rPr lang="en-US" sz="2400" dirty="0"/>
              <a:t> </a:t>
            </a:r>
            <a:r>
              <a:rPr lang="en-US" sz="2400" dirty="0">
                <a:solidFill>
                  <a:schemeClr val="tx2">
                    <a:lumMod val="75000"/>
                  </a:schemeClr>
                </a:solidFill>
              </a:rPr>
              <a:t>management schedule</a:t>
            </a:r>
            <a:br>
              <a:rPr lang="en-US" sz="2400" dirty="0">
                <a:solidFill>
                  <a:schemeClr val="tx2">
                    <a:lumMod val="75000"/>
                  </a:schemeClr>
                </a:solidFill>
              </a:rPr>
            </a:br>
            <a:r>
              <a:rPr lang="he-IL" sz="2400" b="1" dirty="0">
                <a:solidFill>
                  <a:srgbClr val="5E6E2E"/>
                </a:solidFill>
              </a:rPr>
              <a:t>▪</a:t>
            </a:r>
            <a:r>
              <a:rPr lang="en-US" sz="2400" dirty="0">
                <a:solidFill>
                  <a:schemeClr val="tx2">
                    <a:lumMod val="75000"/>
                  </a:schemeClr>
                </a:solidFill>
              </a:rPr>
              <a:t> </a:t>
            </a:r>
            <a:r>
              <a:rPr lang="en-US" sz="2400" b="1" dirty="0">
                <a:solidFill>
                  <a:schemeClr val="tx2">
                    <a:lumMod val="75000"/>
                  </a:schemeClr>
                </a:solidFill>
              </a:rPr>
              <a:t>Crop-state features </a:t>
            </a:r>
            <a:r>
              <a:rPr lang="he-IL" sz="2400" dirty="0"/>
              <a:t>—</a:t>
            </a:r>
            <a:r>
              <a:rPr lang="en-US" sz="2400" dirty="0"/>
              <a:t> </a:t>
            </a:r>
            <a:r>
              <a:rPr lang="en-US" sz="2400" dirty="0">
                <a:solidFill>
                  <a:schemeClr val="tx2">
                    <a:lumMod val="75000"/>
                  </a:schemeClr>
                </a:solidFill>
              </a:rPr>
              <a:t>canopy-cover observations</a:t>
            </a:r>
            <a:br>
              <a:rPr lang="en-US" sz="2400" dirty="0">
                <a:solidFill>
                  <a:schemeClr val="tx2">
                    <a:lumMod val="75000"/>
                  </a:schemeClr>
                </a:solidFill>
              </a:rPr>
            </a:br>
            <a:r>
              <a:rPr lang="he-IL" sz="2400" b="1" dirty="0">
                <a:solidFill>
                  <a:srgbClr val="5E6E2E"/>
                </a:solidFill>
              </a:rPr>
              <a:t>▪</a:t>
            </a:r>
            <a:r>
              <a:rPr lang="en-US" sz="2400" dirty="0">
                <a:solidFill>
                  <a:schemeClr val="tx2">
                    <a:lumMod val="75000"/>
                  </a:schemeClr>
                </a:solidFill>
              </a:rPr>
              <a:t> </a:t>
            </a:r>
            <a:r>
              <a:rPr lang="en-US" sz="2400" b="1" dirty="0">
                <a:solidFill>
                  <a:schemeClr val="tx2">
                    <a:lumMod val="75000"/>
                  </a:schemeClr>
                </a:solidFill>
              </a:rPr>
              <a:t>Manual pH &amp; EC measurements </a:t>
            </a:r>
            <a:r>
              <a:rPr lang="he-IL" sz="2400" dirty="0"/>
              <a:t>—</a:t>
            </a:r>
            <a:r>
              <a:rPr lang="en-US" sz="2400" dirty="0"/>
              <a:t> </a:t>
            </a:r>
            <a:r>
              <a:rPr lang="en-US" sz="2400" dirty="0">
                <a:solidFill>
                  <a:schemeClr val="tx2">
                    <a:lumMod val="75000"/>
                  </a:schemeClr>
                </a:solidFill>
              </a:rPr>
              <a:t>lab samples</a:t>
            </a:r>
            <a:endParaRPr sz="2400" dirty="0">
              <a:solidFill>
                <a:schemeClr val="tx2">
                  <a:lumMod val="75000"/>
                </a:schemeClr>
              </a:solidFill>
              <a:latin typeface="Calibri"/>
            </a:endParaRPr>
          </a:p>
        </p:txBody>
      </p:sp>
      <p:sp>
        <p:nvSpPr>
          <p:cNvPr id="25" name="Rounded Rectangle 24"/>
          <p:cNvSpPr/>
          <p:nvPr/>
        </p:nvSpPr>
        <p:spPr>
          <a:xfrm>
            <a:off x="667293" y="17469603"/>
            <a:ext cx="11664000" cy="7200000"/>
          </a:xfrm>
          <a:prstGeom prst="roundRect">
            <a:avLst>
              <a:gd name="adj" fmla="val 30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937292" y="17721604"/>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mj-lt"/>
              </a:rPr>
              <a:t>04</a:t>
            </a:r>
          </a:p>
        </p:txBody>
      </p:sp>
      <p:sp>
        <p:nvSpPr>
          <p:cNvPr id="27" name="TextBox 26"/>
          <p:cNvSpPr txBox="1"/>
          <p:nvPr/>
        </p:nvSpPr>
        <p:spPr>
          <a:xfrm>
            <a:off x="1693293" y="17712453"/>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mj-lt"/>
              </a:rPr>
              <a:t>Method</a:t>
            </a:r>
          </a:p>
        </p:txBody>
      </p:sp>
      <p:sp>
        <p:nvSpPr>
          <p:cNvPr id="28" name="Rectangle 27"/>
          <p:cNvSpPr/>
          <p:nvPr/>
        </p:nvSpPr>
        <p:spPr>
          <a:xfrm>
            <a:off x="955293" y="18412803"/>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73293" y="18531604"/>
            <a:ext cx="11052000" cy="4195307"/>
          </a:xfrm>
          <a:prstGeom prst="rect">
            <a:avLst/>
          </a:prstGeom>
          <a:noFill/>
        </p:spPr>
        <p:txBody>
          <a:bodyPr wrap="square" lIns="36000" tIns="36000" rIns="36000" bIns="36000" anchor="t">
            <a:spAutoFit/>
          </a:bodyPr>
          <a:lstStyle/>
          <a:p>
            <a:pPr>
              <a:lnSpc>
                <a:spcPct val="106000"/>
              </a:lnSpc>
              <a:spcAft>
                <a:spcPts val="600"/>
              </a:spcAft>
            </a:pPr>
            <a:r>
              <a:rPr lang="en-US" sz="2400" b="1" dirty="0">
                <a:solidFill>
                  <a:schemeClr val="tx2">
                    <a:lumMod val="75000"/>
                  </a:schemeClr>
                </a:solidFill>
              </a:rPr>
              <a:t>Two-stage prediction pipeline:</a:t>
            </a:r>
          </a:p>
          <a:p>
            <a:pPr>
              <a:lnSpc>
                <a:spcPct val="106000"/>
              </a:lnSpc>
              <a:spcAft>
                <a:spcPts val="600"/>
              </a:spcAft>
            </a:pPr>
            <a:r>
              <a:rPr lang="en-US" sz="2400" dirty="0">
                <a:solidFill>
                  <a:schemeClr val="tx2">
                    <a:lumMod val="75000"/>
                  </a:schemeClr>
                </a:solidFill>
              </a:rPr>
              <a:t>1. Forecast internal greenhouse micro-climate from external weather and radiation.</a:t>
            </a:r>
          </a:p>
          <a:p>
            <a:pPr>
              <a:lnSpc>
                <a:spcPct val="106000"/>
              </a:lnSpc>
              <a:spcAft>
                <a:spcPts val="600"/>
              </a:spcAft>
            </a:pPr>
            <a:r>
              <a:rPr lang="en-US" sz="2400" dirty="0">
                <a:solidFill>
                  <a:schemeClr val="tx2">
                    <a:lumMod val="75000"/>
                  </a:schemeClr>
                </a:solidFill>
              </a:rPr>
              <a:t>2. Predict t₀ → t₁ root-zone pH/EC change using climate, crop state and planned events.</a:t>
            </a:r>
          </a:p>
          <a:p>
            <a:pPr>
              <a:lnSpc>
                <a:spcPct val="106000"/>
              </a:lnSpc>
              <a:spcAft>
                <a:spcPts val="600"/>
              </a:spcAft>
            </a:pPr>
            <a:endParaRPr lang="en-US" sz="2400" dirty="0">
              <a:solidFill>
                <a:schemeClr val="tx2">
                  <a:lumMod val="75000"/>
                </a:schemeClr>
              </a:solidFill>
            </a:endParaRPr>
          </a:p>
          <a:p>
            <a:pPr>
              <a:lnSpc>
                <a:spcPct val="106000"/>
              </a:lnSpc>
              <a:spcAft>
                <a:spcPts val="600"/>
              </a:spcAft>
            </a:pPr>
            <a:endParaRPr lang="en-US" sz="2400" dirty="0">
              <a:solidFill>
                <a:schemeClr val="tx2">
                  <a:lumMod val="75000"/>
                </a:schemeClr>
              </a:solidFill>
            </a:endParaRPr>
          </a:p>
          <a:p>
            <a:pPr>
              <a:lnSpc>
                <a:spcPct val="106000"/>
              </a:lnSpc>
              <a:spcAft>
                <a:spcPts val="600"/>
              </a:spcAft>
            </a:pPr>
            <a:endParaRPr lang="en-US" sz="2400" dirty="0">
              <a:solidFill>
                <a:schemeClr val="tx2">
                  <a:lumMod val="75000"/>
                </a:schemeClr>
              </a:solidFill>
            </a:endParaRPr>
          </a:p>
          <a:p>
            <a:pPr>
              <a:lnSpc>
                <a:spcPct val="106000"/>
              </a:lnSpc>
              <a:spcAft>
                <a:spcPts val="600"/>
              </a:spcAft>
            </a:pPr>
            <a:endParaRPr lang="en-US" sz="2400" dirty="0">
              <a:solidFill>
                <a:schemeClr val="tx2">
                  <a:lumMod val="75000"/>
                </a:schemeClr>
              </a:solidFill>
            </a:endParaRPr>
          </a:p>
          <a:p>
            <a:pPr>
              <a:lnSpc>
                <a:spcPct val="106000"/>
              </a:lnSpc>
              <a:spcAft>
                <a:spcPts val="600"/>
              </a:spcAft>
            </a:pPr>
            <a:endParaRPr lang="en-US" sz="2400" dirty="0">
              <a:solidFill>
                <a:schemeClr val="tx2">
                  <a:lumMod val="75000"/>
                </a:schemeClr>
              </a:solidFill>
            </a:endParaRPr>
          </a:p>
          <a:p>
            <a:pPr>
              <a:lnSpc>
                <a:spcPct val="106000"/>
              </a:lnSpc>
              <a:spcAft>
                <a:spcPts val="600"/>
              </a:spcAft>
            </a:pPr>
            <a:endParaRPr lang="en-US" sz="2400" dirty="0">
              <a:solidFill>
                <a:schemeClr val="tx2">
                  <a:lumMod val="75000"/>
                </a:schemeClr>
              </a:solidFill>
            </a:endParaRPr>
          </a:p>
        </p:txBody>
      </p:sp>
      <p:sp>
        <p:nvSpPr>
          <p:cNvPr id="31" name="Rounded Rectangle 30"/>
          <p:cNvSpPr/>
          <p:nvPr/>
        </p:nvSpPr>
        <p:spPr>
          <a:xfrm>
            <a:off x="667293" y="24883803"/>
            <a:ext cx="11664000" cy="10440000"/>
          </a:xfrm>
          <a:prstGeom prst="roundRect">
            <a:avLst>
              <a:gd name="adj" fmla="val 2069"/>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937292" y="25135803"/>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mj-lt"/>
              </a:rPr>
              <a:t>05</a:t>
            </a:r>
          </a:p>
        </p:txBody>
      </p:sp>
      <p:sp>
        <p:nvSpPr>
          <p:cNvPr id="33" name="TextBox 32"/>
          <p:cNvSpPr txBox="1"/>
          <p:nvPr/>
        </p:nvSpPr>
        <p:spPr>
          <a:xfrm>
            <a:off x="1693293" y="25126653"/>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mj-lt"/>
              </a:rPr>
              <a:t>Algorithms &amp; Model Choice</a:t>
            </a:r>
          </a:p>
        </p:txBody>
      </p:sp>
      <p:sp>
        <p:nvSpPr>
          <p:cNvPr id="34" name="Rectangle 33"/>
          <p:cNvSpPr/>
          <p:nvPr/>
        </p:nvSpPr>
        <p:spPr>
          <a:xfrm>
            <a:off x="955293" y="25827003"/>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973293" y="26760303"/>
            <a:ext cx="5418000" cy="2649599"/>
          </a:xfrm>
          <a:prstGeom prst="roundRect">
            <a:avLst>
              <a:gd name="adj" fmla="val 8000"/>
            </a:avLst>
          </a:prstGeom>
          <a:solidFill>
            <a:srgbClr val="FFFFFF"/>
          </a:solidFill>
          <a:ln w="12700">
            <a:solidFill>
              <a:srgbClr val="C9D4B5"/>
            </a:solidFill>
          </a:ln>
          <a:effectLst/>
        </p:spPr>
        <p:style>
          <a:lnRef idx="1">
            <a:schemeClr val="accent1"/>
          </a:lnRef>
          <a:fillRef idx="3">
            <a:schemeClr val="accent1"/>
          </a:fillRef>
          <a:effectRef idx="2">
            <a:schemeClr val="accent1"/>
          </a:effectRef>
          <a:fontRef idx="minor">
            <a:schemeClr val="lt1"/>
          </a:fontRef>
        </p:style>
        <p:txBody>
          <a:bodyPr wrap="square" lIns="72000" tIns="72000" rIns="72000" bIns="72000" rtlCol="0" anchor="t"/>
          <a:lstStyle/>
          <a:p>
            <a:pPr algn="l">
              <a:lnSpc>
                <a:spcPct val="100000"/>
              </a:lnSpc>
              <a:spcBef>
                <a:spcPts val="0"/>
              </a:spcBef>
              <a:spcAft>
                <a:spcPts val="300"/>
              </a:spcAft>
            </a:pPr>
            <a:r>
              <a:rPr sz="2800" b="1" dirty="0">
                <a:solidFill>
                  <a:srgbClr val="5E6E2E"/>
                </a:solidFill>
                <a:latin typeface="Calibri"/>
              </a:rPr>
              <a:t>Gradient Boosting</a:t>
            </a:r>
          </a:p>
          <a:p>
            <a:pPr>
              <a:lnSpc>
                <a:spcPct val="104000"/>
              </a:lnSpc>
            </a:pPr>
            <a:r>
              <a:rPr lang="en-US" sz="2400" dirty="0">
                <a:solidFill>
                  <a:srgbClr val="2E3517"/>
                </a:solidFill>
              </a:rPr>
              <a:t>Main model for nonlinear tabular greenhouse data.</a:t>
            </a:r>
          </a:p>
          <a:p>
            <a:pPr>
              <a:lnSpc>
                <a:spcPct val="104000"/>
              </a:lnSpc>
            </a:pPr>
            <a:r>
              <a:rPr lang="en-US" sz="2400" dirty="0">
                <a:solidFill>
                  <a:srgbClr val="2E3517"/>
                </a:solidFill>
              </a:rPr>
              <a:t>Captures interactions between climate, irrigation, fertigation, crop state, and baseline pH/EC.</a:t>
            </a:r>
            <a:endParaRPr lang="en-US" sz="2400" b="0" dirty="0">
              <a:solidFill>
                <a:srgbClr val="2E3517"/>
              </a:solidFill>
              <a:latin typeface="Calibri"/>
            </a:endParaRPr>
          </a:p>
        </p:txBody>
      </p:sp>
      <p:sp>
        <p:nvSpPr>
          <p:cNvPr id="38" name="Rounded Rectangle 37"/>
          <p:cNvSpPr/>
          <p:nvPr/>
        </p:nvSpPr>
        <p:spPr>
          <a:xfrm>
            <a:off x="6607293" y="26760303"/>
            <a:ext cx="5418000" cy="2649599"/>
          </a:xfrm>
          <a:prstGeom prst="roundRect">
            <a:avLst>
              <a:gd name="adj" fmla="val 8000"/>
            </a:avLst>
          </a:prstGeom>
          <a:solidFill>
            <a:srgbClr val="FFFFFF"/>
          </a:solidFill>
          <a:ln w="12700">
            <a:solidFill>
              <a:srgbClr val="C9D4B5"/>
            </a:solidFill>
          </a:ln>
          <a:effectLst/>
        </p:spPr>
        <p:style>
          <a:lnRef idx="1">
            <a:schemeClr val="accent1"/>
          </a:lnRef>
          <a:fillRef idx="3">
            <a:schemeClr val="accent1"/>
          </a:fillRef>
          <a:effectRef idx="2">
            <a:schemeClr val="accent1"/>
          </a:effectRef>
          <a:fontRef idx="minor">
            <a:schemeClr val="lt1"/>
          </a:fontRef>
        </p:style>
        <p:txBody>
          <a:bodyPr wrap="square" lIns="72000" tIns="72000" rIns="72000" bIns="72000" rtlCol="0" anchor="t"/>
          <a:lstStyle/>
          <a:p>
            <a:pPr algn="l">
              <a:lnSpc>
                <a:spcPct val="100000"/>
              </a:lnSpc>
              <a:spcBef>
                <a:spcPts val="0"/>
              </a:spcBef>
              <a:spcAft>
                <a:spcPts val="300"/>
              </a:spcAft>
            </a:pPr>
            <a:r>
              <a:rPr sz="2800" b="1" dirty="0">
                <a:solidFill>
                  <a:srgbClr val="5E6E2E"/>
                </a:solidFill>
                <a:latin typeface="Calibri"/>
              </a:rPr>
              <a:t>Huber Regressor</a:t>
            </a:r>
          </a:p>
          <a:p>
            <a:pPr>
              <a:lnSpc>
                <a:spcPct val="104000"/>
              </a:lnSpc>
            </a:pPr>
            <a:r>
              <a:rPr lang="en-US" sz="2400" dirty="0">
                <a:solidFill>
                  <a:srgbClr val="2E3517"/>
                </a:solidFill>
              </a:rPr>
              <a:t>Robust companion model for sharp pH/EC shifts. </a:t>
            </a:r>
            <a:br>
              <a:rPr lang="en-US" sz="2400" dirty="0">
                <a:solidFill>
                  <a:srgbClr val="2E3517"/>
                </a:solidFill>
              </a:rPr>
            </a:br>
            <a:r>
              <a:rPr lang="en-US" sz="2400" dirty="0">
                <a:solidFill>
                  <a:srgbClr val="2E3517"/>
                </a:solidFill>
              </a:rPr>
              <a:t>Reduces sensitivity to extreme intervals linked to acid injection, fertigation, or salinity changes.</a:t>
            </a:r>
            <a:endParaRPr lang="en-US" sz="2400" b="0" dirty="0">
              <a:solidFill>
                <a:srgbClr val="2E3517"/>
              </a:solidFill>
              <a:latin typeface="Calibri"/>
            </a:endParaRPr>
          </a:p>
        </p:txBody>
      </p:sp>
      <p:sp>
        <p:nvSpPr>
          <p:cNvPr id="39" name="Rounded Rectangle 38"/>
          <p:cNvSpPr/>
          <p:nvPr/>
        </p:nvSpPr>
        <p:spPr>
          <a:xfrm>
            <a:off x="12907292" y="11263904"/>
            <a:ext cx="11664000" cy="7848000"/>
          </a:xfrm>
          <a:prstGeom prst="roundRect">
            <a:avLst>
              <a:gd name="adj" fmla="val 2752"/>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ounded Rectangle 39"/>
          <p:cNvSpPr/>
          <p:nvPr/>
        </p:nvSpPr>
        <p:spPr>
          <a:xfrm>
            <a:off x="13177292" y="11515904"/>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lang="he-IL" sz="3600" b="1" i="0" dirty="0">
                <a:solidFill>
                  <a:srgbClr val="FFFFFF"/>
                </a:solidFill>
                <a:latin typeface="+mj-lt"/>
              </a:rPr>
              <a:t>07</a:t>
            </a:r>
            <a:endParaRPr sz="3600" b="1" i="0" dirty="0">
              <a:solidFill>
                <a:srgbClr val="FFFFFF"/>
              </a:solidFill>
              <a:latin typeface="+mj-lt"/>
            </a:endParaRPr>
          </a:p>
        </p:txBody>
      </p:sp>
      <p:sp>
        <p:nvSpPr>
          <p:cNvPr id="41" name="TextBox 40"/>
          <p:cNvSpPr txBox="1"/>
          <p:nvPr/>
        </p:nvSpPr>
        <p:spPr>
          <a:xfrm>
            <a:off x="13933293" y="11506754"/>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Micro-Climate Model</a:t>
            </a:r>
          </a:p>
        </p:txBody>
      </p:sp>
      <p:sp>
        <p:nvSpPr>
          <p:cNvPr id="42" name="Rectangle 41"/>
          <p:cNvSpPr/>
          <p:nvPr/>
        </p:nvSpPr>
        <p:spPr>
          <a:xfrm>
            <a:off x="13195292" y="12207104"/>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3213293" y="12325904"/>
            <a:ext cx="11052000" cy="1320417"/>
          </a:xfrm>
          <a:prstGeom prst="rect">
            <a:avLst/>
          </a:prstGeom>
          <a:noFill/>
        </p:spPr>
        <p:txBody>
          <a:bodyPr wrap="square" lIns="36000" tIns="36000" rIns="36000" bIns="36000" anchor="t">
            <a:spAutoFit/>
          </a:bodyPr>
          <a:lstStyle/>
          <a:p>
            <a:pPr>
              <a:lnSpc>
                <a:spcPct val="106000"/>
              </a:lnSpc>
              <a:spcAft>
                <a:spcPts val="700"/>
              </a:spcAft>
            </a:pPr>
            <a:r>
              <a:rPr lang="en-US" sz="2400" dirty="0">
                <a:solidFill>
                  <a:schemeClr val="tx2">
                    <a:lumMod val="75000"/>
                  </a:schemeClr>
                </a:solidFill>
              </a:rPr>
              <a:t>▪ Predicts internal greenhouse climate from external weather and radiation.</a:t>
            </a:r>
          </a:p>
          <a:p>
            <a:pPr>
              <a:lnSpc>
                <a:spcPct val="106000"/>
              </a:lnSpc>
              <a:spcAft>
                <a:spcPts val="700"/>
              </a:spcAft>
            </a:pPr>
            <a:r>
              <a:rPr lang="en-US" sz="2400" dirty="0">
                <a:solidFill>
                  <a:schemeClr val="tx2">
                    <a:lumMod val="75000"/>
                  </a:schemeClr>
                </a:solidFill>
              </a:rPr>
              <a:t>▪ Generates continuous climate inputs - temperature, RH, radiation, ET₀ and soil temperature - for the root-zone model.</a:t>
            </a:r>
          </a:p>
        </p:txBody>
      </p:sp>
      <p:pic>
        <p:nvPicPr>
          <p:cNvPr id="44" name="Picture 43" descr="microclimate.png"/>
          <p:cNvPicPr>
            <a:picLocks noChangeAspect="1"/>
          </p:cNvPicPr>
          <p:nvPr/>
        </p:nvPicPr>
        <p:blipFill>
          <a:blip r:embed="rId2"/>
          <a:stretch>
            <a:fillRect/>
          </a:stretch>
        </p:blipFill>
        <p:spPr>
          <a:xfrm>
            <a:off x="14035832" y="13658696"/>
            <a:ext cx="8754968" cy="5338780"/>
          </a:xfrm>
          <a:prstGeom prst="rect">
            <a:avLst/>
          </a:prstGeom>
        </p:spPr>
      </p:pic>
      <p:sp>
        <p:nvSpPr>
          <p:cNvPr id="50" name="Rounded Rectangle 49"/>
          <p:cNvSpPr/>
          <p:nvPr/>
        </p:nvSpPr>
        <p:spPr>
          <a:xfrm>
            <a:off x="12907292" y="19339803"/>
            <a:ext cx="11664000" cy="8100000"/>
          </a:xfrm>
          <a:prstGeom prst="roundRect">
            <a:avLst>
              <a:gd name="adj" fmla="val 2667"/>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ounded Rectangle 50"/>
          <p:cNvSpPr/>
          <p:nvPr/>
        </p:nvSpPr>
        <p:spPr>
          <a:xfrm>
            <a:off x="13177292" y="19591804"/>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mj-lt"/>
              </a:rPr>
              <a:t>08</a:t>
            </a:r>
          </a:p>
        </p:txBody>
      </p:sp>
      <p:sp>
        <p:nvSpPr>
          <p:cNvPr id="52" name="TextBox 51"/>
          <p:cNvSpPr txBox="1"/>
          <p:nvPr/>
        </p:nvSpPr>
        <p:spPr>
          <a:xfrm>
            <a:off x="13933293" y="19582653"/>
            <a:ext cx="10440000" cy="626701"/>
          </a:xfrm>
          <a:prstGeom prst="rect">
            <a:avLst/>
          </a:prstGeom>
          <a:noFill/>
        </p:spPr>
        <p:txBody>
          <a:bodyPr wrap="square" lIns="36000" tIns="36000" rIns="36000" bIns="36000" anchor="ctr">
            <a:spAutoFit/>
          </a:bodyPr>
          <a:lstStyle/>
          <a:p>
            <a:r>
              <a:rPr lang="en-US" sz="3600" b="1" dirty="0">
                <a:solidFill>
                  <a:srgbClr val="3D4A1F"/>
                </a:solidFill>
                <a:latin typeface="+mj-lt"/>
              </a:rPr>
              <a:t>Root-zone Model Results - Walk-forward Test</a:t>
            </a:r>
          </a:p>
        </p:txBody>
      </p:sp>
      <p:sp>
        <p:nvSpPr>
          <p:cNvPr id="53" name="Rectangle 52"/>
          <p:cNvSpPr/>
          <p:nvPr/>
        </p:nvSpPr>
        <p:spPr>
          <a:xfrm>
            <a:off x="13195292" y="20283003"/>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ounded Rectangle 53"/>
          <p:cNvSpPr>
            <a:spLocks noChangeAspect="1"/>
          </p:cNvSpPr>
          <p:nvPr/>
        </p:nvSpPr>
        <p:spPr>
          <a:xfrm>
            <a:off x="13217943" y="20400046"/>
            <a:ext cx="2837928" cy="518653"/>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numCol="1" rtlCol="0" anchor="ctr"/>
          <a:lstStyle/>
          <a:p>
            <a:pPr algn="ctr">
              <a:lnSpc>
                <a:spcPct val="95000"/>
              </a:lnSpc>
              <a:spcBef>
                <a:spcPts val="0"/>
              </a:spcBef>
              <a:spcAft>
                <a:spcPts val="0"/>
              </a:spcAft>
            </a:pPr>
            <a:r>
              <a:rPr sz="3600" b="1" i="0" dirty="0">
                <a:solidFill>
                  <a:srgbClr val="3D4A1F"/>
                </a:solidFill>
                <a:latin typeface="Calibri"/>
              </a:rPr>
              <a:t>0.33</a:t>
            </a:r>
            <a:r>
              <a:rPr lang="he-IL" sz="3600" b="1" i="0" dirty="0">
                <a:solidFill>
                  <a:srgbClr val="3D4A1F"/>
                </a:solidFill>
                <a:latin typeface="Calibri"/>
              </a:rPr>
              <a:t> </a:t>
            </a:r>
            <a:r>
              <a:rPr sz="3600" b="1" i="0" dirty="0">
                <a:solidFill>
                  <a:srgbClr val="2E3517"/>
                </a:solidFill>
                <a:latin typeface="Calibri"/>
              </a:rPr>
              <a:t>pH MAE</a:t>
            </a:r>
          </a:p>
        </p:txBody>
      </p:sp>
      <p:sp>
        <p:nvSpPr>
          <p:cNvPr id="55" name="Rounded Rectangle 54"/>
          <p:cNvSpPr>
            <a:spLocks noChangeAspect="1"/>
          </p:cNvSpPr>
          <p:nvPr/>
        </p:nvSpPr>
        <p:spPr>
          <a:xfrm>
            <a:off x="16219818" y="20413118"/>
            <a:ext cx="2837928" cy="518653"/>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numCol="1" rtlCol="0" anchor="ctr"/>
          <a:lstStyle/>
          <a:p>
            <a:pPr algn="ctr">
              <a:lnSpc>
                <a:spcPct val="95000"/>
              </a:lnSpc>
              <a:spcBef>
                <a:spcPts val="0"/>
              </a:spcBef>
              <a:spcAft>
                <a:spcPts val="0"/>
              </a:spcAft>
            </a:pPr>
            <a:r>
              <a:rPr sz="3600" b="1" i="0" dirty="0">
                <a:solidFill>
                  <a:srgbClr val="3D4A1F"/>
                </a:solidFill>
                <a:latin typeface="Calibri"/>
              </a:rPr>
              <a:t>0.93</a:t>
            </a:r>
            <a:r>
              <a:rPr lang="he-IL" sz="3600" b="1" i="0" dirty="0">
                <a:solidFill>
                  <a:srgbClr val="3D4A1F"/>
                </a:solidFill>
                <a:latin typeface="Calibri"/>
              </a:rPr>
              <a:t> </a:t>
            </a:r>
            <a:r>
              <a:rPr sz="3600" b="1" i="0" dirty="0">
                <a:solidFill>
                  <a:srgbClr val="2E3517"/>
                </a:solidFill>
                <a:latin typeface="Calibri"/>
              </a:rPr>
              <a:t>pH R²</a:t>
            </a:r>
          </a:p>
        </p:txBody>
      </p:sp>
      <p:sp>
        <p:nvSpPr>
          <p:cNvPr id="56" name="Rounded Rectangle 55"/>
          <p:cNvSpPr>
            <a:spLocks noChangeAspect="1"/>
          </p:cNvSpPr>
          <p:nvPr/>
        </p:nvSpPr>
        <p:spPr>
          <a:xfrm>
            <a:off x="19221693" y="20383805"/>
            <a:ext cx="5048250" cy="533728"/>
          </a:xfrm>
          <a:prstGeom prst="roundRect">
            <a:avLst>
              <a:gd name="adj" fmla="val 10000"/>
            </a:avLst>
          </a:prstGeom>
          <a:solidFill>
            <a:srgbClr val="F5EAD2"/>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numCol="1" rtlCol="0" anchor="ctr"/>
          <a:lstStyle/>
          <a:p>
            <a:pPr algn="ctr">
              <a:lnSpc>
                <a:spcPct val="95000"/>
              </a:lnSpc>
              <a:spcBef>
                <a:spcPts val="0"/>
              </a:spcBef>
              <a:spcAft>
                <a:spcPts val="0"/>
              </a:spcAft>
            </a:pPr>
            <a:r>
              <a:rPr lang="en-US" sz="3600" b="1" i="0" dirty="0">
                <a:solidFill>
                  <a:srgbClr val="B98212"/>
                </a:solidFill>
                <a:latin typeface="Calibri"/>
              </a:rPr>
              <a:t>+62% </a:t>
            </a:r>
            <a:r>
              <a:rPr lang="en-US" sz="3600" b="1" i="0" dirty="0">
                <a:solidFill>
                  <a:srgbClr val="2E3517"/>
                </a:solidFill>
                <a:latin typeface="Calibri"/>
              </a:rPr>
              <a:t>pH MAE reduction</a:t>
            </a:r>
          </a:p>
        </p:txBody>
      </p:sp>
      <p:sp>
        <p:nvSpPr>
          <p:cNvPr id="57" name="Rounded Rectangle 56"/>
          <p:cNvSpPr>
            <a:spLocks noChangeAspect="1"/>
          </p:cNvSpPr>
          <p:nvPr/>
        </p:nvSpPr>
        <p:spPr>
          <a:xfrm>
            <a:off x="13213293" y="21022264"/>
            <a:ext cx="2842578" cy="517326"/>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numCol="1" rtlCol="0" anchor="ctr"/>
          <a:lstStyle/>
          <a:p>
            <a:pPr algn="ctr">
              <a:lnSpc>
                <a:spcPct val="95000"/>
              </a:lnSpc>
              <a:spcBef>
                <a:spcPts val="0"/>
              </a:spcBef>
              <a:spcAft>
                <a:spcPts val="0"/>
              </a:spcAft>
            </a:pPr>
            <a:r>
              <a:rPr sz="3600" b="1" i="0" dirty="0">
                <a:solidFill>
                  <a:srgbClr val="3D4A1F"/>
                </a:solidFill>
                <a:latin typeface="Calibri"/>
              </a:rPr>
              <a:t>0.1</a:t>
            </a:r>
            <a:r>
              <a:rPr lang="en-US" sz="3600" b="1" i="0" dirty="0">
                <a:solidFill>
                  <a:srgbClr val="3D4A1F"/>
                </a:solidFill>
                <a:latin typeface="Calibri"/>
              </a:rPr>
              <a:t>27 </a:t>
            </a:r>
            <a:r>
              <a:rPr sz="3600" b="1" i="0" dirty="0">
                <a:solidFill>
                  <a:srgbClr val="2E3517"/>
                </a:solidFill>
                <a:latin typeface="Calibri"/>
              </a:rPr>
              <a:t>EC</a:t>
            </a:r>
            <a:r>
              <a:rPr lang="he-IL" sz="3600" b="1" i="0" dirty="0">
                <a:solidFill>
                  <a:srgbClr val="2E3517"/>
                </a:solidFill>
                <a:latin typeface="Calibri"/>
              </a:rPr>
              <a:t> </a:t>
            </a:r>
            <a:r>
              <a:rPr sz="3600" b="1" i="0" dirty="0">
                <a:solidFill>
                  <a:srgbClr val="2E3517"/>
                </a:solidFill>
                <a:latin typeface="Calibri"/>
              </a:rPr>
              <a:t>MA</a:t>
            </a:r>
            <a:r>
              <a:rPr lang="en-US" sz="3600" b="1" i="0" dirty="0">
                <a:solidFill>
                  <a:srgbClr val="2E3517"/>
                </a:solidFill>
                <a:latin typeface="Calibri"/>
              </a:rPr>
              <a:t>E</a:t>
            </a:r>
            <a:endParaRPr sz="3600" b="1" i="0" dirty="0">
              <a:solidFill>
                <a:srgbClr val="2E3517"/>
              </a:solidFill>
              <a:latin typeface="Calibri"/>
            </a:endParaRPr>
          </a:p>
        </p:txBody>
      </p:sp>
      <p:sp>
        <p:nvSpPr>
          <p:cNvPr id="58" name="Rounded Rectangle 57"/>
          <p:cNvSpPr>
            <a:spLocks noChangeAspect="1"/>
          </p:cNvSpPr>
          <p:nvPr/>
        </p:nvSpPr>
        <p:spPr>
          <a:xfrm>
            <a:off x="16219818" y="21035336"/>
            <a:ext cx="2837928" cy="517326"/>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numCol="1" rtlCol="0" anchor="ctr"/>
          <a:lstStyle/>
          <a:p>
            <a:pPr algn="ctr">
              <a:lnSpc>
                <a:spcPct val="95000"/>
              </a:lnSpc>
              <a:spcBef>
                <a:spcPts val="0"/>
              </a:spcBef>
              <a:spcAft>
                <a:spcPts val="0"/>
              </a:spcAft>
            </a:pPr>
            <a:r>
              <a:rPr sz="3600" b="1" i="0" dirty="0">
                <a:solidFill>
                  <a:srgbClr val="3D4A1F"/>
                </a:solidFill>
                <a:latin typeface="Calibri"/>
              </a:rPr>
              <a:t>0.98</a:t>
            </a:r>
            <a:r>
              <a:rPr lang="he-IL" sz="3600" b="1" i="0" dirty="0">
                <a:solidFill>
                  <a:srgbClr val="3D4A1F"/>
                </a:solidFill>
                <a:latin typeface="Calibri"/>
              </a:rPr>
              <a:t> </a:t>
            </a:r>
            <a:r>
              <a:rPr sz="3600" b="1" i="0" dirty="0">
                <a:solidFill>
                  <a:srgbClr val="2E3517"/>
                </a:solidFill>
                <a:latin typeface="Calibri"/>
              </a:rPr>
              <a:t>EC R²</a:t>
            </a:r>
          </a:p>
        </p:txBody>
      </p:sp>
      <p:sp>
        <p:nvSpPr>
          <p:cNvPr id="59" name="Rounded Rectangle 58"/>
          <p:cNvSpPr>
            <a:spLocks noChangeAspect="1"/>
          </p:cNvSpPr>
          <p:nvPr/>
        </p:nvSpPr>
        <p:spPr>
          <a:xfrm>
            <a:off x="19221693" y="21022264"/>
            <a:ext cx="5066248" cy="533728"/>
          </a:xfrm>
          <a:prstGeom prst="roundRect">
            <a:avLst>
              <a:gd name="adj" fmla="val 10000"/>
            </a:avLst>
          </a:prstGeom>
          <a:solidFill>
            <a:srgbClr val="F5EAD2"/>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numCol="1" rtlCol="0" anchor="ctr"/>
          <a:lstStyle/>
          <a:p>
            <a:pPr algn="ctr">
              <a:lnSpc>
                <a:spcPct val="95000"/>
              </a:lnSpc>
              <a:spcBef>
                <a:spcPts val="0"/>
              </a:spcBef>
              <a:spcAft>
                <a:spcPts val="0"/>
              </a:spcAft>
            </a:pPr>
            <a:r>
              <a:rPr sz="3600" b="1" i="0" dirty="0">
                <a:solidFill>
                  <a:srgbClr val="B98212"/>
                </a:solidFill>
                <a:latin typeface="Calibri"/>
              </a:rPr>
              <a:t>+35%</a:t>
            </a:r>
            <a:r>
              <a:rPr lang="he-IL" sz="3600" b="1" i="0" dirty="0">
                <a:solidFill>
                  <a:srgbClr val="B98212"/>
                </a:solidFill>
                <a:latin typeface="Calibri"/>
              </a:rPr>
              <a:t> </a:t>
            </a:r>
            <a:r>
              <a:rPr lang="en-US" sz="3600" b="1" i="0" dirty="0">
                <a:solidFill>
                  <a:srgbClr val="2E3517"/>
                </a:solidFill>
                <a:latin typeface="Calibri"/>
              </a:rPr>
              <a:t>EC MAE reduction</a:t>
            </a:r>
            <a:endParaRPr sz="3600" b="1" i="0" dirty="0">
              <a:solidFill>
                <a:srgbClr val="2E3517"/>
              </a:solidFill>
              <a:latin typeface="Calibri"/>
            </a:endParaRPr>
          </a:p>
        </p:txBody>
      </p:sp>
      <p:pic>
        <p:nvPicPr>
          <p:cNvPr id="60" name="Picture 59" descr="parity_ph.png"/>
          <p:cNvPicPr>
            <a:picLocks noChangeAspect="1"/>
          </p:cNvPicPr>
          <p:nvPr/>
        </p:nvPicPr>
        <p:blipFill>
          <a:blip r:embed="rId3"/>
          <a:stretch>
            <a:fillRect/>
          </a:stretch>
        </p:blipFill>
        <p:spPr>
          <a:xfrm>
            <a:off x="13159293" y="22104831"/>
            <a:ext cx="5648818" cy="5295767"/>
          </a:xfrm>
          <a:prstGeom prst="rect">
            <a:avLst/>
          </a:prstGeom>
        </p:spPr>
      </p:pic>
      <p:pic>
        <p:nvPicPr>
          <p:cNvPr id="61" name="Picture 60" descr="parity_ec.png"/>
          <p:cNvPicPr>
            <a:picLocks noChangeAspect="1"/>
          </p:cNvPicPr>
          <p:nvPr/>
        </p:nvPicPr>
        <p:blipFill>
          <a:blip r:embed="rId4"/>
          <a:stretch>
            <a:fillRect/>
          </a:stretch>
        </p:blipFill>
        <p:spPr>
          <a:xfrm>
            <a:off x="18808111" y="22104831"/>
            <a:ext cx="5645364" cy="5292529"/>
          </a:xfrm>
          <a:prstGeom prst="rect">
            <a:avLst/>
          </a:prstGeom>
        </p:spPr>
      </p:pic>
      <p:sp>
        <p:nvSpPr>
          <p:cNvPr id="62" name="Rounded Rectangle 61"/>
          <p:cNvSpPr/>
          <p:nvPr/>
        </p:nvSpPr>
        <p:spPr>
          <a:xfrm>
            <a:off x="12907292" y="27694704"/>
            <a:ext cx="11664000" cy="3717539"/>
          </a:xfrm>
          <a:prstGeom prst="roundRect">
            <a:avLst>
              <a:gd name="adj" fmla="val 581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ounded Rectangle 62"/>
          <p:cNvSpPr/>
          <p:nvPr/>
        </p:nvSpPr>
        <p:spPr>
          <a:xfrm>
            <a:off x="13177292" y="27946705"/>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mj-lt"/>
              </a:rPr>
              <a:t>09</a:t>
            </a:r>
          </a:p>
        </p:txBody>
      </p:sp>
      <p:sp>
        <p:nvSpPr>
          <p:cNvPr id="64" name="TextBox 63"/>
          <p:cNvSpPr txBox="1"/>
          <p:nvPr/>
        </p:nvSpPr>
        <p:spPr>
          <a:xfrm>
            <a:off x="13933293" y="27937555"/>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mj-lt"/>
              </a:rPr>
              <a:t>Conclusions</a:t>
            </a:r>
          </a:p>
        </p:txBody>
      </p:sp>
      <p:sp>
        <p:nvSpPr>
          <p:cNvPr id="65" name="Rectangle 64"/>
          <p:cNvSpPr/>
          <p:nvPr/>
        </p:nvSpPr>
        <p:spPr>
          <a:xfrm>
            <a:off x="13195292" y="28637905"/>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13213293" y="28770796"/>
            <a:ext cx="11286000" cy="2559089"/>
          </a:xfrm>
          <a:prstGeom prst="rect">
            <a:avLst/>
          </a:prstGeom>
          <a:noFill/>
        </p:spPr>
        <p:txBody>
          <a:bodyPr wrap="square" lIns="36000" tIns="36000" rIns="36000" bIns="36000" anchor="t">
            <a:spAutoFit/>
          </a:bodyPr>
          <a:lstStyle/>
          <a:p>
            <a:pPr>
              <a:lnSpc>
                <a:spcPct val="106000"/>
              </a:lnSpc>
              <a:spcAft>
                <a:spcPts val="600"/>
              </a:spcAft>
            </a:pPr>
            <a:r>
              <a:rPr lang="en-US" sz="2400" dirty="0">
                <a:solidFill>
                  <a:schemeClr val="tx2">
                    <a:lumMod val="75000"/>
                  </a:schemeClr>
                </a:solidFill>
              </a:rPr>
              <a:t>▪ </a:t>
            </a:r>
            <a:r>
              <a:rPr lang="en-US" sz="2400" b="1" dirty="0">
                <a:solidFill>
                  <a:schemeClr val="tx2">
                    <a:lumMod val="75000"/>
                  </a:schemeClr>
                </a:solidFill>
              </a:rPr>
              <a:t>Prediction value →</a:t>
            </a:r>
            <a:r>
              <a:rPr lang="en-US" sz="2400" dirty="0">
                <a:solidFill>
                  <a:schemeClr val="tx2">
                    <a:lumMod val="75000"/>
                  </a:schemeClr>
                </a:solidFill>
              </a:rPr>
              <a:t> The model improved over the last-measurement baseline (+62% pH, +35% EC) and supports earlier pH/EC drift detection.</a:t>
            </a:r>
          </a:p>
          <a:p>
            <a:pPr>
              <a:lnSpc>
                <a:spcPct val="106000"/>
              </a:lnSpc>
              <a:spcAft>
                <a:spcPts val="600"/>
              </a:spcAft>
            </a:pPr>
            <a:r>
              <a:rPr lang="en-US" sz="2400" dirty="0">
                <a:solidFill>
                  <a:schemeClr val="tx2">
                    <a:lumMod val="75000"/>
                  </a:schemeClr>
                </a:solidFill>
              </a:rPr>
              <a:t>▪ </a:t>
            </a:r>
            <a:r>
              <a:rPr lang="en-US" sz="2400" b="1" dirty="0">
                <a:solidFill>
                  <a:schemeClr val="tx2">
                    <a:lumMod val="75000"/>
                  </a:schemeClr>
                </a:solidFill>
              </a:rPr>
              <a:t>Decision-support </a:t>
            </a:r>
            <a:r>
              <a:rPr lang="he-IL" sz="2400" b="1" dirty="0"/>
              <a:t>prototype</a:t>
            </a:r>
            <a:r>
              <a:rPr lang="en-US" sz="2400" b="1" dirty="0">
                <a:solidFill>
                  <a:schemeClr val="tx2">
                    <a:lumMod val="75000"/>
                  </a:schemeClr>
                </a:solidFill>
              </a:rPr>
              <a:t> →</a:t>
            </a:r>
            <a:r>
              <a:rPr lang="en-US" sz="2400" dirty="0">
                <a:solidFill>
                  <a:schemeClr val="tx2">
                    <a:lumMod val="75000"/>
                  </a:schemeClr>
                </a:solidFill>
              </a:rPr>
              <a:t> built a user platform where growers can test planned irrigation/fertigation actions before applying them.</a:t>
            </a:r>
          </a:p>
          <a:p>
            <a:pPr>
              <a:lnSpc>
                <a:spcPct val="106000"/>
              </a:lnSpc>
              <a:spcAft>
                <a:spcPts val="600"/>
              </a:spcAft>
            </a:pPr>
            <a:r>
              <a:rPr lang="en-US" sz="2400" dirty="0">
                <a:solidFill>
                  <a:schemeClr val="tx2">
                    <a:lumMod val="75000"/>
                  </a:schemeClr>
                </a:solidFill>
              </a:rPr>
              <a:t>▪ </a:t>
            </a:r>
            <a:r>
              <a:rPr lang="en-US" sz="2400" b="1" dirty="0">
                <a:solidFill>
                  <a:schemeClr val="tx2">
                    <a:lumMod val="75000"/>
                  </a:schemeClr>
                </a:solidFill>
              </a:rPr>
              <a:t>Soft-sensor feasibility →</a:t>
            </a:r>
            <a:r>
              <a:rPr lang="en-US" sz="2400" dirty="0">
                <a:solidFill>
                  <a:schemeClr val="tx2">
                    <a:lumMod val="75000"/>
                  </a:schemeClr>
                </a:solidFill>
              </a:rPr>
              <a:t> sparse samples can support useful forecasts when combined with dense operational data.</a:t>
            </a:r>
            <a:endParaRPr sz="2400" dirty="0">
              <a:solidFill>
                <a:schemeClr val="tx2">
                  <a:lumMod val="75000"/>
                </a:schemeClr>
              </a:solidFill>
              <a:latin typeface="Calibri"/>
            </a:endParaRPr>
          </a:p>
        </p:txBody>
      </p:sp>
      <p:sp>
        <p:nvSpPr>
          <p:cNvPr id="67" name="Rounded Rectangle 66"/>
          <p:cNvSpPr/>
          <p:nvPr/>
        </p:nvSpPr>
        <p:spPr>
          <a:xfrm>
            <a:off x="12907292" y="31661340"/>
            <a:ext cx="11664000" cy="3662463"/>
          </a:xfrm>
          <a:prstGeom prst="roundRect">
            <a:avLst>
              <a:gd name="adj" fmla="val 5898"/>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68" name="Rounded Rectangle 67"/>
          <p:cNvSpPr/>
          <p:nvPr/>
        </p:nvSpPr>
        <p:spPr>
          <a:xfrm>
            <a:off x="13177292" y="31995051"/>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dirty="0">
                <a:solidFill>
                  <a:srgbClr val="FFFFFF"/>
                </a:solidFill>
                <a:latin typeface="+mj-lt"/>
              </a:rPr>
              <a:t>10</a:t>
            </a:r>
          </a:p>
        </p:txBody>
      </p:sp>
      <p:sp>
        <p:nvSpPr>
          <p:cNvPr id="69" name="TextBox 68"/>
          <p:cNvSpPr txBox="1"/>
          <p:nvPr/>
        </p:nvSpPr>
        <p:spPr>
          <a:xfrm>
            <a:off x="13933293" y="31985901"/>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Challenges &amp; Limitations</a:t>
            </a:r>
          </a:p>
        </p:txBody>
      </p:sp>
      <p:sp>
        <p:nvSpPr>
          <p:cNvPr id="70" name="Rectangle 69"/>
          <p:cNvSpPr/>
          <p:nvPr/>
        </p:nvSpPr>
        <p:spPr>
          <a:xfrm>
            <a:off x="13195292" y="32733143"/>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13181942" y="32883275"/>
            <a:ext cx="11105999" cy="2167572"/>
          </a:xfrm>
          <a:prstGeom prst="rect">
            <a:avLst/>
          </a:prstGeom>
          <a:noFill/>
        </p:spPr>
        <p:txBody>
          <a:bodyPr wrap="square" lIns="36000" tIns="36000" rIns="36000" bIns="36000" anchor="t">
            <a:spAutoFit/>
          </a:bodyPr>
          <a:lstStyle/>
          <a:p>
            <a:pPr>
              <a:lnSpc>
                <a:spcPct val="106000"/>
              </a:lnSpc>
              <a:spcAft>
                <a:spcPts val="300"/>
              </a:spcAft>
            </a:pPr>
            <a:r>
              <a:rPr lang="en-US" sz="2400" b="1" dirty="0">
                <a:solidFill>
                  <a:schemeClr val="tx2">
                    <a:lumMod val="75000"/>
                  </a:schemeClr>
                </a:solidFill>
                <a:latin typeface="Calibri"/>
              </a:rPr>
              <a:t>▪ Sparse EC/pH labels → </a:t>
            </a:r>
            <a:r>
              <a:rPr lang="en-US" sz="2400" dirty="0">
                <a:solidFill>
                  <a:schemeClr val="tx2">
                    <a:lumMod val="75000"/>
                  </a:schemeClr>
                </a:solidFill>
                <a:latin typeface="Calibri"/>
              </a:rPr>
              <a:t>modeled </a:t>
            </a:r>
            <a:r>
              <a:rPr lang="el-GR" sz="2400" dirty="0">
                <a:solidFill>
                  <a:schemeClr val="tx2">
                    <a:lumMod val="75000"/>
                  </a:schemeClr>
                </a:solidFill>
                <a:latin typeface="Calibri"/>
              </a:rPr>
              <a:t>Δ</a:t>
            </a:r>
            <a:r>
              <a:rPr lang="en-US" sz="2400" dirty="0">
                <a:solidFill>
                  <a:schemeClr val="tx2">
                    <a:lumMod val="75000"/>
                  </a:schemeClr>
                </a:solidFill>
              </a:rPr>
              <a:t>pH</a:t>
            </a:r>
            <a:r>
              <a:rPr lang="en-US" sz="2400" dirty="0">
                <a:solidFill>
                  <a:schemeClr val="tx2">
                    <a:lumMod val="75000"/>
                  </a:schemeClr>
                </a:solidFill>
                <a:latin typeface="Calibri"/>
              </a:rPr>
              <a:t>/</a:t>
            </a:r>
            <a:r>
              <a:rPr lang="el-GR" sz="2400" dirty="0">
                <a:solidFill>
                  <a:schemeClr val="tx2">
                    <a:lumMod val="75000"/>
                  </a:schemeClr>
                </a:solidFill>
                <a:latin typeface="Calibri"/>
              </a:rPr>
              <a:t>Δ</a:t>
            </a:r>
            <a:r>
              <a:rPr lang="en-US" sz="2400" dirty="0">
                <a:solidFill>
                  <a:schemeClr val="tx2">
                    <a:lumMod val="75000"/>
                  </a:schemeClr>
                </a:solidFill>
                <a:latin typeface="Calibri"/>
              </a:rPr>
              <a:t>EC between measured samples</a:t>
            </a:r>
          </a:p>
          <a:p>
            <a:pPr algn="l">
              <a:lnSpc>
                <a:spcPct val="106000"/>
              </a:lnSpc>
              <a:spcBef>
                <a:spcPts val="0"/>
              </a:spcBef>
              <a:spcAft>
                <a:spcPts val="300"/>
              </a:spcAft>
            </a:pPr>
            <a:r>
              <a:rPr lang="en-US" sz="2400" b="1" dirty="0">
                <a:solidFill>
                  <a:schemeClr val="tx2">
                    <a:lumMod val="75000"/>
                  </a:schemeClr>
                </a:solidFill>
                <a:latin typeface="Calibri"/>
              </a:rPr>
              <a:t>▪ Missing climate data → </a:t>
            </a:r>
            <a:r>
              <a:rPr lang="en-US" sz="2400" dirty="0">
                <a:solidFill>
                  <a:schemeClr val="tx2">
                    <a:lumMod val="75000"/>
                  </a:schemeClr>
                </a:solidFill>
                <a:latin typeface="Calibri"/>
              </a:rPr>
              <a:t>filled greenhouse gaps with micro-climate predictions</a:t>
            </a:r>
          </a:p>
          <a:p>
            <a:pPr algn="l">
              <a:lnSpc>
                <a:spcPct val="106000"/>
              </a:lnSpc>
              <a:spcBef>
                <a:spcPts val="0"/>
              </a:spcBef>
              <a:spcAft>
                <a:spcPts val="300"/>
              </a:spcAft>
            </a:pPr>
            <a:r>
              <a:rPr lang="en-US" sz="2400" b="1" dirty="0">
                <a:solidFill>
                  <a:schemeClr val="tx2">
                    <a:lumMod val="75000"/>
                  </a:schemeClr>
                </a:solidFill>
                <a:latin typeface="Calibri"/>
              </a:rPr>
              <a:t>▪ Irregular sampling → </a:t>
            </a:r>
            <a:r>
              <a:rPr lang="en-US" sz="2400" dirty="0">
                <a:solidFill>
                  <a:schemeClr val="tx2">
                    <a:lumMod val="75000"/>
                  </a:schemeClr>
                </a:solidFill>
                <a:latin typeface="Calibri"/>
              </a:rPr>
              <a:t>used time-gap and window aggregation features</a:t>
            </a:r>
          </a:p>
          <a:p>
            <a:pPr algn="l">
              <a:lnSpc>
                <a:spcPct val="106000"/>
              </a:lnSpc>
              <a:spcBef>
                <a:spcPts val="0"/>
              </a:spcBef>
              <a:spcAft>
                <a:spcPts val="300"/>
              </a:spcAft>
            </a:pPr>
            <a:r>
              <a:rPr lang="en-US" sz="2400" b="1" dirty="0">
                <a:solidFill>
                  <a:schemeClr val="tx2">
                    <a:lumMod val="75000"/>
                  </a:schemeClr>
                </a:solidFill>
                <a:latin typeface="Calibri"/>
              </a:rPr>
              <a:t>▪ Small EC changes → </a:t>
            </a:r>
            <a:r>
              <a:rPr lang="en-US" sz="2400" dirty="0">
                <a:solidFill>
                  <a:schemeClr val="tx2">
                    <a:lumMod val="75000"/>
                  </a:schemeClr>
                </a:solidFill>
                <a:latin typeface="Calibri"/>
              </a:rPr>
              <a:t>applied log-EC change and MAE-based evaluation</a:t>
            </a:r>
          </a:p>
          <a:p>
            <a:pPr algn="l">
              <a:lnSpc>
                <a:spcPct val="106000"/>
              </a:lnSpc>
              <a:spcBef>
                <a:spcPts val="0"/>
              </a:spcBef>
              <a:spcAft>
                <a:spcPts val="300"/>
              </a:spcAft>
            </a:pPr>
            <a:r>
              <a:rPr lang="en-US" sz="2400" b="1" dirty="0">
                <a:solidFill>
                  <a:schemeClr val="tx2">
                    <a:lumMod val="75000"/>
                  </a:schemeClr>
                </a:solidFill>
                <a:latin typeface="Calibri"/>
              </a:rPr>
              <a:t>▪ Limited generalization → </a:t>
            </a:r>
            <a:r>
              <a:rPr lang="en-US" sz="2400" dirty="0">
                <a:solidFill>
                  <a:schemeClr val="tx2">
                    <a:lumMod val="75000"/>
                  </a:schemeClr>
                </a:solidFill>
                <a:latin typeface="Calibri"/>
              </a:rPr>
              <a:t>requires testing on more seasons, crops, and greenhouses</a:t>
            </a:r>
          </a:p>
        </p:txBody>
      </p:sp>
      <p:pic>
        <p:nvPicPr>
          <p:cNvPr id="72" name="Picture 71" descr="download-Photoroom.png"/>
          <p:cNvPicPr>
            <a:picLocks noChangeAspect="1"/>
          </p:cNvPicPr>
          <p:nvPr/>
        </p:nvPicPr>
        <p:blipFill>
          <a:blip r:embed="rId5"/>
          <a:stretch>
            <a:fillRect/>
          </a:stretch>
        </p:blipFill>
        <p:spPr>
          <a:xfrm>
            <a:off x="523292" y="880486"/>
            <a:ext cx="2365200" cy="2375843"/>
          </a:xfrm>
          <a:prstGeom prst="rect">
            <a:avLst/>
          </a:prstGeom>
        </p:spPr>
      </p:pic>
      <p:pic>
        <p:nvPicPr>
          <p:cNvPr id="73" name="Picture 72" descr="Volcani_logo.png"/>
          <p:cNvPicPr>
            <a:picLocks noChangeAspect="1"/>
          </p:cNvPicPr>
          <p:nvPr/>
        </p:nvPicPr>
        <p:blipFill>
          <a:blip r:embed="rId6"/>
          <a:stretch>
            <a:fillRect/>
          </a:stretch>
        </p:blipFill>
        <p:spPr>
          <a:xfrm>
            <a:off x="22242093" y="880486"/>
            <a:ext cx="2467800" cy="2375997"/>
          </a:xfrm>
          <a:prstGeom prst="rect">
            <a:avLst/>
          </a:prstGeom>
        </p:spPr>
      </p:pic>
      <p:sp>
        <p:nvSpPr>
          <p:cNvPr id="30" name="Rounded Rectangle 44"/>
          <p:cNvSpPr/>
          <p:nvPr/>
        </p:nvSpPr>
        <p:spPr>
          <a:xfrm>
            <a:off x="12911942" y="3856129"/>
            <a:ext cx="11664000" cy="7200000"/>
          </a:xfrm>
          <a:prstGeom prst="roundRect">
            <a:avLst>
              <a:gd name="adj" fmla="val 30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7" name="Rounded Rectangle 45"/>
          <p:cNvSpPr/>
          <p:nvPr/>
        </p:nvSpPr>
        <p:spPr>
          <a:xfrm>
            <a:off x="13181942" y="4108129"/>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lang="he-IL" sz="3600" b="1" i="0" dirty="0">
                <a:solidFill>
                  <a:srgbClr val="FFFFFF"/>
                </a:solidFill>
                <a:latin typeface="+mj-lt"/>
              </a:rPr>
              <a:t>06</a:t>
            </a:r>
            <a:endParaRPr sz="3600" b="1" i="0" dirty="0">
              <a:solidFill>
                <a:srgbClr val="FFFFFF"/>
              </a:solidFill>
              <a:latin typeface="+mj-lt"/>
            </a:endParaRPr>
          </a:p>
        </p:txBody>
      </p:sp>
      <p:sp>
        <p:nvSpPr>
          <p:cNvPr id="74" name="TextBox 46"/>
          <p:cNvSpPr txBox="1"/>
          <p:nvPr/>
        </p:nvSpPr>
        <p:spPr>
          <a:xfrm>
            <a:off x="13937943" y="4098979"/>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Validation Strategy</a:t>
            </a:r>
          </a:p>
        </p:txBody>
      </p:sp>
      <p:sp>
        <p:nvSpPr>
          <p:cNvPr id="77" name="Rectangle 47"/>
          <p:cNvSpPr/>
          <p:nvPr/>
        </p:nvSpPr>
        <p:spPr>
          <a:xfrm>
            <a:off x="13199942" y="479932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48"/>
          <p:cNvSpPr txBox="1"/>
          <p:nvPr/>
        </p:nvSpPr>
        <p:spPr>
          <a:xfrm>
            <a:off x="13217943" y="4918129"/>
            <a:ext cx="11052000" cy="1711934"/>
          </a:xfrm>
          <a:prstGeom prst="rect">
            <a:avLst/>
          </a:prstGeom>
          <a:noFill/>
        </p:spPr>
        <p:txBody>
          <a:bodyPr wrap="square" lIns="36000" tIns="36000" rIns="36000" bIns="36000" anchor="t">
            <a:spAutoFit/>
          </a:bodyPr>
          <a:lstStyle/>
          <a:p>
            <a:pPr>
              <a:lnSpc>
                <a:spcPct val="106000"/>
              </a:lnSpc>
              <a:spcAft>
                <a:spcPts val="700"/>
              </a:spcAft>
            </a:pPr>
            <a:r>
              <a:rPr lang="en-US" sz="2400" dirty="0">
                <a:solidFill>
                  <a:schemeClr val="tx2">
                    <a:lumMod val="75000"/>
                  </a:schemeClr>
                </a:solidFill>
              </a:rPr>
              <a:t>▪ Walk-forward validation matches deployment: future pH/EC is predicted from past labels, forecasted climate and planned irrigation/fertigation.</a:t>
            </a:r>
          </a:p>
          <a:p>
            <a:pPr>
              <a:lnSpc>
                <a:spcPct val="106000"/>
              </a:lnSpc>
              <a:spcAft>
                <a:spcPts val="700"/>
              </a:spcAft>
            </a:pPr>
            <a:r>
              <a:rPr lang="en-US" sz="2400" dirty="0">
                <a:solidFill>
                  <a:schemeClr val="tx2">
                    <a:lumMod val="75000"/>
                  </a:schemeClr>
                </a:solidFill>
              </a:rPr>
              <a:t>▪ Future pH/EC labels are never used for training until after that sample becomes available.</a:t>
            </a:r>
            <a:endParaRPr sz="2400" i="0" dirty="0">
              <a:solidFill>
                <a:schemeClr val="tx2">
                  <a:lumMod val="75000"/>
                </a:schemeClr>
              </a:solidFill>
            </a:endParaRPr>
          </a:p>
        </p:txBody>
      </p:sp>
      <p:pic>
        <p:nvPicPr>
          <p:cNvPr id="79" name="Picture 75" descr="walkforward.png"/>
          <p:cNvPicPr>
            <a:picLocks noChangeAspect="1"/>
          </p:cNvPicPr>
          <p:nvPr/>
        </p:nvPicPr>
        <p:blipFill>
          <a:blip r:embed="rId7"/>
          <a:stretch>
            <a:fillRect/>
          </a:stretch>
        </p:blipFill>
        <p:spPr>
          <a:xfrm>
            <a:off x="14968292" y="6419345"/>
            <a:ext cx="7582755" cy="4623963"/>
          </a:xfrm>
          <a:prstGeom prst="rect">
            <a:avLst/>
          </a:prstGeom>
        </p:spPr>
      </p:pic>
      <p:sp>
        <p:nvSpPr>
          <p:cNvPr id="36" name="TextBox 28">
            <a:extLst>
              <a:ext uri="{FF2B5EF4-FFF2-40B4-BE49-F238E27FC236}">
                <a16:creationId xmlns:a16="http://schemas.microsoft.com/office/drawing/2014/main" id="{D7029A2C-F3E0-AE8F-8357-D486234A18DE}"/>
              </a:ext>
            </a:extLst>
          </p:cNvPr>
          <p:cNvSpPr txBox="1"/>
          <p:nvPr/>
        </p:nvSpPr>
        <p:spPr>
          <a:xfrm>
            <a:off x="955293" y="26057403"/>
            <a:ext cx="11052000" cy="447614"/>
          </a:xfrm>
          <a:prstGeom prst="rect">
            <a:avLst/>
          </a:prstGeom>
          <a:noFill/>
        </p:spPr>
        <p:txBody>
          <a:bodyPr wrap="square" lIns="36000" tIns="36000" rIns="36000" bIns="36000" anchor="t">
            <a:spAutoFit/>
          </a:bodyPr>
          <a:lstStyle/>
          <a:p>
            <a:pPr>
              <a:lnSpc>
                <a:spcPct val="106000"/>
              </a:lnSpc>
              <a:spcAft>
                <a:spcPts val="600"/>
              </a:spcAft>
            </a:pPr>
            <a:r>
              <a:rPr lang="en-US" sz="2400" b="1" dirty="0">
                <a:solidFill>
                  <a:schemeClr val="tx2">
                    <a:lumMod val="75000"/>
                  </a:schemeClr>
                </a:solidFill>
              </a:rPr>
              <a:t>Hybrid model choice: nonlinear learning + robust modeling of rare extreme intervals.</a:t>
            </a:r>
          </a:p>
        </p:txBody>
      </p:sp>
      <p:sp>
        <p:nvSpPr>
          <p:cNvPr id="88" name="TextBox 65">
            <a:extLst>
              <a:ext uri="{FF2B5EF4-FFF2-40B4-BE49-F238E27FC236}">
                <a16:creationId xmlns:a16="http://schemas.microsoft.com/office/drawing/2014/main" id="{841AA824-C4E4-3F20-DC69-A52D5A79131B}"/>
              </a:ext>
            </a:extLst>
          </p:cNvPr>
          <p:cNvSpPr txBox="1"/>
          <p:nvPr/>
        </p:nvSpPr>
        <p:spPr>
          <a:xfrm>
            <a:off x="13103200" y="21583568"/>
            <a:ext cx="11039388" cy="447614"/>
          </a:xfrm>
          <a:prstGeom prst="rect">
            <a:avLst/>
          </a:prstGeom>
          <a:noFill/>
        </p:spPr>
        <p:txBody>
          <a:bodyPr wrap="square" lIns="36000" tIns="36000" rIns="36000" bIns="36000" anchor="t">
            <a:spAutoFit/>
          </a:bodyPr>
          <a:lstStyle/>
          <a:p>
            <a:pPr algn="ctr">
              <a:lnSpc>
                <a:spcPct val="106000"/>
              </a:lnSpc>
              <a:spcAft>
                <a:spcPts val="600"/>
              </a:spcAft>
            </a:pPr>
            <a:r>
              <a:rPr lang="en-US" sz="2400" dirty="0">
                <a:solidFill>
                  <a:schemeClr val="tx2">
                    <a:lumMod val="75000"/>
                  </a:schemeClr>
                </a:solidFill>
              </a:rPr>
              <a:t>MAE reduction is relative to a last-value baseline</a:t>
            </a:r>
            <a:endParaRPr sz="2400" dirty="0">
              <a:solidFill>
                <a:schemeClr val="tx2">
                  <a:lumMod val="75000"/>
                </a:schemeClr>
              </a:solidFill>
              <a:latin typeface="Calibri"/>
            </a:endParaRPr>
          </a:p>
        </p:txBody>
      </p:sp>
      <p:pic>
        <p:nvPicPr>
          <p:cNvPr id="47" name="תמונה 46" descr="Feature importance corrected color">
            <a:extLst>
              <a:ext uri="{FF2B5EF4-FFF2-40B4-BE49-F238E27FC236}">
                <a16:creationId xmlns:a16="http://schemas.microsoft.com/office/drawing/2014/main" id="{152C9FCE-3136-0B1D-DD49-7E74BEDDD993}"/>
              </a:ext>
            </a:extLst>
          </p:cNvPr>
          <p:cNvPicPr>
            <a:picLocks noChangeAspect="1"/>
          </p:cNvPicPr>
          <p:nvPr/>
        </p:nvPicPr>
        <p:blipFill>
          <a:blip r:embed="rId8"/>
          <a:stretch>
            <a:fillRect/>
          </a:stretch>
        </p:blipFill>
        <p:spPr>
          <a:xfrm>
            <a:off x="1705892" y="29469395"/>
            <a:ext cx="7812822" cy="5716699"/>
          </a:xfrm>
          <a:prstGeom prst="rect">
            <a:avLst/>
          </a:prstGeom>
        </p:spPr>
      </p:pic>
      <p:pic>
        <p:nvPicPr>
          <p:cNvPr id="46" name="תמונה 45">
            <a:extLst>
              <a:ext uri="{FF2B5EF4-FFF2-40B4-BE49-F238E27FC236}">
                <a16:creationId xmlns:a16="http://schemas.microsoft.com/office/drawing/2014/main" id="{BD81D023-06E1-188A-7257-A7D0126351DD}"/>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818745" y="20051210"/>
            <a:ext cx="11357994" cy="4391758"/>
          </a:xfrm>
          <a:prstGeom prst="rect">
            <a:avLst/>
          </a:prstGeom>
        </p:spPr>
      </p:pic>
    </p:spTree>
    <p:extLst>
      <p:ext uri="{BB962C8B-B14F-4D97-AF65-F5344CB8AC3E}">
        <p14:creationId xmlns:p14="http://schemas.microsoft.com/office/powerpoint/2010/main" val="1587688478"/>
      </p:ext>
    </p:extLst>
  </p:cSld>
  <p:clrMapOvr>
    <a:masterClrMapping/>
  </p:clrMapOvr>
</p:sld>
</file>

<file path=ppt/theme/theme1.xml><?xml version="1.0" encoding="utf-8"?>
<a:theme xmlns:a="http://schemas.openxmlformats.org/drawingml/2006/main" name="PosterPresentations.com-70CMx100CM">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a:latin typeface="Times New Roman" panose="02020603050405020304" pitchFamily="18" charset="0"/>
            <a:cs typeface="Times New Roman" panose="02020603050405020304" pitchFamily="18" charset="0"/>
          </a:defRPr>
        </a:defPPr>
      </a:lstStyle>
    </a:txDef>
  </a:objectDefaults>
  <a:extraClrSchemeLst/>
</a:theme>
</file>

<file path=ppt/theme/theme2.xml><?xml version="1.0" encoding="utf-8"?>
<a:theme xmlns:a="http://schemas.openxmlformats.org/drawingml/2006/main" name="Without Quick Guides">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a:latin typeface="Times New Roman" panose="02020603050405020304" pitchFamily="18" charset="0"/>
            <a:cs typeface="Times New Roman" panose="02020603050405020304" pitchFamily="18" charset="0"/>
          </a:defRPr>
        </a:defPPr>
      </a:lstStyle>
    </a:txDef>
  </a:objectDefaults>
  <a:extraClrSchemeLst/>
</a:theme>
</file>

<file path=ppt/theme/theme3.xml><?xml version="1.0" encoding="utf-8"?>
<a:theme xmlns:a="http://schemas.openxmlformats.org/drawingml/2006/main" name="Classic - Wide Center">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a:latin typeface="Times New Roman" panose="02020603050405020304" pitchFamily="18" charset="0"/>
            <a:cs typeface="Times New Roman" panose="02020603050405020304" pitchFamily="18" charset="0"/>
          </a:defRPr>
        </a:defPPr>
      </a:lstStyle>
    </a:txDef>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PosterPresentations.com-70CMx100CM</Template>
  <TotalTime>409</TotalTime>
  <Words>625</Words>
  <Application>Microsoft Office PowerPoint</Application>
  <PresentationFormat>מותאם אישית</PresentationFormat>
  <Paragraphs>67</Paragraphs>
  <Slides>1</Slides>
  <Notes>0</Notes>
  <HiddenSlides>0</HiddenSlides>
  <MMClips>0</MMClips>
  <ScaleCrop>false</ScaleCrop>
  <HeadingPairs>
    <vt:vector size="6" baseType="variant">
      <vt:variant>
        <vt:lpstr>גופנים בשימוש</vt:lpstr>
      </vt:variant>
      <vt:variant>
        <vt:i4>6</vt:i4>
      </vt:variant>
      <vt:variant>
        <vt:lpstr>ערכת נושא</vt:lpstr>
      </vt:variant>
      <vt:variant>
        <vt:i4>3</vt:i4>
      </vt:variant>
      <vt:variant>
        <vt:lpstr>כותרות שקופיות</vt:lpstr>
      </vt:variant>
      <vt:variant>
        <vt:i4>1</vt:i4>
      </vt:variant>
    </vt:vector>
  </HeadingPairs>
  <TitlesOfParts>
    <vt:vector size="10" baseType="lpstr">
      <vt:lpstr>Arial</vt:lpstr>
      <vt:lpstr>Arial Black</vt:lpstr>
      <vt:lpstr>Calibri</vt:lpstr>
      <vt:lpstr>Cambria</vt:lpstr>
      <vt:lpstr>Times New Roman</vt:lpstr>
      <vt:lpstr>Trebuchet MS</vt:lpstr>
      <vt:lpstr>PosterPresentations.com-70CMx100CM</vt:lpstr>
      <vt:lpstr>Without Quick Guides</vt:lpstr>
      <vt:lpstr>Classic - Wide Center</vt:lpstr>
      <vt:lpstr>מצגת של PowerPoint‏</vt:lpstr>
    </vt:vector>
  </TitlesOfParts>
  <Company>Hewlett-Packard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עדן אליהו</cp:lastModifiedBy>
  <cp:revision>105</cp:revision>
  <dcterms:created xsi:type="dcterms:W3CDTF">2012-02-10T00:10:15Z</dcterms:created>
  <dcterms:modified xsi:type="dcterms:W3CDTF">2026-06-28T19:11:58Z</dcterms:modified>
</cp:coreProperties>
</file>