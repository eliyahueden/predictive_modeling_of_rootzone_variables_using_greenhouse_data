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7" r:id="rId4"/>
  </p:sldIdLst>
  <p:sldSz cx="25192038" cy="35999738"/>
  <p:notesSz cx="6858000" cy="9144000"/>
  <p:defaultText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9">
          <p15:clr>
            <a:srgbClr val="A4A3A4"/>
          </p15:clr>
        </p15:guide>
        <p15:guide id="2" orient="horz" pos="315">
          <p15:clr>
            <a:srgbClr val="A4A3A4"/>
          </p15:clr>
        </p15:guide>
        <p15:guide id="3" orient="horz" pos="22047">
          <p15:clr>
            <a:srgbClr val="A4A3A4"/>
          </p15:clr>
        </p15:guide>
        <p15:guide id="4" orient="horz">
          <p15:clr>
            <a:srgbClr val="A4A3A4"/>
          </p15:clr>
        </p15:guide>
        <p15:guide id="5" pos="334">
          <p15:clr>
            <a:srgbClr val="A4A3A4"/>
          </p15:clr>
        </p15:guide>
        <p15:guide id="6" pos="1553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478" autoAdjust="0"/>
  </p:normalViewPr>
  <p:slideViewPr>
    <p:cSldViewPr snapToGrid="0" snapToObjects="1" showGuides="1">
      <p:cViewPr>
        <p:scale>
          <a:sx n="50" d="100"/>
          <a:sy n="50" d="100"/>
        </p:scale>
        <p:origin x="2832" y="114"/>
      </p:cViewPr>
      <p:guideLst>
        <p:guide orient="horz" pos="3629"/>
        <p:guide orient="horz" pos="315"/>
        <p:guide orient="horz" pos="22047"/>
        <p:guide orient="horz"/>
        <p:guide pos="334"/>
        <p:guide pos="155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6/28/2026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6/28/2026</a:t>
            </a:fld>
            <a:endParaRPr lang="en-US" dirty="0"/>
          </a:p>
        </p:txBody>
      </p:sp>
      <p:sp>
        <p:nvSpPr>
          <p:cNvPr id="4" name="Slide Image Placeholder 3"/>
          <p:cNvSpPr>
            <a:spLocks noGrp="1" noRot="1" noChangeAspect="1"/>
          </p:cNvSpPr>
          <p:nvPr>
            <p:ph type="sldImg" idx="2"/>
          </p:nvPr>
        </p:nvSpPr>
        <p:spPr>
          <a:xfrm>
            <a:off x="2228850" y="685800"/>
            <a:ext cx="24003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599776" rtl="0" eaLnBrk="1" latinLnBrk="0" hangingPunct="1">
      <a:defRPr sz="4800" kern="1200">
        <a:solidFill>
          <a:schemeClr val="tx1"/>
        </a:solidFill>
        <a:latin typeface="+mn-lt"/>
        <a:ea typeface="+mn-ea"/>
        <a:cs typeface="+mn-cs"/>
      </a:defRPr>
    </a:lvl1pPr>
    <a:lvl2pPr marL="1799889" algn="l" defTabSz="3599776" rtl="0" eaLnBrk="1" latinLnBrk="0" hangingPunct="1">
      <a:defRPr sz="4800" kern="1200">
        <a:solidFill>
          <a:schemeClr val="tx1"/>
        </a:solidFill>
        <a:latin typeface="+mn-lt"/>
        <a:ea typeface="+mn-ea"/>
        <a:cs typeface="+mn-cs"/>
      </a:defRPr>
    </a:lvl2pPr>
    <a:lvl3pPr marL="3599776" algn="l" defTabSz="3599776" rtl="0" eaLnBrk="1" latinLnBrk="0" hangingPunct="1">
      <a:defRPr sz="4800" kern="1200">
        <a:solidFill>
          <a:schemeClr val="tx1"/>
        </a:solidFill>
        <a:latin typeface="+mn-lt"/>
        <a:ea typeface="+mn-ea"/>
        <a:cs typeface="+mn-cs"/>
      </a:defRPr>
    </a:lvl3pPr>
    <a:lvl4pPr marL="5399664" algn="l" defTabSz="3599776" rtl="0" eaLnBrk="1" latinLnBrk="0" hangingPunct="1">
      <a:defRPr sz="4800" kern="1200">
        <a:solidFill>
          <a:schemeClr val="tx1"/>
        </a:solidFill>
        <a:latin typeface="+mn-lt"/>
        <a:ea typeface="+mn-ea"/>
        <a:cs typeface="+mn-cs"/>
      </a:defRPr>
    </a:lvl4pPr>
    <a:lvl5pPr marL="7199552" algn="l" defTabSz="3599776" rtl="0" eaLnBrk="1" latinLnBrk="0" hangingPunct="1">
      <a:defRPr sz="4800" kern="1200">
        <a:solidFill>
          <a:schemeClr val="tx1"/>
        </a:solidFill>
        <a:latin typeface="+mn-lt"/>
        <a:ea typeface="+mn-ea"/>
        <a:cs typeface="+mn-cs"/>
      </a:defRPr>
    </a:lvl5pPr>
    <a:lvl6pPr marL="8999441" algn="l" defTabSz="3599776" rtl="0" eaLnBrk="1" latinLnBrk="0" hangingPunct="1">
      <a:defRPr sz="4800" kern="1200">
        <a:solidFill>
          <a:schemeClr val="tx1"/>
        </a:solidFill>
        <a:latin typeface="+mn-lt"/>
        <a:ea typeface="+mn-ea"/>
        <a:cs typeface="+mn-cs"/>
      </a:defRPr>
    </a:lvl6pPr>
    <a:lvl7pPr marL="10799330" algn="l" defTabSz="3599776" rtl="0" eaLnBrk="1" latinLnBrk="0" hangingPunct="1">
      <a:defRPr sz="4800" kern="1200">
        <a:solidFill>
          <a:schemeClr val="tx1"/>
        </a:solidFill>
        <a:latin typeface="+mn-lt"/>
        <a:ea typeface="+mn-ea"/>
        <a:cs typeface="+mn-cs"/>
      </a:defRPr>
    </a:lvl7pPr>
    <a:lvl8pPr marL="12599217" algn="l" defTabSz="3599776" rtl="0" eaLnBrk="1" latinLnBrk="0" hangingPunct="1">
      <a:defRPr sz="4800" kern="1200">
        <a:solidFill>
          <a:schemeClr val="tx1"/>
        </a:solidFill>
        <a:latin typeface="+mn-lt"/>
        <a:ea typeface="+mn-ea"/>
        <a:cs typeface="+mn-cs"/>
      </a:defRPr>
    </a:lvl8pPr>
    <a:lvl9pPr marL="14399106" algn="l" defTabSz="3599776" rtl="0" eaLnBrk="1" latinLnBrk="0" hangingPunct="1">
      <a:defRPr sz="4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27062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508586"/>
            <a:ext cx="577226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29393" y="5758641"/>
            <a:ext cx="5767709" cy="659288"/>
          </a:xfrm>
          <a:prstGeom prst="rect">
            <a:avLst/>
          </a:prstGeom>
          <a:noFill/>
        </p:spPr>
        <p:txBody>
          <a:bodyPr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INTRODUCTION</a:t>
            </a:r>
          </a:p>
        </p:txBody>
      </p:sp>
      <p:sp>
        <p:nvSpPr>
          <p:cNvPr id="19" name="Text Placeholder 3"/>
          <p:cNvSpPr>
            <a:spLocks noGrp="1"/>
          </p:cNvSpPr>
          <p:nvPr>
            <p:ph type="body" sz="quarter" idx="19" hasCustomPrompt="1"/>
          </p:nvPr>
        </p:nvSpPr>
        <p:spPr>
          <a:xfrm>
            <a:off x="518060" y="16174952"/>
            <a:ext cx="577317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29391" y="15542881"/>
            <a:ext cx="576861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6650633" y="6508586"/>
            <a:ext cx="1189259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6650633" y="5758641"/>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6650633" y="23714639"/>
            <a:ext cx="118925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6650633" y="23047456"/>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8892159" y="5758641"/>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8892159" y="6508586"/>
            <a:ext cx="5766642"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8892159" y="15608744"/>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8913086" y="16275927"/>
            <a:ext cx="572478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8892159" y="28580547"/>
            <a:ext cx="5766642" cy="659288"/>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8890715" y="29330961"/>
            <a:ext cx="576953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85"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6" name="Text Placeholder 76"/>
          <p:cNvSpPr>
            <a:spLocks noGrp="1"/>
          </p:cNvSpPr>
          <p:nvPr>
            <p:ph type="body" sz="quarter" idx="178"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8186057" y="10798629"/>
            <a:ext cx="6357257" cy="461665"/>
          </a:xfrm>
          <a:prstGeom prst="rect">
            <a:avLst/>
          </a:prstGeom>
          <a:noFill/>
        </p:spPr>
        <p:txBody>
          <a:bodyPr wrap="square" rtlCol="0" anchor="t" anchorCtr="0">
            <a:spAutoFit/>
          </a:bodyPr>
          <a:lstStyle/>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6CA1A99B-ADFE-0946-BD42-BD5A646350D9}"/>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08DEEC71-333C-EB4F-94EA-63CA80BD11A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DACE849D-9518-E947-B822-CB297FE580F1}"/>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CFDD4-76B9-7B48-B709-EADB21739772}"/>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DFE4A334-6B3E-114C-A46F-86084BCD00CB}"/>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1505E797-B9BB-BF41-8A6D-FBBD7110479D}"/>
              </a:ext>
            </a:extLst>
          </p:cNvPr>
          <p:cNvGraphicFramePr>
            <a:graphicFrameLocks noGrp="1"/>
          </p:cNvGraphicFramePr>
          <p:nvPr userDrawn="1">
            <p:extLst>
              <p:ext uri="{D42A27DB-BD31-4B8C-83A1-F6EECF244321}">
                <p14:modId xmlns:p14="http://schemas.microsoft.com/office/powerpoint/2010/main" val="1760322990"/>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F5351D2-4B9C-6B4B-AC02-8BA80ECA0317}"/>
              </a:ext>
            </a:extLst>
          </p:cNvPr>
          <p:cNvGrpSpPr/>
          <p:nvPr userDrawn="1"/>
        </p:nvGrpSpPr>
        <p:grpSpPr>
          <a:xfrm>
            <a:off x="-282256" y="-251209"/>
            <a:ext cx="25648282" cy="36391624"/>
            <a:chOff x="-282256" y="-251209"/>
            <a:chExt cx="25648282" cy="36391624"/>
          </a:xfrm>
        </p:grpSpPr>
        <p:sp>
          <p:nvSpPr>
            <p:cNvPr id="40" name="Freeform 39"/>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778323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BE4C25E8-A394-434E-8360-04CD8A1473B8}"/>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EF4C1283-BAAA-6D41-8C60-C18DCEE718C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5A8CCE7E-6AD5-334C-B9DB-A6AFE8966A68}"/>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0E442-DFA0-7C45-A18E-391E6A121090}"/>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72B1B3A-5764-1141-AD33-81F113CC7BE4}"/>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AA930D81-2FAB-CD4D-AF1B-62386968629E}"/>
              </a:ext>
            </a:extLst>
          </p:cNvPr>
          <p:cNvGraphicFramePr>
            <a:graphicFrameLocks noGrp="1"/>
          </p:cNvGraphicFramePr>
          <p:nvPr userDrawn="1">
            <p:extLst>
              <p:ext uri="{D42A27DB-BD31-4B8C-83A1-F6EECF244321}">
                <p14:modId xmlns:p14="http://schemas.microsoft.com/office/powerpoint/2010/main" val="2042975874"/>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9293" y="520486"/>
            <a:ext cx="23760000" cy="468000"/>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200" b="1" i="0" dirty="0">
                <a:solidFill>
                  <a:srgbClr val="5E6E2E"/>
                </a:solidFill>
                <a:latin typeface="Calibri"/>
              </a:rPr>
              <a:t>RUPPIN ACADEMIC CENTER    ·    DEPARTMENT OF COMPUTER SCIENCE    ·    AI &amp; DATA SCIENCE SPECIALIZATION</a:t>
            </a:r>
          </a:p>
        </p:txBody>
      </p:sp>
      <p:sp>
        <p:nvSpPr>
          <p:cNvPr id="3" name="TextBox 2"/>
          <p:cNvSpPr txBox="1"/>
          <p:nvPr/>
        </p:nvSpPr>
        <p:spPr>
          <a:xfrm>
            <a:off x="3259293" y="1030972"/>
            <a:ext cx="18720000" cy="1919363"/>
          </a:xfrm>
          <a:prstGeom prst="rect">
            <a:avLst/>
          </a:prstGeom>
          <a:noFill/>
        </p:spPr>
        <p:txBody>
          <a:bodyPr wrap="square" lIns="36000" tIns="36000" rIns="36000" bIns="36000" anchor="ctr">
            <a:spAutoFit/>
          </a:bodyPr>
          <a:lstStyle/>
          <a:p>
            <a:pPr algn="ctr">
              <a:lnSpc>
                <a:spcPct val="100000"/>
              </a:lnSpc>
              <a:spcBef>
                <a:spcPts val="0"/>
              </a:spcBef>
              <a:spcAft>
                <a:spcPts val="0"/>
              </a:spcAft>
            </a:pPr>
            <a:r>
              <a:rPr sz="6000" b="1" i="0" dirty="0">
                <a:solidFill>
                  <a:srgbClr val="3D4A1F"/>
                </a:solidFill>
                <a:latin typeface="Cambria"/>
              </a:rPr>
              <a:t>Predictive Modeling of Root-Zone Variables
Using Greenhouse Data</a:t>
            </a:r>
          </a:p>
        </p:txBody>
      </p:sp>
      <p:sp>
        <p:nvSpPr>
          <p:cNvPr id="4" name="TextBox 3"/>
          <p:cNvSpPr txBox="1"/>
          <p:nvPr/>
        </p:nvSpPr>
        <p:spPr>
          <a:xfrm>
            <a:off x="3259293" y="2975845"/>
            <a:ext cx="8284343"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lang="en-US" sz="3600" b="1" i="0" dirty="0">
                <a:solidFill>
                  <a:srgbClr val="3D4A1F"/>
                </a:solidFill>
                <a:latin typeface="Calibri"/>
              </a:rPr>
              <a:t>Students: </a:t>
            </a:r>
            <a:r>
              <a:rPr sz="3600" b="1" i="0" dirty="0">
                <a:solidFill>
                  <a:srgbClr val="3D4A1F"/>
                </a:solidFill>
                <a:latin typeface="Calibri"/>
              </a:rPr>
              <a:t>Eden Eliyahu</a:t>
            </a:r>
            <a:r>
              <a:rPr lang="en-US" sz="3600" b="1" dirty="0">
                <a:solidFill>
                  <a:srgbClr val="3D4A1F"/>
                </a:solidFill>
                <a:latin typeface="Calibri"/>
              </a:rPr>
              <a:t>, </a:t>
            </a:r>
            <a:r>
              <a:rPr sz="3600" b="1" i="0" dirty="0">
                <a:solidFill>
                  <a:srgbClr val="3D4A1F"/>
                </a:solidFill>
                <a:latin typeface="Calibri"/>
              </a:rPr>
              <a:t>Oren Chaushu</a:t>
            </a:r>
          </a:p>
        </p:txBody>
      </p:sp>
      <p:sp>
        <p:nvSpPr>
          <p:cNvPr id="5" name="TextBox 4"/>
          <p:cNvSpPr txBox="1"/>
          <p:nvPr/>
        </p:nvSpPr>
        <p:spPr>
          <a:xfrm>
            <a:off x="12615312" y="2975844"/>
            <a:ext cx="9356019"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600" b="1" dirty="0">
                <a:solidFill>
                  <a:srgbClr val="2E3517"/>
                </a:solidFill>
                <a:latin typeface="Calibri"/>
              </a:rPr>
              <a:t>Supervisors:  Dr. Avner Priel</a:t>
            </a:r>
            <a:r>
              <a:rPr lang="en-US" sz="3600" b="1" dirty="0">
                <a:solidFill>
                  <a:srgbClr val="2E3517"/>
                </a:solidFill>
                <a:latin typeface="Calibri"/>
              </a:rPr>
              <a:t>, </a:t>
            </a:r>
            <a:r>
              <a:rPr sz="3600" b="1" dirty="0">
                <a:solidFill>
                  <a:srgbClr val="2E3517"/>
                </a:solidFill>
                <a:latin typeface="Calibri"/>
              </a:rPr>
              <a:t>Dr. Alaa Jamal</a:t>
            </a:r>
          </a:p>
        </p:txBody>
      </p:sp>
      <p:sp>
        <p:nvSpPr>
          <p:cNvPr id="6" name="Rounded Rectangle 5"/>
          <p:cNvSpPr/>
          <p:nvPr/>
        </p:nvSpPr>
        <p:spPr>
          <a:xfrm>
            <a:off x="1459293" y="3715804"/>
            <a:ext cx="22320000" cy="57600"/>
          </a:xfrm>
          <a:prstGeom prst="roundRect">
            <a:avLst>
              <a:gd name="adj" fmla="val 50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67293" y="3859803"/>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937292" y="4111804"/>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01</a:t>
            </a:r>
          </a:p>
        </p:txBody>
      </p:sp>
      <p:sp>
        <p:nvSpPr>
          <p:cNvPr id="9" name="TextBox 8"/>
          <p:cNvSpPr txBox="1"/>
          <p:nvPr/>
        </p:nvSpPr>
        <p:spPr>
          <a:xfrm>
            <a:off x="1693293" y="4102654"/>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Motivation</a:t>
            </a:r>
          </a:p>
        </p:txBody>
      </p:sp>
      <p:sp>
        <p:nvSpPr>
          <p:cNvPr id="10" name="Rectangle 9"/>
          <p:cNvSpPr/>
          <p:nvPr/>
        </p:nvSpPr>
        <p:spPr>
          <a:xfrm>
            <a:off x="955293" y="4777604"/>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p>
        </p:txBody>
      </p:sp>
      <p:sp>
        <p:nvSpPr>
          <p:cNvPr id="11" name="TextBox 10"/>
          <p:cNvSpPr txBox="1"/>
          <p:nvPr/>
        </p:nvSpPr>
        <p:spPr>
          <a:xfrm>
            <a:off x="973293" y="4890553"/>
            <a:ext cx="11087999" cy="2405201"/>
          </a:xfrm>
          <a:prstGeom prst="rect">
            <a:avLst/>
          </a:prstGeom>
          <a:noFill/>
        </p:spPr>
        <p:txBody>
          <a:bodyPr wrap="square" lIns="36000" tIns="36000" rIns="36000" bIns="36000" anchor="t">
            <a:spAutoFit/>
          </a:bodyPr>
          <a:lstStyle/>
          <a:p>
            <a:pPr>
              <a:lnSpc>
                <a:spcPct val="106000"/>
              </a:lnSpc>
              <a:spcAft>
                <a:spcPts val="500"/>
              </a:spcAft>
            </a:pPr>
            <a:r>
              <a:rPr lang="en-US" sz="2400" dirty="0">
                <a:solidFill>
                  <a:schemeClr val="tx2">
                    <a:lumMod val="75000"/>
                  </a:schemeClr>
                </a:solidFill>
              </a:rPr>
              <a:t>Root-zone pH and EC affect nutrient availability, salinity stress, and fertilizer efficiency.</a:t>
            </a:r>
            <a:br>
              <a:rPr lang="en-US" sz="2400" dirty="0">
                <a:solidFill>
                  <a:schemeClr val="tx2">
                    <a:lumMod val="75000"/>
                  </a:schemeClr>
                </a:solidFill>
              </a:rPr>
            </a:br>
            <a:r>
              <a:rPr lang="en-US" sz="2400" dirty="0">
                <a:solidFill>
                  <a:schemeClr val="tx2">
                    <a:lumMod val="75000"/>
                  </a:schemeClr>
                </a:solidFill>
              </a:rPr>
              <a:t>In greenhouses, they are typically monitored through accurate but infrequent manual samples, leaving gaps where changes from irrigation, fertigation, climate, and plant uptake may be missed. </a:t>
            </a:r>
            <a:br>
              <a:rPr lang="en-US" sz="2400" dirty="0">
                <a:solidFill>
                  <a:schemeClr val="tx2">
                    <a:lumMod val="75000"/>
                  </a:schemeClr>
                </a:solidFill>
              </a:rPr>
            </a:br>
            <a:r>
              <a:rPr lang="en-US" sz="2400" dirty="0">
                <a:solidFill>
                  <a:schemeClr val="tx2">
                    <a:lumMod val="75000"/>
                  </a:schemeClr>
                </a:solidFill>
              </a:rPr>
              <a:t>Predicting pH and EC from greenhouse data can give growers earlier insight, support faster corrections, and improve crop management.</a:t>
            </a:r>
          </a:p>
        </p:txBody>
      </p:sp>
      <p:sp>
        <p:nvSpPr>
          <p:cNvPr id="12" name="Rounded Rectangle 11"/>
          <p:cNvSpPr/>
          <p:nvPr/>
        </p:nvSpPr>
        <p:spPr>
          <a:xfrm>
            <a:off x="667293" y="7936729"/>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ounded Rectangle 12"/>
          <p:cNvSpPr/>
          <p:nvPr/>
        </p:nvSpPr>
        <p:spPr>
          <a:xfrm>
            <a:off x="937292" y="817230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02</a:t>
            </a:r>
          </a:p>
        </p:txBody>
      </p:sp>
      <p:sp>
        <p:nvSpPr>
          <p:cNvPr id="14" name="TextBox 13"/>
          <p:cNvSpPr txBox="1"/>
          <p:nvPr/>
        </p:nvSpPr>
        <p:spPr>
          <a:xfrm>
            <a:off x="1693293" y="816315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Project Goal</a:t>
            </a:r>
          </a:p>
        </p:txBody>
      </p:sp>
      <p:sp>
        <p:nvSpPr>
          <p:cNvPr id="15" name="Rectangle 14"/>
          <p:cNvSpPr/>
          <p:nvPr/>
        </p:nvSpPr>
        <p:spPr>
          <a:xfrm>
            <a:off x="955293" y="883810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7292" y="8942091"/>
            <a:ext cx="11087999" cy="1699110"/>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Develop a soft sensor that predicts future root-zone pH and EC from the latest measurement, forecasted climate, planned irrigation/fertigation and crop-state data.</a:t>
            </a:r>
          </a:p>
          <a:p>
            <a:pPr>
              <a:lnSpc>
                <a:spcPct val="106000"/>
              </a:lnSpc>
              <a:spcAft>
                <a:spcPts val="600"/>
              </a:spcAft>
            </a:pPr>
            <a:r>
              <a:rPr lang="en-US" sz="2400" dirty="0">
                <a:solidFill>
                  <a:schemeClr val="tx2">
                    <a:lumMod val="75000"/>
                  </a:schemeClr>
                </a:solidFill>
              </a:rPr>
              <a:t>▪ Estimate the t₀ → t₁ change so growers can test a planned irrigation/fertigation strategy, see expected future pH/EC values, and adjust before conditions drift.</a:t>
            </a:r>
          </a:p>
        </p:txBody>
      </p:sp>
      <p:sp>
        <p:nvSpPr>
          <p:cNvPr id="17" name="Rounded Rectangle 16"/>
          <p:cNvSpPr/>
          <p:nvPr/>
        </p:nvSpPr>
        <p:spPr>
          <a:xfrm>
            <a:off x="667293" y="11995804"/>
            <a:ext cx="11664000" cy="5256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37292" y="12247803"/>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03</a:t>
            </a:r>
          </a:p>
        </p:txBody>
      </p:sp>
      <p:sp>
        <p:nvSpPr>
          <p:cNvPr id="19" name="TextBox 18"/>
          <p:cNvSpPr txBox="1"/>
          <p:nvPr/>
        </p:nvSpPr>
        <p:spPr>
          <a:xfrm>
            <a:off x="1693293" y="12238654"/>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Data</a:t>
            </a:r>
          </a:p>
        </p:txBody>
      </p:sp>
      <p:sp>
        <p:nvSpPr>
          <p:cNvPr id="20" name="Rectangle 19"/>
          <p:cNvSpPr/>
          <p:nvPr/>
        </p:nvSpPr>
        <p:spPr>
          <a:xfrm>
            <a:off x="955293" y="12939004"/>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3293" y="13057803"/>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800" b="1" i="0" dirty="0">
                <a:solidFill>
                  <a:srgbClr val="3D4A1F"/>
                </a:solidFill>
                <a:latin typeface="Calibri"/>
              </a:rPr>
              <a:t>16,682</a:t>
            </a:r>
          </a:p>
          <a:p>
            <a:pPr algn="ctr">
              <a:lnSpc>
                <a:spcPct val="95000"/>
              </a:lnSpc>
              <a:spcBef>
                <a:spcPts val="200"/>
              </a:spcBef>
              <a:spcAft>
                <a:spcPts val="0"/>
              </a:spcAft>
            </a:pPr>
            <a:r>
              <a:rPr sz="3200" b="1" i="0" dirty="0">
                <a:solidFill>
                  <a:srgbClr val="2E3517"/>
                </a:solidFill>
                <a:latin typeface="Calibri"/>
              </a:rPr>
              <a:t>10-min rows</a:t>
            </a:r>
          </a:p>
        </p:txBody>
      </p:sp>
      <p:sp>
        <p:nvSpPr>
          <p:cNvPr id="22" name="Rounded Rectangle 21"/>
          <p:cNvSpPr/>
          <p:nvPr/>
        </p:nvSpPr>
        <p:spPr>
          <a:xfrm>
            <a:off x="4717293" y="13057803"/>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800" b="1" i="0" dirty="0">
                <a:solidFill>
                  <a:srgbClr val="3D4A1F"/>
                </a:solidFill>
                <a:latin typeface="Calibri"/>
              </a:rPr>
              <a:t>109</a:t>
            </a:r>
          </a:p>
          <a:p>
            <a:pPr algn="ctr">
              <a:lnSpc>
                <a:spcPct val="95000"/>
              </a:lnSpc>
              <a:spcBef>
                <a:spcPts val="200"/>
              </a:spcBef>
              <a:spcAft>
                <a:spcPts val="0"/>
              </a:spcAft>
            </a:pPr>
            <a:r>
              <a:rPr sz="3200" b="1" i="0" dirty="0">
                <a:solidFill>
                  <a:srgbClr val="2E3517"/>
                </a:solidFill>
                <a:latin typeface="Calibri"/>
              </a:rPr>
              <a:t>pH/EC labels</a:t>
            </a:r>
          </a:p>
        </p:txBody>
      </p:sp>
      <p:sp>
        <p:nvSpPr>
          <p:cNvPr id="23" name="Rounded Rectangle 22"/>
          <p:cNvSpPr/>
          <p:nvPr/>
        </p:nvSpPr>
        <p:spPr>
          <a:xfrm>
            <a:off x="8461293" y="13057803"/>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lang="he-IL" sz="4800" b="1" dirty="0">
                <a:solidFill>
                  <a:srgbClr val="3D4A1F"/>
                </a:solidFill>
                <a:latin typeface="+mj-lt"/>
              </a:rPr>
              <a:t>+</a:t>
            </a:r>
            <a:r>
              <a:rPr lang="he-IL" sz="4800" b="1" i="0" dirty="0">
                <a:solidFill>
                  <a:srgbClr val="3D4A1F"/>
                </a:solidFill>
                <a:latin typeface="+mj-lt"/>
              </a:rPr>
              <a:t>20</a:t>
            </a:r>
            <a:endParaRPr sz="4800" b="1" i="0" dirty="0">
              <a:solidFill>
                <a:srgbClr val="3D4A1F"/>
              </a:solidFill>
              <a:latin typeface="+mj-lt"/>
            </a:endParaRPr>
          </a:p>
          <a:p>
            <a:pPr algn="ctr">
              <a:lnSpc>
                <a:spcPct val="95000"/>
              </a:lnSpc>
              <a:spcBef>
                <a:spcPts val="200"/>
              </a:spcBef>
              <a:spcAft>
                <a:spcPts val="0"/>
              </a:spcAft>
            </a:pPr>
            <a:r>
              <a:rPr sz="3200" b="1" i="0" dirty="0">
                <a:solidFill>
                  <a:srgbClr val="2E3517"/>
                </a:solidFill>
                <a:latin typeface="Calibri"/>
              </a:rPr>
              <a:t>input features</a:t>
            </a:r>
          </a:p>
        </p:txBody>
      </p:sp>
      <p:sp>
        <p:nvSpPr>
          <p:cNvPr id="24" name="TextBox 23"/>
          <p:cNvSpPr txBox="1"/>
          <p:nvPr/>
        </p:nvSpPr>
        <p:spPr>
          <a:xfrm>
            <a:off x="973293" y="14502883"/>
            <a:ext cx="11160000" cy="2456497"/>
          </a:xfrm>
          <a:prstGeom prst="rect">
            <a:avLst/>
          </a:prstGeom>
          <a:noFill/>
        </p:spPr>
        <p:txBody>
          <a:bodyPr wrap="square" lIns="36000" tIns="36000" rIns="36000" bIns="36000" anchor="t">
            <a:spAutoFit/>
          </a:bodyPr>
          <a:lstStyle/>
          <a:p>
            <a:pPr>
              <a:lnSpc>
                <a:spcPct val="106000"/>
              </a:lnSpc>
              <a:spcAft>
                <a:spcPts val="400"/>
              </a:spcAft>
            </a:pPr>
            <a:r>
              <a:rPr lang="en-US" sz="2400" b="1" dirty="0">
                <a:solidFill>
                  <a:schemeClr val="tx2">
                    <a:lumMod val="75000"/>
                  </a:schemeClr>
                </a:solidFill>
              </a:rPr>
              <a:t>Unified 10-minute master dataset, May 29 – Sep 21, 2025:</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External weather &amp; solar radiation — </a:t>
            </a:r>
            <a:r>
              <a:rPr lang="en-US" sz="2400" dirty="0">
                <a:solidFill>
                  <a:schemeClr val="tx2">
                    <a:lumMod val="75000"/>
                  </a:schemeClr>
                </a:solidFill>
              </a:rPr>
              <a:t>weather station / solar sensor</a:t>
            </a:r>
          </a:p>
          <a:p>
            <a:pPr>
              <a:lnSpc>
                <a:spcPct val="106000"/>
              </a:lnSpc>
              <a:spcAft>
                <a:spcPts val="400"/>
              </a:spcAft>
            </a:pP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Greenhouse micro-climate </a:t>
            </a:r>
            <a:r>
              <a:rPr lang="he-IL" sz="2400" dirty="0"/>
              <a:t>—</a:t>
            </a:r>
            <a:r>
              <a:rPr lang="en-US" sz="2400" dirty="0"/>
              <a:t> </a:t>
            </a:r>
            <a:r>
              <a:rPr lang="en-US" sz="2400" dirty="0">
                <a:solidFill>
                  <a:schemeClr val="tx2">
                    <a:lumMod val="75000"/>
                  </a:schemeClr>
                </a:solidFill>
              </a:rPr>
              <a:t>internal sensors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Irrigation &amp; fertigation </a:t>
            </a:r>
            <a:r>
              <a:rPr lang="he-IL" sz="2400" dirty="0"/>
              <a:t>—</a:t>
            </a:r>
            <a:r>
              <a:rPr lang="en-US" sz="2400" dirty="0"/>
              <a:t> </a:t>
            </a:r>
            <a:r>
              <a:rPr lang="en-US" sz="2400" dirty="0">
                <a:solidFill>
                  <a:schemeClr val="tx2">
                    <a:lumMod val="75000"/>
                  </a:schemeClr>
                </a:solidFill>
              </a:rPr>
              <a:t>management schedule</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Crop-state features </a:t>
            </a:r>
            <a:r>
              <a:rPr lang="he-IL" sz="2400" dirty="0"/>
              <a:t>—</a:t>
            </a:r>
            <a:r>
              <a:rPr lang="en-US" sz="2400" dirty="0"/>
              <a:t> </a:t>
            </a:r>
            <a:r>
              <a:rPr lang="en-US" sz="2400" dirty="0">
                <a:solidFill>
                  <a:schemeClr val="tx2">
                    <a:lumMod val="75000"/>
                  </a:schemeClr>
                </a:solidFill>
              </a:rPr>
              <a:t>canopy-cover observations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Manual pH &amp; EC measurements </a:t>
            </a:r>
            <a:r>
              <a:rPr lang="he-IL" sz="2400" dirty="0"/>
              <a:t>—</a:t>
            </a:r>
            <a:r>
              <a:rPr lang="en-US" sz="2400" dirty="0"/>
              <a:t> </a:t>
            </a:r>
            <a:r>
              <a:rPr lang="en-US" sz="2400" dirty="0">
                <a:solidFill>
                  <a:schemeClr val="tx2">
                    <a:lumMod val="75000"/>
                  </a:schemeClr>
                </a:solidFill>
              </a:rPr>
              <a:t>lab samples</a:t>
            </a:r>
            <a:endParaRPr sz="2400" dirty="0">
              <a:solidFill>
                <a:schemeClr val="tx2">
                  <a:lumMod val="75000"/>
                </a:schemeClr>
              </a:solidFill>
              <a:latin typeface="Calibri"/>
            </a:endParaRPr>
          </a:p>
        </p:txBody>
      </p:sp>
      <p:sp>
        <p:nvSpPr>
          <p:cNvPr id="25" name="Rounded Rectangle 24"/>
          <p:cNvSpPr/>
          <p:nvPr/>
        </p:nvSpPr>
        <p:spPr>
          <a:xfrm>
            <a:off x="667293" y="17469603"/>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37292" y="17721604"/>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04</a:t>
            </a:r>
          </a:p>
        </p:txBody>
      </p:sp>
      <p:sp>
        <p:nvSpPr>
          <p:cNvPr id="27" name="TextBox 26"/>
          <p:cNvSpPr txBox="1"/>
          <p:nvPr/>
        </p:nvSpPr>
        <p:spPr>
          <a:xfrm>
            <a:off x="1693293" y="17712453"/>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Method</a:t>
            </a:r>
          </a:p>
        </p:txBody>
      </p:sp>
      <p:sp>
        <p:nvSpPr>
          <p:cNvPr id="28" name="Rectangle 27"/>
          <p:cNvSpPr/>
          <p:nvPr/>
        </p:nvSpPr>
        <p:spPr>
          <a:xfrm>
            <a:off x="955293" y="1841280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3293" y="18531604"/>
            <a:ext cx="11052000" cy="4195307"/>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Two-stage prediction pipeline:</a:t>
            </a:r>
          </a:p>
          <a:p>
            <a:pPr>
              <a:lnSpc>
                <a:spcPct val="106000"/>
              </a:lnSpc>
              <a:spcAft>
                <a:spcPts val="600"/>
              </a:spcAft>
            </a:pPr>
            <a:r>
              <a:rPr lang="en-US" sz="2400" dirty="0">
                <a:solidFill>
                  <a:schemeClr val="tx2">
                    <a:lumMod val="75000"/>
                  </a:schemeClr>
                </a:solidFill>
              </a:rPr>
              <a:t>1. Forecast internal greenhouse micro-climate from external weather and radiation.</a:t>
            </a:r>
          </a:p>
          <a:p>
            <a:pPr>
              <a:lnSpc>
                <a:spcPct val="106000"/>
              </a:lnSpc>
              <a:spcAft>
                <a:spcPts val="600"/>
              </a:spcAft>
            </a:pPr>
            <a:r>
              <a:rPr lang="en-US" sz="2400" dirty="0">
                <a:solidFill>
                  <a:schemeClr val="tx2">
                    <a:lumMod val="75000"/>
                  </a:schemeClr>
                </a:solidFill>
              </a:rPr>
              <a:t>2. Predict t₀ → t₁ root-zone pH/EC change using climate, crop state and planned events.</a:t>
            </a: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p:txBody>
      </p:sp>
      <p:sp>
        <p:nvSpPr>
          <p:cNvPr id="31" name="Rounded Rectangle 30"/>
          <p:cNvSpPr/>
          <p:nvPr/>
        </p:nvSpPr>
        <p:spPr>
          <a:xfrm>
            <a:off x="667293" y="24883803"/>
            <a:ext cx="11664000" cy="1044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37292" y="25135803"/>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05</a:t>
            </a:r>
          </a:p>
        </p:txBody>
      </p:sp>
      <p:sp>
        <p:nvSpPr>
          <p:cNvPr id="33" name="TextBox 32"/>
          <p:cNvSpPr txBox="1"/>
          <p:nvPr/>
        </p:nvSpPr>
        <p:spPr>
          <a:xfrm>
            <a:off x="1693293" y="25126653"/>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Algorithms &amp; Model Choice</a:t>
            </a:r>
          </a:p>
        </p:txBody>
      </p:sp>
      <p:sp>
        <p:nvSpPr>
          <p:cNvPr id="34" name="Rectangle 33"/>
          <p:cNvSpPr/>
          <p:nvPr/>
        </p:nvSpPr>
        <p:spPr>
          <a:xfrm>
            <a:off x="955293" y="2582700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73293" y="26760303"/>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Gradient Boosting</a:t>
            </a:r>
          </a:p>
          <a:p>
            <a:pPr>
              <a:lnSpc>
                <a:spcPct val="104000"/>
              </a:lnSpc>
            </a:pPr>
            <a:r>
              <a:rPr lang="en-US" sz="2400" dirty="0">
                <a:solidFill>
                  <a:srgbClr val="2E3517"/>
                </a:solidFill>
              </a:rPr>
              <a:t>Main model for nonlinear tabular greenhouse data.</a:t>
            </a:r>
          </a:p>
          <a:p>
            <a:pPr>
              <a:lnSpc>
                <a:spcPct val="104000"/>
              </a:lnSpc>
            </a:pPr>
            <a:r>
              <a:rPr lang="en-US" sz="2400" dirty="0">
                <a:solidFill>
                  <a:srgbClr val="2E3517"/>
                </a:solidFill>
              </a:rPr>
              <a:t>Captures interactions between climate, irrigation, fertigation, crop state, and baseline pH/EC.</a:t>
            </a:r>
            <a:endParaRPr lang="en-US" sz="2400" b="0" dirty="0">
              <a:solidFill>
                <a:srgbClr val="2E3517"/>
              </a:solidFill>
              <a:latin typeface="Calibri"/>
            </a:endParaRPr>
          </a:p>
        </p:txBody>
      </p:sp>
      <p:sp>
        <p:nvSpPr>
          <p:cNvPr id="38" name="Rounded Rectangle 37"/>
          <p:cNvSpPr/>
          <p:nvPr/>
        </p:nvSpPr>
        <p:spPr>
          <a:xfrm>
            <a:off x="6607293" y="26760303"/>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Huber Regressor</a:t>
            </a:r>
          </a:p>
          <a:p>
            <a:pPr>
              <a:lnSpc>
                <a:spcPct val="104000"/>
              </a:lnSpc>
            </a:pPr>
            <a:r>
              <a:rPr lang="en-US" sz="2400" dirty="0">
                <a:solidFill>
                  <a:srgbClr val="2E3517"/>
                </a:solidFill>
              </a:rPr>
              <a:t>Robust companion model for sharp pH/EC shifts. </a:t>
            </a:r>
            <a:br>
              <a:rPr lang="en-US" sz="2400" dirty="0">
                <a:solidFill>
                  <a:srgbClr val="2E3517"/>
                </a:solidFill>
              </a:rPr>
            </a:br>
            <a:r>
              <a:rPr lang="en-US" sz="2400" dirty="0">
                <a:solidFill>
                  <a:srgbClr val="2E3517"/>
                </a:solidFill>
              </a:rPr>
              <a:t>Reduces sensitivity to extreme intervals linked to acid injection, fertigation, or salinity changes.</a:t>
            </a:r>
            <a:endParaRPr lang="en-US" sz="2400" b="0" dirty="0">
              <a:solidFill>
                <a:srgbClr val="2E3517"/>
              </a:solidFill>
              <a:latin typeface="Calibri"/>
            </a:endParaRPr>
          </a:p>
        </p:txBody>
      </p:sp>
      <p:sp>
        <p:nvSpPr>
          <p:cNvPr id="39" name="Rounded Rectangle 38"/>
          <p:cNvSpPr/>
          <p:nvPr/>
        </p:nvSpPr>
        <p:spPr>
          <a:xfrm>
            <a:off x="12907292" y="11263904"/>
            <a:ext cx="11664000" cy="7848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3177292" y="11515904"/>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07</a:t>
            </a:r>
            <a:endParaRPr sz="3600" b="1" i="0" dirty="0">
              <a:solidFill>
                <a:srgbClr val="FFFFFF"/>
              </a:solidFill>
              <a:latin typeface="+mj-lt"/>
            </a:endParaRPr>
          </a:p>
        </p:txBody>
      </p:sp>
      <p:sp>
        <p:nvSpPr>
          <p:cNvPr id="41" name="TextBox 40"/>
          <p:cNvSpPr txBox="1"/>
          <p:nvPr/>
        </p:nvSpPr>
        <p:spPr>
          <a:xfrm>
            <a:off x="13933293" y="11506754"/>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Micro-Climate Model</a:t>
            </a:r>
          </a:p>
        </p:txBody>
      </p:sp>
      <p:sp>
        <p:nvSpPr>
          <p:cNvPr id="42" name="Rectangle 41"/>
          <p:cNvSpPr/>
          <p:nvPr/>
        </p:nvSpPr>
        <p:spPr>
          <a:xfrm>
            <a:off x="13195292" y="12207104"/>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213293" y="12325904"/>
            <a:ext cx="11052000" cy="1320417"/>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Predicts internal greenhouse climate from external weather and radiation.</a:t>
            </a:r>
          </a:p>
          <a:p>
            <a:pPr>
              <a:lnSpc>
                <a:spcPct val="106000"/>
              </a:lnSpc>
              <a:spcAft>
                <a:spcPts val="700"/>
              </a:spcAft>
            </a:pPr>
            <a:r>
              <a:rPr lang="en-US" sz="2400" dirty="0">
                <a:solidFill>
                  <a:schemeClr val="tx2">
                    <a:lumMod val="75000"/>
                  </a:schemeClr>
                </a:solidFill>
              </a:rPr>
              <a:t>▪ Generates continuous climate inputs - temperature, RH, radiation, ET₀ and soil temperature - for the root-zone model.</a:t>
            </a:r>
          </a:p>
        </p:txBody>
      </p:sp>
      <p:pic>
        <p:nvPicPr>
          <p:cNvPr id="44" name="Picture 43" descr="microclimate.png"/>
          <p:cNvPicPr>
            <a:picLocks noChangeAspect="1"/>
          </p:cNvPicPr>
          <p:nvPr/>
        </p:nvPicPr>
        <p:blipFill>
          <a:blip r:embed="rId2"/>
          <a:stretch>
            <a:fillRect/>
          </a:stretch>
        </p:blipFill>
        <p:spPr>
          <a:xfrm>
            <a:off x="14035832" y="13658696"/>
            <a:ext cx="8754968" cy="5338780"/>
          </a:xfrm>
          <a:prstGeom prst="rect">
            <a:avLst/>
          </a:prstGeom>
        </p:spPr>
      </p:pic>
      <p:sp>
        <p:nvSpPr>
          <p:cNvPr id="50" name="Rounded Rectangle 49"/>
          <p:cNvSpPr/>
          <p:nvPr/>
        </p:nvSpPr>
        <p:spPr>
          <a:xfrm>
            <a:off x="12907292" y="19339803"/>
            <a:ext cx="11664000" cy="81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3177292" y="19591804"/>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08</a:t>
            </a:r>
          </a:p>
        </p:txBody>
      </p:sp>
      <p:sp>
        <p:nvSpPr>
          <p:cNvPr id="52" name="TextBox 51"/>
          <p:cNvSpPr txBox="1"/>
          <p:nvPr/>
        </p:nvSpPr>
        <p:spPr>
          <a:xfrm>
            <a:off x="13933293" y="19582653"/>
            <a:ext cx="10440000" cy="626701"/>
          </a:xfrm>
          <a:prstGeom prst="rect">
            <a:avLst/>
          </a:prstGeom>
          <a:noFill/>
        </p:spPr>
        <p:txBody>
          <a:bodyPr wrap="square" lIns="36000" tIns="36000" rIns="36000" bIns="36000" anchor="ctr">
            <a:spAutoFit/>
          </a:bodyPr>
          <a:lstStyle/>
          <a:p>
            <a:r>
              <a:rPr lang="en-US" sz="3600" b="1" dirty="0">
                <a:solidFill>
                  <a:srgbClr val="3D4A1F"/>
                </a:solidFill>
                <a:latin typeface="+mj-lt"/>
              </a:rPr>
              <a:t>Root-zone Model Results - Walk-forward Test</a:t>
            </a:r>
          </a:p>
        </p:txBody>
      </p:sp>
      <p:sp>
        <p:nvSpPr>
          <p:cNvPr id="53" name="Rectangle 52"/>
          <p:cNvSpPr/>
          <p:nvPr/>
        </p:nvSpPr>
        <p:spPr>
          <a:xfrm>
            <a:off x="13195292" y="2028300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a:spLocks noChangeAspect="1"/>
          </p:cNvSpPr>
          <p:nvPr/>
        </p:nvSpPr>
        <p:spPr>
          <a:xfrm>
            <a:off x="13217943" y="20400046"/>
            <a:ext cx="2837928" cy="518653"/>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0.33</a:t>
            </a:r>
            <a:r>
              <a:rPr lang="he-IL" sz="3600" b="1" i="0" dirty="0">
                <a:solidFill>
                  <a:srgbClr val="3D4A1F"/>
                </a:solidFill>
                <a:latin typeface="Calibri"/>
              </a:rPr>
              <a:t> </a:t>
            </a:r>
            <a:r>
              <a:rPr sz="3600" b="1" i="0" dirty="0">
                <a:solidFill>
                  <a:srgbClr val="2E3517"/>
                </a:solidFill>
                <a:latin typeface="Calibri"/>
              </a:rPr>
              <a:t>pH MAE</a:t>
            </a:r>
          </a:p>
        </p:txBody>
      </p:sp>
      <p:sp>
        <p:nvSpPr>
          <p:cNvPr id="55" name="Rounded Rectangle 54"/>
          <p:cNvSpPr>
            <a:spLocks noChangeAspect="1"/>
          </p:cNvSpPr>
          <p:nvPr/>
        </p:nvSpPr>
        <p:spPr>
          <a:xfrm>
            <a:off x="16219818" y="20413118"/>
            <a:ext cx="2837928" cy="518653"/>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0.93</a:t>
            </a:r>
            <a:r>
              <a:rPr lang="he-IL" sz="3600" b="1" i="0" dirty="0">
                <a:solidFill>
                  <a:srgbClr val="3D4A1F"/>
                </a:solidFill>
                <a:latin typeface="Calibri"/>
              </a:rPr>
              <a:t> </a:t>
            </a:r>
            <a:r>
              <a:rPr sz="3600" b="1" i="0" dirty="0">
                <a:solidFill>
                  <a:srgbClr val="2E3517"/>
                </a:solidFill>
                <a:latin typeface="Calibri"/>
              </a:rPr>
              <a:t>pH R²</a:t>
            </a:r>
          </a:p>
        </p:txBody>
      </p:sp>
      <p:sp>
        <p:nvSpPr>
          <p:cNvPr id="56" name="Rounded Rectangle 55"/>
          <p:cNvSpPr>
            <a:spLocks noChangeAspect="1"/>
          </p:cNvSpPr>
          <p:nvPr/>
        </p:nvSpPr>
        <p:spPr>
          <a:xfrm>
            <a:off x="19221693" y="20383805"/>
            <a:ext cx="5048250" cy="533728"/>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lang="en-US" sz="3600" b="1" i="0" dirty="0">
                <a:solidFill>
                  <a:srgbClr val="B98212"/>
                </a:solidFill>
                <a:latin typeface="Calibri"/>
              </a:rPr>
              <a:t>+62% </a:t>
            </a:r>
            <a:r>
              <a:rPr lang="en-US" sz="3600" b="1" i="0" dirty="0">
                <a:solidFill>
                  <a:srgbClr val="2E3517"/>
                </a:solidFill>
                <a:latin typeface="Calibri"/>
              </a:rPr>
              <a:t>pH MAE reduction</a:t>
            </a:r>
          </a:p>
        </p:txBody>
      </p:sp>
      <p:sp>
        <p:nvSpPr>
          <p:cNvPr id="57" name="Rounded Rectangle 56"/>
          <p:cNvSpPr>
            <a:spLocks noChangeAspect="1"/>
          </p:cNvSpPr>
          <p:nvPr/>
        </p:nvSpPr>
        <p:spPr>
          <a:xfrm>
            <a:off x="13213293" y="21022264"/>
            <a:ext cx="2842578" cy="517326"/>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0.1</a:t>
            </a:r>
            <a:r>
              <a:rPr lang="en-US" sz="3600" b="1" i="0" dirty="0">
                <a:solidFill>
                  <a:srgbClr val="3D4A1F"/>
                </a:solidFill>
                <a:latin typeface="Calibri"/>
              </a:rPr>
              <a:t>27 </a:t>
            </a:r>
            <a:r>
              <a:rPr sz="3600" b="1" i="0" dirty="0">
                <a:solidFill>
                  <a:srgbClr val="2E3517"/>
                </a:solidFill>
                <a:latin typeface="Calibri"/>
              </a:rPr>
              <a:t>EC</a:t>
            </a:r>
            <a:r>
              <a:rPr lang="he-IL" sz="3600" b="1" i="0" dirty="0">
                <a:solidFill>
                  <a:srgbClr val="2E3517"/>
                </a:solidFill>
                <a:latin typeface="Calibri"/>
              </a:rPr>
              <a:t> </a:t>
            </a:r>
            <a:r>
              <a:rPr sz="3600" b="1" i="0" dirty="0">
                <a:solidFill>
                  <a:srgbClr val="2E3517"/>
                </a:solidFill>
                <a:latin typeface="Calibri"/>
              </a:rPr>
              <a:t>MA</a:t>
            </a:r>
            <a:r>
              <a:rPr lang="en-US" sz="3600" b="1" i="0" dirty="0">
                <a:solidFill>
                  <a:srgbClr val="2E3517"/>
                </a:solidFill>
                <a:latin typeface="Calibri"/>
              </a:rPr>
              <a:t>E</a:t>
            </a:r>
            <a:endParaRPr sz="3600" b="1" i="0" dirty="0">
              <a:solidFill>
                <a:srgbClr val="2E3517"/>
              </a:solidFill>
              <a:latin typeface="Calibri"/>
            </a:endParaRPr>
          </a:p>
        </p:txBody>
      </p:sp>
      <p:sp>
        <p:nvSpPr>
          <p:cNvPr id="58" name="Rounded Rectangle 57"/>
          <p:cNvSpPr>
            <a:spLocks noChangeAspect="1"/>
          </p:cNvSpPr>
          <p:nvPr/>
        </p:nvSpPr>
        <p:spPr>
          <a:xfrm>
            <a:off x="16219818" y="21035336"/>
            <a:ext cx="2837928" cy="517326"/>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0.98</a:t>
            </a:r>
            <a:r>
              <a:rPr lang="he-IL" sz="3600" b="1" i="0" dirty="0">
                <a:solidFill>
                  <a:srgbClr val="3D4A1F"/>
                </a:solidFill>
                <a:latin typeface="Calibri"/>
              </a:rPr>
              <a:t> </a:t>
            </a:r>
            <a:r>
              <a:rPr sz="3600" b="1" i="0" dirty="0">
                <a:solidFill>
                  <a:srgbClr val="2E3517"/>
                </a:solidFill>
                <a:latin typeface="Calibri"/>
              </a:rPr>
              <a:t>EC R²</a:t>
            </a:r>
          </a:p>
        </p:txBody>
      </p:sp>
      <p:sp>
        <p:nvSpPr>
          <p:cNvPr id="59" name="Rounded Rectangle 58"/>
          <p:cNvSpPr>
            <a:spLocks noChangeAspect="1"/>
          </p:cNvSpPr>
          <p:nvPr/>
        </p:nvSpPr>
        <p:spPr>
          <a:xfrm>
            <a:off x="19221693" y="21022264"/>
            <a:ext cx="5066248" cy="533728"/>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B98212"/>
                </a:solidFill>
                <a:latin typeface="Calibri"/>
              </a:rPr>
              <a:t>+35%</a:t>
            </a:r>
            <a:r>
              <a:rPr lang="he-IL" sz="3600" b="1" i="0" dirty="0">
                <a:solidFill>
                  <a:srgbClr val="B98212"/>
                </a:solidFill>
                <a:latin typeface="Calibri"/>
              </a:rPr>
              <a:t> </a:t>
            </a:r>
            <a:r>
              <a:rPr lang="en-US" sz="3600" b="1" i="0" dirty="0">
                <a:solidFill>
                  <a:srgbClr val="2E3517"/>
                </a:solidFill>
                <a:latin typeface="Calibri"/>
              </a:rPr>
              <a:t>EC MAE reduction</a:t>
            </a:r>
            <a:endParaRPr sz="3600" b="1" i="0" dirty="0">
              <a:solidFill>
                <a:srgbClr val="2E3517"/>
              </a:solidFill>
              <a:latin typeface="Calibri"/>
            </a:endParaRPr>
          </a:p>
        </p:txBody>
      </p:sp>
      <p:pic>
        <p:nvPicPr>
          <p:cNvPr id="60" name="Picture 59" descr="parity_ph.png"/>
          <p:cNvPicPr>
            <a:picLocks noChangeAspect="1"/>
          </p:cNvPicPr>
          <p:nvPr/>
        </p:nvPicPr>
        <p:blipFill>
          <a:blip r:embed="rId3"/>
          <a:stretch>
            <a:fillRect/>
          </a:stretch>
        </p:blipFill>
        <p:spPr>
          <a:xfrm>
            <a:off x="13159293" y="22104831"/>
            <a:ext cx="5648818" cy="5295767"/>
          </a:xfrm>
          <a:prstGeom prst="rect">
            <a:avLst/>
          </a:prstGeom>
        </p:spPr>
      </p:pic>
      <p:pic>
        <p:nvPicPr>
          <p:cNvPr id="61" name="Picture 60" descr="parity_ec.png"/>
          <p:cNvPicPr>
            <a:picLocks noChangeAspect="1"/>
          </p:cNvPicPr>
          <p:nvPr/>
        </p:nvPicPr>
        <p:blipFill>
          <a:blip r:embed="rId4"/>
          <a:stretch>
            <a:fillRect/>
          </a:stretch>
        </p:blipFill>
        <p:spPr>
          <a:xfrm>
            <a:off x="18808111" y="22104831"/>
            <a:ext cx="5645364" cy="5292529"/>
          </a:xfrm>
          <a:prstGeom prst="rect">
            <a:avLst/>
          </a:prstGeom>
        </p:spPr>
      </p:pic>
      <p:sp>
        <p:nvSpPr>
          <p:cNvPr id="62" name="Rounded Rectangle 61"/>
          <p:cNvSpPr/>
          <p:nvPr/>
        </p:nvSpPr>
        <p:spPr>
          <a:xfrm>
            <a:off x="12907292" y="27655802"/>
            <a:ext cx="11664000" cy="3717539"/>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3177292" y="27907803"/>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09</a:t>
            </a:r>
          </a:p>
        </p:txBody>
      </p:sp>
      <p:sp>
        <p:nvSpPr>
          <p:cNvPr id="64" name="TextBox 63"/>
          <p:cNvSpPr txBox="1"/>
          <p:nvPr/>
        </p:nvSpPr>
        <p:spPr>
          <a:xfrm>
            <a:off x="13933293" y="27898653"/>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Conclusions</a:t>
            </a:r>
          </a:p>
        </p:txBody>
      </p:sp>
      <p:sp>
        <p:nvSpPr>
          <p:cNvPr id="65" name="Rectangle 64"/>
          <p:cNvSpPr/>
          <p:nvPr/>
        </p:nvSpPr>
        <p:spPr>
          <a:xfrm>
            <a:off x="13195292" y="2859900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213293" y="28731894"/>
            <a:ext cx="11286000" cy="2559089"/>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Prediction value </a:t>
            </a:r>
            <a:r>
              <a:rPr lang="en-US" sz="2400" dirty="0">
                <a:solidFill>
                  <a:schemeClr val="tx2">
                    <a:lumMod val="75000"/>
                  </a:schemeClr>
                </a:solidFill>
              </a:rPr>
              <a:t>→ The model improved over the last-measurement baseline (+62% pH, +35% EC) and supports earlier pH/EC drift detection.</a:t>
            </a:r>
          </a:p>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Decision-support </a:t>
            </a:r>
            <a:r>
              <a:rPr lang="he-IL" sz="2400" b="1" dirty="0"/>
              <a:t>prototype</a:t>
            </a:r>
            <a:r>
              <a:rPr lang="en-US" sz="2400" b="1" dirty="0">
                <a:solidFill>
                  <a:schemeClr val="tx2">
                    <a:lumMod val="75000"/>
                  </a:schemeClr>
                </a:solidFill>
              </a:rPr>
              <a:t> </a:t>
            </a:r>
            <a:r>
              <a:rPr lang="en-US" sz="2400" dirty="0">
                <a:solidFill>
                  <a:schemeClr val="tx2">
                    <a:lumMod val="75000"/>
                  </a:schemeClr>
                </a:solidFill>
              </a:rPr>
              <a:t>→ built a user platform where growers can test planned irrigation/fertigation actions before applying them.</a:t>
            </a:r>
          </a:p>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Soft-sensor feasibility </a:t>
            </a:r>
            <a:r>
              <a:rPr lang="en-US" sz="2400" dirty="0">
                <a:solidFill>
                  <a:schemeClr val="tx2">
                    <a:lumMod val="75000"/>
                  </a:schemeClr>
                </a:solidFill>
              </a:rPr>
              <a:t>→ sparse samples can support useful forecasts when combined with dense operational data.</a:t>
            </a:r>
            <a:endParaRPr sz="2400" dirty="0">
              <a:solidFill>
                <a:schemeClr val="tx2">
                  <a:lumMod val="75000"/>
                </a:schemeClr>
              </a:solidFill>
              <a:latin typeface="Calibri"/>
            </a:endParaRPr>
          </a:p>
        </p:txBody>
      </p:sp>
      <p:sp>
        <p:nvSpPr>
          <p:cNvPr id="67" name="Rounded Rectangle 66"/>
          <p:cNvSpPr/>
          <p:nvPr/>
        </p:nvSpPr>
        <p:spPr>
          <a:xfrm>
            <a:off x="12907292" y="31589340"/>
            <a:ext cx="11664000" cy="366246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8" name="Rounded Rectangle 67"/>
          <p:cNvSpPr/>
          <p:nvPr/>
        </p:nvSpPr>
        <p:spPr>
          <a:xfrm>
            <a:off x="13177292" y="31923051"/>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10</a:t>
            </a:r>
          </a:p>
        </p:txBody>
      </p:sp>
      <p:sp>
        <p:nvSpPr>
          <p:cNvPr id="69" name="TextBox 68"/>
          <p:cNvSpPr txBox="1"/>
          <p:nvPr/>
        </p:nvSpPr>
        <p:spPr>
          <a:xfrm>
            <a:off x="13933293" y="31913901"/>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Challenges &amp; Limitations</a:t>
            </a:r>
          </a:p>
        </p:txBody>
      </p:sp>
      <p:sp>
        <p:nvSpPr>
          <p:cNvPr id="70" name="Rectangle 69"/>
          <p:cNvSpPr/>
          <p:nvPr/>
        </p:nvSpPr>
        <p:spPr>
          <a:xfrm>
            <a:off x="13195292" y="3266114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3181942" y="32811275"/>
            <a:ext cx="11105999" cy="2167572"/>
          </a:xfrm>
          <a:prstGeom prst="rect">
            <a:avLst/>
          </a:prstGeom>
          <a:noFill/>
        </p:spPr>
        <p:txBody>
          <a:bodyPr wrap="square" lIns="36000" tIns="36000" rIns="36000" bIns="36000" anchor="t">
            <a:spAutoFit/>
          </a:bodyPr>
          <a:lstStyle/>
          <a:p>
            <a:pPr>
              <a:lnSpc>
                <a:spcPct val="106000"/>
              </a:lnSpc>
              <a:spcAft>
                <a:spcPts val="300"/>
              </a:spcAft>
            </a:pPr>
            <a:r>
              <a:rPr lang="en-US" sz="2400" b="1" dirty="0">
                <a:solidFill>
                  <a:schemeClr val="tx2">
                    <a:lumMod val="75000"/>
                  </a:schemeClr>
                </a:solidFill>
                <a:latin typeface="Calibri"/>
              </a:rPr>
              <a:t>▪ Sparse EC/pH labels → </a:t>
            </a:r>
            <a:r>
              <a:rPr lang="en-US" sz="2400" dirty="0">
                <a:solidFill>
                  <a:schemeClr val="tx2">
                    <a:lumMod val="75000"/>
                  </a:schemeClr>
                </a:solidFill>
                <a:latin typeface="Calibri"/>
              </a:rPr>
              <a:t>modeled </a:t>
            </a:r>
            <a:r>
              <a:rPr lang="el-GR" sz="2400" dirty="0">
                <a:solidFill>
                  <a:schemeClr val="tx2">
                    <a:lumMod val="75000"/>
                  </a:schemeClr>
                </a:solidFill>
                <a:latin typeface="Calibri"/>
              </a:rPr>
              <a:t>Δ</a:t>
            </a:r>
            <a:r>
              <a:rPr lang="en-US" sz="2400" dirty="0">
                <a:solidFill>
                  <a:schemeClr val="tx2">
                    <a:lumMod val="75000"/>
                  </a:schemeClr>
                </a:solidFill>
              </a:rPr>
              <a:t>pH</a:t>
            </a:r>
            <a:r>
              <a:rPr lang="en-US" sz="2400" dirty="0">
                <a:solidFill>
                  <a:schemeClr val="tx2">
                    <a:lumMod val="75000"/>
                  </a:schemeClr>
                </a:solidFill>
                <a:latin typeface="Calibri"/>
              </a:rPr>
              <a:t>/</a:t>
            </a:r>
            <a:r>
              <a:rPr lang="el-GR" sz="2400" dirty="0">
                <a:solidFill>
                  <a:schemeClr val="tx2">
                    <a:lumMod val="75000"/>
                  </a:schemeClr>
                </a:solidFill>
                <a:latin typeface="Calibri"/>
              </a:rPr>
              <a:t>Δ</a:t>
            </a:r>
            <a:r>
              <a:rPr lang="en-US" sz="2400" dirty="0">
                <a:solidFill>
                  <a:schemeClr val="tx2">
                    <a:lumMod val="75000"/>
                  </a:schemeClr>
                </a:solidFill>
                <a:latin typeface="Calibri"/>
              </a:rPr>
              <a:t>EC between measured samples</a:t>
            </a:r>
          </a:p>
          <a:p>
            <a:pPr algn="l">
              <a:lnSpc>
                <a:spcPct val="106000"/>
              </a:lnSpc>
              <a:spcBef>
                <a:spcPts val="0"/>
              </a:spcBef>
              <a:spcAft>
                <a:spcPts val="300"/>
              </a:spcAft>
            </a:pPr>
            <a:r>
              <a:rPr lang="en-US" sz="2400" b="1" dirty="0">
                <a:solidFill>
                  <a:schemeClr val="tx2">
                    <a:lumMod val="75000"/>
                  </a:schemeClr>
                </a:solidFill>
                <a:latin typeface="Calibri"/>
              </a:rPr>
              <a:t>▪ Missing climate data → </a:t>
            </a:r>
            <a:r>
              <a:rPr lang="en-US" sz="2400" dirty="0">
                <a:solidFill>
                  <a:schemeClr val="tx2">
                    <a:lumMod val="75000"/>
                  </a:schemeClr>
                </a:solidFill>
                <a:latin typeface="Calibri"/>
              </a:rPr>
              <a:t>filled greenhouse gaps with micro-climate predictions</a:t>
            </a:r>
          </a:p>
          <a:p>
            <a:pPr algn="l">
              <a:lnSpc>
                <a:spcPct val="106000"/>
              </a:lnSpc>
              <a:spcBef>
                <a:spcPts val="0"/>
              </a:spcBef>
              <a:spcAft>
                <a:spcPts val="300"/>
              </a:spcAft>
            </a:pPr>
            <a:r>
              <a:rPr lang="en-US" sz="2400" b="1" dirty="0">
                <a:solidFill>
                  <a:schemeClr val="tx2">
                    <a:lumMod val="75000"/>
                  </a:schemeClr>
                </a:solidFill>
                <a:latin typeface="Calibri"/>
              </a:rPr>
              <a:t>▪ Irregular sampling → </a:t>
            </a:r>
            <a:r>
              <a:rPr lang="en-US" sz="2400" dirty="0">
                <a:solidFill>
                  <a:schemeClr val="tx2">
                    <a:lumMod val="75000"/>
                  </a:schemeClr>
                </a:solidFill>
                <a:latin typeface="Calibri"/>
              </a:rPr>
              <a:t>used time-gap and window aggregation features</a:t>
            </a:r>
          </a:p>
          <a:p>
            <a:pPr algn="l">
              <a:lnSpc>
                <a:spcPct val="106000"/>
              </a:lnSpc>
              <a:spcBef>
                <a:spcPts val="0"/>
              </a:spcBef>
              <a:spcAft>
                <a:spcPts val="300"/>
              </a:spcAft>
            </a:pPr>
            <a:r>
              <a:rPr lang="en-US" sz="2400" b="1" dirty="0">
                <a:solidFill>
                  <a:schemeClr val="tx2">
                    <a:lumMod val="75000"/>
                  </a:schemeClr>
                </a:solidFill>
                <a:latin typeface="Calibri"/>
              </a:rPr>
              <a:t>▪ Small EC changes → </a:t>
            </a:r>
            <a:r>
              <a:rPr lang="en-US" sz="2400" dirty="0">
                <a:solidFill>
                  <a:schemeClr val="tx2">
                    <a:lumMod val="75000"/>
                  </a:schemeClr>
                </a:solidFill>
                <a:latin typeface="Calibri"/>
              </a:rPr>
              <a:t>applied log-EC change and MAE-based evaluation</a:t>
            </a:r>
          </a:p>
          <a:p>
            <a:pPr algn="l">
              <a:lnSpc>
                <a:spcPct val="106000"/>
              </a:lnSpc>
              <a:spcBef>
                <a:spcPts val="0"/>
              </a:spcBef>
              <a:spcAft>
                <a:spcPts val="300"/>
              </a:spcAft>
            </a:pPr>
            <a:r>
              <a:rPr lang="en-US" sz="2400" b="1" dirty="0">
                <a:solidFill>
                  <a:schemeClr val="tx2">
                    <a:lumMod val="75000"/>
                  </a:schemeClr>
                </a:solidFill>
                <a:latin typeface="Calibri"/>
              </a:rPr>
              <a:t>▪ Limited generalization → </a:t>
            </a:r>
            <a:r>
              <a:rPr lang="en-US" sz="2400" dirty="0">
                <a:solidFill>
                  <a:schemeClr val="tx2">
                    <a:lumMod val="75000"/>
                  </a:schemeClr>
                </a:solidFill>
                <a:latin typeface="Calibri"/>
              </a:rPr>
              <a:t>requires testing on more seasons, crops, and greenhouses</a:t>
            </a:r>
          </a:p>
        </p:txBody>
      </p:sp>
      <p:pic>
        <p:nvPicPr>
          <p:cNvPr id="72" name="Picture 71" descr="download-Photoroom.png"/>
          <p:cNvPicPr>
            <a:picLocks noChangeAspect="1"/>
          </p:cNvPicPr>
          <p:nvPr/>
        </p:nvPicPr>
        <p:blipFill>
          <a:blip r:embed="rId5"/>
          <a:stretch>
            <a:fillRect/>
          </a:stretch>
        </p:blipFill>
        <p:spPr>
          <a:xfrm>
            <a:off x="523292" y="880486"/>
            <a:ext cx="2365200" cy="2375843"/>
          </a:xfrm>
          <a:prstGeom prst="rect">
            <a:avLst/>
          </a:prstGeom>
        </p:spPr>
      </p:pic>
      <p:pic>
        <p:nvPicPr>
          <p:cNvPr id="73" name="Picture 72" descr="Volcani_logo.png"/>
          <p:cNvPicPr>
            <a:picLocks noChangeAspect="1"/>
          </p:cNvPicPr>
          <p:nvPr/>
        </p:nvPicPr>
        <p:blipFill>
          <a:blip r:embed="rId6"/>
          <a:stretch>
            <a:fillRect/>
          </a:stretch>
        </p:blipFill>
        <p:spPr>
          <a:xfrm>
            <a:off x="22242093" y="880486"/>
            <a:ext cx="2467800" cy="2375997"/>
          </a:xfrm>
          <a:prstGeom prst="rect">
            <a:avLst/>
          </a:prstGeom>
        </p:spPr>
      </p:pic>
      <p:sp>
        <p:nvSpPr>
          <p:cNvPr id="30" name="Rounded Rectangle 44"/>
          <p:cNvSpPr/>
          <p:nvPr/>
        </p:nvSpPr>
        <p:spPr>
          <a:xfrm>
            <a:off x="12911942" y="3856129"/>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Rounded Rectangle 45"/>
          <p:cNvSpPr/>
          <p:nvPr/>
        </p:nvSpPr>
        <p:spPr>
          <a:xfrm>
            <a:off x="13181942" y="410812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06</a:t>
            </a:r>
            <a:endParaRPr sz="3600" b="1" i="0" dirty="0">
              <a:solidFill>
                <a:srgbClr val="FFFFFF"/>
              </a:solidFill>
              <a:latin typeface="+mj-lt"/>
            </a:endParaRPr>
          </a:p>
        </p:txBody>
      </p:sp>
      <p:sp>
        <p:nvSpPr>
          <p:cNvPr id="74" name="TextBox 46"/>
          <p:cNvSpPr txBox="1"/>
          <p:nvPr/>
        </p:nvSpPr>
        <p:spPr>
          <a:xfrm>
            <a:off x="13937943" y="409897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Validation Strategy</a:t>
            </a:r>
          </a:p>
        </p:txBody>
      </p:sp>
      <p:sp>
        <p:nvSpPr>
          <p:cNvPr id="77" name="Rectangle 47"/>
          <p:cNvSpPr/>
          <p:nvPr/>
        </p:nvSpPr>
        <p:spPr>
          <a:xfrm>
            <a:off x="13199942" y="479932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48"/>
          <p:cNvSpPr txBox="1"/>
          <p:nvPr/>
        </p:nvSpPr>
        <p:spPr>
          <a:xfrm>
            <a:off x="13217943" y="4918129"/>
            <a:ext cx="11052000" cy="1711934"/>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Walk-forward validation matches deployment: future pH/EC is predicted from past labels, forecasted climate and planned irrigation/fertigation.</a:t>
            </a:r>
          </a:p>
          <a:p>
            <a:pPr>
              <a:lnSpc>
                <a:spcPct val="106000"/>
              </a:lnSpc>
              <a:spcAft>
                <a:spcPts val="700"/>
              </a:spcAft>
            </a:pPr>
            <a:r>
              <a:rPr lang="en-US" sz="2400" dirty="0">
                <a:solidFill>
                  <a:schemeClr val="tx2">
                    <a:lumMod val="75000"/>
                  </a:schemeClr>
                </a:solidFill>
              </a:rPr>
              <a:t>▪ Future pH/EC labels are never used for training until after that sample becomes available.</a:t>
            </a:r>
            <a:endParaRPr sz="2400" i="0" dirty="0">
              <a:solidFill>
                <a:schemeClr val="tx2">
                  <a:lumMod val="75000"/>
                </a:schemeClr>
              </a:solidFill>
            </a:endParaRPr>
          </a:p>
        </p:txBody>
      </p:sp>
      <p:pic>
        <p:nvPicPr>
          <p:cNvPr id="79" name="Picture 75" descr="walkforward.png"/>
          <p:cNvPicPr>
            <a:picLocks noChangeAspect="1"/>
          </p:cNvPicPr>
          <p:nvPr/>
        </p:nvPicPr>
        <p:blipFill>
          <a:blip r:embed="rId7"/>
          <a:stretch>
            <a:fillRect/>
          </a:stretch>
        </p:blipFill>
        <p:spPr>
          <a:xfrm>
            <a:off x="14968292" y="6419345"/>
            <a:ext cx="7582755" cy="4623963"/>
          </a:xfrm>
          <a:prstGeom prst="rect">
            <a:avLst/>
          </a:prstGeom>
        </p:spPr>
      </p:pic>
      <p:sp>
        <p:nvSpPr>
          <p:cNvPr id="36" name="TextBox 28">
            <a:extLst>
              <a:ext uri="{FF2B5EF4-FFF2-40B4-BE49-F238E27FC236}">
                <a16:creationId xmlns:a16="http://schemas.microsoft.com/office/drawing/2014/main" id="{D7029A2C-F3E0-AE8F-8357-D486234A18DE}"/>
              </a:ext>
            </a:extLst>
          </p:cNvPr>
          <p:cNvSpPr txBox="1"/>
          <p:nvPr/>
        </p:nvSpPr>
        <p:spPr>
          <a:xfrm>
            <a:off x="955293" y="26057403"/>
            <a:ext cx="11052000" cy="447614"/>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Hybrid model choice: nonlinear learning + robust modeling of rare extreme intervals.</a:t>
            </a:r>
          </a:p>
        </p:txBody>
      </p:sp>
      <p:pic>
        <p:nvPicPr>
          <p:cNvPr id="48" name="תמונה 47">
            <a:extLst>
              <a:ext uri="{FF2B5EF4-FFF2-40B4-BE49-F238E27FC236}">
                <a16:creationId xmlns:a16="http://schemas.microsoft.com/office/drawing/2014/main" id="{5F5E2702-9552-1F99-49DA-25149C04CE57}"/>
              </a:ext>
            </a:extLst>
          </p:cNvPr>
          <p:cNvPicPr>
            <a:picLocks noChangeAspect="1"/>
          </p:cNvPicPr>
          <p:nvPr/>
        </p:nvPicPr>
        <p:blipFill>
          <a:blip r:embed="rId8"/>
          <a:stretch>
            <a:fillRect/>
          </a:stretch>
        </p:blipFill>
        <p:spPr>
          <a:xfrm>
            <a:off x="777149" y="20143502"/>
            <a:ext cx="11357998" cy="4391759"/>
          </a:xfrm>
          <a:prstGeom prst="rect">
            <a:avLst/>
          </a:prstGeom>
        </p:spPr>
      </p:pic>
      <p:sp>
        <p:nvSpPr>
          <p:cNvPr id="88" name="TextBox 65">
            <a:extLst>
              <a:ext uri="{FF2B5EF4-FFF2-40B4-BE49-F238E27FC236}">
                <a16:creationId xmlns:a16="http://schemas.microsoft.com/office/drawing/2014/main" id="{841AA824-C4E4-3F20-DC69-A52D5A79131B}"/>
              </a:ext>
            </a:extLst>
          </p:cNvPr>
          <p:cNvSpPr txBox="1"/>
          <p:nvPr/>
        </p:nvSpPr>
        <p:spPr>
          <a:xfrm>
            <a:off x="13103200" y="21583568"/>
            <a:ext cx="11039388" cy="447614"/>
          </a:xfrm>
          <a:prstGeom prst="rect">
            <a:avLst/>
          </a:prstGeom>
          <a:noFill/>
        </p:spPr>
        <p:txBody>
          <a:bodyPr wrap="square" lIns="36000" tIns="36000" rIns="36000" bIns="36000" anchor="t">
            <a:spAutoFit/>
          </a:bodyPr>
          <a:lstStyle/>
          <a:p>
            <a:pPr algn="ctr">
              <a:lnSpc>
                <a:spcPct val="106000"/>
              </a:lnSpc>
              <a:spcAft>
                <a:spcPts val="600"/>
              </a:spcAft>
            </a:pPr>
            <a:r>
              <a:rPr lang="en-US" sz="2400" dirty="0">
                <a:solidFill>
                  <a:schemeClr val="tx2">
                    <a:lumMod val="75000"/>
                  </a:schemeClr>
                </a:solidFill>
              </a:rPr>
              <a:t>MAE reduction is relative to a last-value baseline</a:t>
            </a:r>
            <a:endParaRPr sz="2400" dirty="0">
              <a:solidFill>
                <a:schemeClr val="tx2">
                  <a:lumMod val="75000"/>
                </a:schemeClr>
              </a:solidFill>
              <a:latin typeface="Calibri"/>
            </a:endParaRPr>
          </a:p>
        </p:txBody>
      </p:sp>
      <p:pic>
        <p:nvPicPr>
          <p:cNvPr id="47" name="תמונה 46" descr="Feature importance corrected color">
            <a:extLst>
              <a:ext uri="{FF2B5EF4-FFF2-40B4-BE49-F238E27FC236}">
                <a16:creationId xmlns:a16="http://schemas.microsoft.com/office/drawing/2014/main" id="{152C9FCE-3136-0B1D-DD49-7E74BEDDD993}"/>
              </a:ext>
            </a:extLst>
          </p:cNvPr>
          <p:cNvPicPr>
            <a:picLocks noChangeAspect="1"/>
          </p:cNvPicPr>
          <p:nvPr/>
        </p:nvPicPr>
        <p:blipFill>
          <a:blip r:embed="rId9"/>
          <a:stretch>
            <a:fillRect/>
          </a:stretch>
        </p:blipFill>
        <p:spPr>
          <a:xfrm>
            <a:off x="1705892" y="29469395"/>
            <a:ext cx="7812822" cy="5716699"/>
          </a:xfrm>
          <a:prstGeom prst="rect">
            <a:avLst/>
          </a:prstGeom>
        </p:spPr>
      </p:pic>
    </p:spTree>
    <p:extLst>
      <p:ext uri="{BB962C8B-B14F-4D97-AF65-F5344CB8AC3E}">
        <p14:creationId xmlns:p14="http://schemas.microsoft.com/office/powerpoint/2010/main" val="1587688478"/>
      </p:ext>
    </p:extLst>
  </p:cSld>
  <p:clrMapOvr>
    <a:masterClrMapping/>
  </p:clrMapOvr>
</p:sld>
</file>

<file path=ppt/theme/theme1.xml><?xml version="1.0" encoding="utf-8"?>
<a:theme xmlns:a="http://schemas.openxmlformats.org/drawingml/2006/main" name="PosterPresentations.com-70CMx10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400</TotalTime>
  <Words>625</Words>
  <Application>Microsoft Office PowerPoint</Application>
  <PresentationFormat>מותאם אישית</PresentationFormat>
  <Paragraphs>67</Paragraphs>
  <Slides>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3</vt:i4>
      </vt:variant>
      <vt:variant>
        <vt:lpstr>כותרות שקופיות</vt:lpstr>
      </vt:variant>
      <vt:variant>
        <vt:i4>1</vt:i4>
      </vt:variant>
    </vt:vector>
  </HeadingPairs>
  <TitlesOfParts>
    <vt:vector size="10" baseType="lpstr">
      <vt:lpstr>Arial</vt:lpstr>
      <vt:lpstr>Arial Black</vt:lpstr>
      <vt:lpstr>Calibri</vt:lpstr>
      <vt:lpstr>Cambria</vt:lpstr>
      <vt:lpstr>Times New Roman</vt:lpstr>
      <vt:lpstr>Trebuchet MS</vt:lpstr>
      <vt:lpstr>PosterPresentations.com-70CMx100CM</vt:lpstr>
      <vt:lpstr>Without Quick Guides</vt:lpstr>
      <vt:lpstr>Classic - Wide Center</vt:lpstr>
      <vt:lpstr>מצגת של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עדן אליהו</cp:lastModifiedBy>
  <cp:revision>100</cp:revision>
  <dcterms:created xsi:type="dcterms:W3CDTF">2012-02-10T00:10:15Z</dcterms:created>
  <dcterms:modified xsi:type="dcterms:W3CDTF">2026-06-28T18:10:44Z</dcterms:modified>
</cp:coreProperties>
</file>