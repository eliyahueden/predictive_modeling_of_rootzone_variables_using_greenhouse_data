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50" d="100"/>
          <a:sy n="50" d="100"/>
        </p:scale>
        <p:origin x="2832" y="-1728"/>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6/23/2026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6/23/2026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354250"/>
            <a:ext cx="23760000" cy="568865"/>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ea typeface="Cambria" panose="02040503050406030204" pitchFamily="18" charset="0"/>
              </a:rPr>
              <a:t>RUPPIN ACADEMIC CENTER    ·    DEPARTMENT OF COMPUTER SCIENCE    ·    AI &amp; DATA SCIENCE SPECIALIZATION</a:t>
            </a:r>
          </a:p>
        </p:txBody>
      </p:sp>
      <p:sp>
        <p:nvSpPr>
          <p:cNvPr id="3" name="TextBox 2"/>
          <p:cNvSpPr txBox="1"/>
          <p:nvPr/>
        </p:nvSpPr>
        <p:spPr>
          <a:xfrm>
            <a:off x="3240000" y="915169"/>
            <a:ext cx="18720000" cy="1919363"/>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6000" b="1" i="0" dirty="0">
                <a:solidFill>
                  <a:srgbClr val="3D4A1F"/>
                </a:solidFill>
                <a:ea typeface="Cambria" panose="02040503050406030204" pitchFamily="18" charset="0"/>
              </a:rPr>
              <a:t>Predictive Modeling of Root-Zone Variables
Using Greenhouse Data</a:t>
            </a:r>
          </a:p>
        </p:txBody>
      </p:sp>
      <p:sp>
        <p:nvSpPr>
          <p:cNvPr id="4" name="TextBox 3"/>
          <p:cNvSpPr txBox="1"/>
          <p:nvPr/>
        </p:nvSpPr>
        <p:spPr>
          <a:xfrm>
            <a:off x="3240000" y="2829039"/>
            <a:ext cx="8284343" cy="692873"/>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4000" b="1" i="0" dirty="0">
                <a:solidFill>
                  <a:srgbClr val="3D4A1F"/>
                </a:solidFill>
                <a:ea typeface="Cambria" panose="02040503050406030204" pitchFamily="18" charset="0"/>
              </a:rPr>
              <a:t>Students: </a:t>
            </a:r>
            <a:r>
              <a:rPr sz="4000" b="1" i="0" dirty="0">
                <a:solidFill>
                  <a:srgbClr val="3D4A1F"/>
                </a:solidFill>
                <a:ea typeface="Cambria" panose="02040503050406030204" pitchFamily="18" charset="0"/>
              </a:rPr>
              <a:t>Eden Eliyahu</a:t>
            </a:r>
            <a:r>
              <a:rPr lang="en-US" sz="4000" b="1" dirty="0">
                <a:solidFill>
                  <a:srgbClr val="3D4A1F"/>
                </a:solidFill>
                <a:ea typeface="Cambria" panose="02040503050406030204" pitchFamily="18" charset="0"/>
              </a:rPr>
              <a:t>, </a:t>
            </a:r>
            <a:r>
              <a:rPr sz="4000" b="1" i="0" dirty="0">
                <a:solidFill>
                  <a:srgbClr val="3D4A1F"/>
                </a:solidFill>
                <a:ea typeface="Cambria" panose="02040503050406030204" pitchFamily="18" charset="0"/>
              </a:rPr>
              <a:t>Oren Chaushu</a:t>
            </a:r>
          </a:p>
        </p:txBody>
      </p:sp>
      <p:sp>
        <p:nvSpPr>
          <p:cNvPr id="5" name="TextBox 4"/>
          <p:cNvSpPr txBox="1"/>
          <p:nvPr/>
        </p:nvSpPr>
        <p:spPr>
          <a:xfrm>
            <a:off x="12596019" y="2829038"/>
            <a:ext cx="9356019" cy="692873"/>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4000" b="1" dirty="0">
                <a:solidFill>
                  <a:srgbClr val="2E3517"/>
                </a:solidFill>
                <a:ea typeface="Cambria" panose="02040503050406030204" pitchFamily="18" charset="0"/>
              </a:rPr>
              <a:t>Supervisors:  Dr. Avner Priel</a:t>
            </a:r>
            <a:r>
              <a:rPr lang="en-US" sz="4000" b="1" dirty="0">
                <a:solidFill>
                  <a:srgbClr val="2E3517"/>
                </a:solidFill>
                <a:ea typeface="Cambria" panose="02040503050406030204" pitchFamily="18" charset="0"/>
              </a:rPr>
              <a:t>, </a:t>
            </a:r>
            <a:r>
              <a:rPr sz="4000" b="1" dirty="0">
                <a:solidFill>
                  <a:srgbClr val="2E3517"/>
                </a:solidFill>
                <a:ea typeface="Cambria" panose="02040503050406030204" pitchFamily="18" charset="0"/>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ea typeface="Cambria" panose="02040503050406030204" pitchFamily="18" charset="0"/>
            </a:endParaRPr>
          </a:p>
        </p:txBody>
      </p:sp>
      <p:pic>
        <p:nvPicPr>
          <p:cNvPr id="72" name="Picture 71" descr="download-Photoroom.png"/>
          <p:cNvPicPr>
            <a:picLocks noChangeAspect="1"/>
          </p:cNvPicPr>
          <p:nvPr/>
        </p:nvPicPr>
        <p:blipFill>
          <a:blip r:embed="rId2"/>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3"/>
          <a:stretch>
            <a:fillRect/>
          </a:stretch>
        </p:blipFill>
        <p:spPr>
          <a:xfrm>
            <a:off x="22222800" y="764682"/>
            <a:ext cx="2467800" cy="2375997"/>
          </a:xfrm>
          <a:prstGeom prst="rect">
            <a:avLst/>
          </a:prstGeom>
        </p:spPr>
      </p:pic>
      <p:sp>
        <p:nvSpPr>
          <p:cNvPr id="9" name="מלבן: פינות מעוגלות 8">
            <a:extLst>
              <a:ext uri="{FF2B5EF4-FFF2-40B4-BE49-F238E27FC236}">
                <a16:creationId xmlns:a16="http://schemas.microsoft.com/office/drawing/2014/main" id="{6C66FB25-17A0-9EEE-E300-022DF881C99C}"/>
              </a:ext>
            </a:extLst>
          </p:cNvPr>
          <p:cNvSpPr/>
          <p:nvPr/>
        </p:nvSpPr>
        <p:spPr>
          <a:xfrm>
            <a:off x="647700" y="3873500"/>
            <a:ext cx="23896638" cy="4127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מלבן: פינות מעוגלות 9">
            <a:extLst>
              <a:ext uri="{FF2B5EF4-FFF2-40B4-BE49-F238E27FC236}">
                <a16:creationId xmlns:a16="http://schemas.microsoft.com/office/drawing/2014/main" id="{6959EA70-022F-5B0E-E800-BEFE54AC61CF}"/>
              </a:ext>
            </a:extLst>
          </p:cNvPr>
          <p:cNvSpPr/>
          <p:nvPr/>
        </p:nvSpPr>
        <p:spPr>
          <a:xfrm>
            <a:off x="939800" y="41275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01</a:t>
            </a:r>
          </a:p>
        </p:txBody>
      </p:sp>
      <p:sp>
        <p:nvSpPr>
          <p:cNvPr id="11" name="תיבת טקסט 10">
            <a:extLst>
              <a:ext uri="{FF2B5EF4-FFF2-40B4-BE49-F238E27FC236}">
                <a16:creationId xmlns:a16="http://schemas.microsoft.com/office/drawing/2014/main" id="{451974B6-B73F-EE61-1D8B-09EF394B6DF6}"/>
              </a:ext>
            </a:extLst>
          </p:cNvPr>
          <p:cNvSpPr txBox="1"/>
          <p:nvPr/>
        </p:nvSpPr>
        <p:spPr>
          <a:xfrm>
            <a:off x="1689100" y="4064000"/>
            <a:ext cx="22499638"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Motivation &amp; Project Goal</a:t>
            </a:r>
            <a:endParaRPr lang="he-IL" sz="4000" b="1" dirty="0">
              <a:solidFill>
                <a:srgbClr val="40512B"/>
              </a:solidFill>
              <a:cs typeface="Times New Roman" panose="02020603050405020304" pitchFamily="18" charset="0"/>
            </a:endParaRPr>
          </a:p>
        </p:txBody>
      </p:sp>
      <p:sp>
        <p:nvSpPr>
          <p:cNvPr id="12" name="מלבן 11">
            <a:extLst>
              <a:ext uri="{FF2B5EF4-FFF2-40B4-BE49-F238E27FC236}">
                <a16:creationId xmlns:a16="http://schemas.microsoft.com/office/drawing/2014/main" id="{9CBAB812-2D39-45D5-4D30-3A82C46BB9B9}"/>
              </a:ext>
            </a:extLst>
          </p:cNvPr>
          <p:cNvSpPr/>
          <p:nvPr/>
        </p:nvSpPr>
        <p:spPr>
          <a:xfrm>
            <a:off x="1003300" y="4838700"/>
            <a:ext cx="23185438"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3" name="תיבת טקסט 12">
            <a:extLst>
              <a:ext uri="{FF2B5EF4-FFF2-40B4-BE49-F238E27FC236}">
                <a16:creationId xmlns:a16="http://schemas.microsoft.com/office/drawing/2014/main" id="{4CF9CE76-BCEA-C8DB-7E10-D37C2F015683}"/>
              </a:ext>
            </a:extLst>
          </p:cNvPr>
          <p:cNvSpPr txBox="1"/>
          <p:nvPr/>
        </p:nvSpPr>
        <p:spPr>
          <a:xfrm>
            <a:off x="1155700" y="4894580"/>
            <a:ext cx="11059319" cy="533479"/>
          </a:xfrm>
          <a:prstGeom prst="rect">
            <a:avLst/>
          </a:prstGeom>
          <a:noFill/>
        </p:spPr>
        <p:txBody>
          <a:bodyPr vert="horz" wrap="square" lIns="76200" tIns="50800" rIns="76200" bIns="50800" rtlCol="1">
            <a:spAutoFit/>
          </a:bodyPr>
          <a:lstStyle/>
          <a:p>
            <a:r>
              <a:rPr lang="en-US" sz="2800" b="1" dirty="0">
                <a:solidFill>
                  <a:srgbClr val="557123"/>
                </a:solidFill>
                <a:cs typeface="Times New Roman" panose="02020603050405020304" pitchFamily="18" charset="0"/>
              </a:rPr>
              <a:t>Motivation</a:t>
            </a:r>
            <a:endParaRPr lang="he-IL" sz="2800" b="1" dirty="0">
              <a:solidFill>
                <a:srgbClr val="557123"/>
              </a:solidFill>
              <a:cs typeface="Times New Roman" panose="02020603050405020304" pitchFamily="18" charset="0"/>
            </a:endParaRPr>
          </a:p>
        </p:txBody>
      </p:sp>
      <p:sp>
        <p:nvSpPr>
          <p:cNvPr id="14" name="תיבת טקסט 13">
            <a:extLst>
              <a:ext uri="{FF2B5EF4-FFF2-40B4-BE49-F238E27FC236}">
                <a16:creationId xmlns:a16="http://schemas.microsoft.com/office/drawing/2014/main" id="{657D8844-BD76-387E-9B01-C4D6431B3C72}"/>
              </a:ext>
            </a:extLst>
          </p:cNvPr>
          <p:cNvSpPr txBox="1"/>
          <p:nvPr/>
        </p:nvSpPr>
        <p:spPr>
          <a:xfrm>
            <a:off x="1155700" y="5440680"/>
            <a:ext cx="11059319" cy="2043573"/>
          </a:xfrm>
          <a:prstGeom prst="rect">
            <a:avLst/>
          </a:prstGeom>
          <a:noFill/>
        </p:spPr>
        <p:txBody>
          <a:bodyPr vert="horz" wrap="square" lIns="76200" tIns="50800" rIns="76200" bIns="50800" rtlCol="1">
            <a:spAutoFit/>
          </a:bodyPr>
          <a:lstStyle/>
          <a:p>
            <a:pPr>
              <a:lnSpc>
                <a:spcPct val="106000"/>
              </a:lnSpc>
              <a:spcAft>
                <a:spcPts val="500"/>
              </a:spcAft>
            </a:pPr>
            <a:r>
              <a:rPr lang="en-US" sz="2400" dirty="0">
                <a:solidFill>
                  <a:schemeClr val="tx2">
                    <a:lumMod val="75000"/>
                  </a:schemeClr>
                </a:solidFill>
              </a:rPr>
              <a:t>Root-zone pH and EC affect nutrient availability, salinity stress, and fertilizer efficiency. In greenhouses, they are typically monitored through accurate but infrequent manual samples, leaving gaps where changes from irrigation, fertigation, climate, and plant uptake may be missed. Predicting pH and EC from greenhouse data can give growers earlier insight, support faster corrections, and improve crop management.</a:t>
            </a:r>
          </a:p>
        </p:txBody>
      </p:sp>
      <p:sp>
        <p:nvSpPr>
          <p:cNvPr id="15" name="תיבת טקסט 14">
            <a:extLst>
              <a:ext uri="{FF2B5EF4-FFF2-40B4-BE49-F238E27FC236}">
                <a16:creationId xmlns:a16="http://schemas.microsoft.com/office/drawing/2014/main" id="{CC155B7C-48F4-4DEF-1B61-39A10C94B8A5}"/>
              </a:ext>
            </a:extLst>
          </p:cNvPr>
          <p:cNvSpPr txBox="1"/>
          <p:nvPr/>
        </p:nvSpPr>
        <p:spPr>
          <a:xfrm>
            <a:off x="12913519" y="4894580"/>
            <a:ext cx="11122819" cy="533479"/>
          </a:xfrm>
          <a:prstGeom prst="rect">
            <a:avLst/>
          </a:prstGeom>
          <a:noFill/>
        </p:spPr>
        <p:txBody>
          <a:bodyPr vert="horz" wrap="square" lIns="76200" tIns="50800" rIns="76200" bIns="50800" rtlCol="1">
            <a:spAutoFit/>
          </a:bodyPr>
          <a:lstStyle/>
          <a:p>
            <a:r>
              <a:rPr lang="en-US" sz="2800" b="1" dirty="0">
                <a:solidFill>
                  <a:srgbClr val="557123"/>
                </a:solidFill>
                <a:cs typeface="Times New Roman" panose="02020603050405020304" pitchFamily="18" charset="0"/>
              </a:rPr>
              <a:t>Project Goal</a:t>
            </a:r>
            <a:endParaRPr lang="he-IL" sz="2800" b="1" dirty="0">
              <a:solidFill>
                <a:srgbClr val="557123"/>
              </a:solidFill>
              <a:cs typeface="Times New Roman" panose="02020603050405020304" pitchFamily="18" charset="0"/>
            </a:endParaRPr>
          </a:p>
        </p:txBody>
      </p:sp>
      <p:sp>
        <p:nvSpPr>
          <p:cNvPr id="16" name="תיבת טקסט 15">
            <a:extLst>
              <a:ext uri="{FF2B5EF4-FFF2-40B4-BE49-F238E27FC236}">
                <a16:creationId xmlns:a16="http://schemas.microsoft.com/office/drawing/2014/main" id="{1C4F503A-3AF5-39A4-7E1A-9D31432E3C63}"/>
              </a:ext>
            </a:extLst>
          </p:cNvPr>
          <p:cNvSpPr txBox="1"/>
          <p:nvPr/>
        </p:nvSpPr>
        <p:spPr>
          <a:xfrm>
            <a:off x="12913519" y="5440680"/>
            <a:ext cx="11122819" cy="1728999"/>
          </a:xfrm>
          <a:prstGeom prst="rect">
            <a:avLst/>
          </a:prstGeom>
          <a:noFill/>
        </p:spPr>
        <p:txBody>
          <a:bodyPr vert="horz" wrap="square" lIns="76200" tIns="50800" rIns="76200" bIns="50800" rtlCol="1">
            <a:spAutoFit/>
          </a:bodyPr>
          <a:lstStyle/>
          <a:p>
            <a:pPr>
              <a:lnSpc>
                <a:spcPct val="106000"/>
              </a:lnSpc>
              <a:spcAft>
                <a:spcPts val="600"/>
              </a:spcAft>
            </a:pPr>
            <a:r>
              <a:rPr lang="en-US" sz="2400" dirty="0">
                <a:solidFill>
                  <a:schemeClr val="tx2">
                    <a:lumMod val="75000"/>
                  </a:schemeClr>
                </a:solidFill>
              </a:rPr>
              <a:t>▪ Develop a soft sensor that predicts future root-zone pH and EC from the latest measurement, forecasted climate, planned irrigation/fertigation and crop-state data.</a:t>
            </a:r>
          </a:p>
          <a:p>
            <a:pPr>
              <a:lnSpc>
                <a:spcPct val="106000"/>
              </a:lnSpc>
              <a:spcAft>
                <a:spcPts val="600"/>
              </a:spcAft>
            </a:pPr>
            <a:r>
              <a:rPr lang="en-US" sz="2400" dirty="0">
                <a:solidFill>
                  <a:schemeClr val="tx2">
                    <a:lumMod val="75000"/>
                  </a:schemeClr>
                </a:solidFill>
              </a:rPr>
              <a:t>▪ Estimate the t₀ → t₁ change so growers can test a planned irrigation/fertigation strategy, see expected future pH/EC values, and adjust before conditions drift.</a:t>
            </a:r>
          </a:p>
        </p:txBody>
      </p:sp>
      <p:sp>
        <p:nvSpPr>
          <p:cNvPr id="17" name="מלבן: פינות מעוגלות 16">
            <a:extLst>
              <a:ext uri="{FF2B5EF4-FFF2-40B4-BE49-F238E27FC236}">
                <a16:creationId xmlns:a16="http://schemas.microsoft.com/office/drawing/2014/main" id="{9DD353CF-7EE0-24D0-07C3-3859FBC78138}"/>
              </a:ext>
            </a:extLst>
          </p:cNvPr>
          <p:cNvSpPr/>
          <p:nvPr/>
        </p:nvSpPr>
        <p:spPr>
          <a:xfrm>
            <a:off x="647700" y="8318500"/>
            <a:ext cx="7762346"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 name="מלבן: פינות מעוגלות 17">
            <a:extLst>
              <a:ext uri="{FF2B5EF4-FFF2-40B4-BE49-F238E27FC236}">
                <a16:creationId xmlns:a16="http://schemas.microsoft.com/office/drawing/2014/main" id="{C99A4608-2B2C-333C-EDEE-E171788D9D5E}"/>
              </a:ext>
            </a:extLst>
          </p:cNvPr>
          <p:cNvSpPr/>
          <p:nvPr/>
        </p:nvSpPr>
        <p:spPr>
          <a:xfrm>
            <a:off x="939800" y="85725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02</a:t>
            </a:r>
          </a:p>
        </p:txBody>
      </p:sp>
      <p:sp>
        <p:nvSpPr>
          <p:cNvPr id="19" name="תיבת טקסט 18">
            <a:extLst>
              <a:ext uri="{FF2B5EF4-FFF2-40B4-BE49-F238E27FC236}">
                <a16:creationId xmlns:a16="http://schemas.microsoft.com/office/drawing/2014/main" id="{4B5EBD5B-2A3F-15D8-665C-63682A5A9033}"/>
              </a:ext>
            </a:extLst>
          </p:cNvPr>
          <p:cNvSpPr txBox="1"/>
          <p:nvPr/>
        </p:nvSpPr>
        <p:spPr>
          <a:xfrm>
            <a:off x="1689100" y="8509000"/>
            <a:ext cx="6365346"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Data</a:t>
            </a:r>
            <a:endParaRPr lang="he-IL" sz="4000" b="1" dirty="0">
              <a:solidFill>
                <a:srgbClr val="40512B"/>
              </a:solidFill>
              <a:cs typeface="Times New Roman" panose="02020603050405020304" pitchFamily="18" charset="0"/>
            </a:endParaRPr>
          </a:p>
        </p:txBody>
      </p:sp>
      <p:sp>
        <p:nvSpPr>
          <p:cNvPr id="20" name="מלבן 19">
            <a:extLst>
              <a:ext uri="{FF2B5EF4-FFF2-40B4-BE49-F238E27FC236}">
                <a16:creationId xmlns:a16="http://schemas.microsoft.com/office/drawing/2014/main" id="{5BDF2563-BBD4-6D8A-983D-0C435A3ACC6D}"/>
              </a:ext>
            </a:extLst>
          </p:cNvPr>
          <p:cNvSpPr/>
          <p:nvPr/>
        </p:nvSpPr>
        <p:spPr>
          <a:xfrm>
            <a:off x="1003300" y="9283700"/>
            <a:ext cx="7051146"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1" name="מלבן: פינות מעוגלות 20">
            <a:extLst>
              <a:ext uri="{FF2B5EF4-FFF2-40B4-BE49-F238E27FC236}">
                <a16:creationId xmlns:a16="http://schemas.microsoft.com/office/drawing/2014/main" id="{7879A0AC-8072-81FD-41E4-3F8813277073}"/>
              </a:ext>
            </a:extLst>
          </p:cNvPr>
          <p:cNvSpPr/>
          <p:nvPr/>
        </p:nvSpPr>
        <p:spPr>
          <a:xfrm>
            <a:off x="1003300" y="9613900"/>
            <a:ext cx="2265715"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תיבת טקסט 21">
            <a:extLst>
              <a:ext uri="{FF2B5EF4-FFF2-40B4-BE49-F238E27FC236}">
                <a16:creationId xmlns:a16="http://schemas.microsoft.com/office/drawing/2014/main" id="{FF339A0E-FBEB-5FFB-111D-16C52C0304E1}"/>
              </a:ext>
            </a:extLst>
          </p:cNvPr>
          <p:cNvSpPr txBox="1"/>
          <p:nvPr/>
        </p:nvSpPr>
        <p:spPr>
          <a:xfrm>
            <a:off x="1079500" y="9608820"/>
            <a:ext cx="2113315" cy="718145"/>
          </a:xfrm>
          <a:prstGeom prst="rect">
            <a:avLst/>
          </a:prstGeom>
          <a:noFill/>
        </p:spPr>
        <p:txBody>
          <a:bodyPr vert="horz" wrap="square" lIns="76200" tIns="50800" rIns="76200" bIns="50800" rtlCol="1">
            <a:spAutoFit/>
          </a:bodyPr>
          <a:lstStyle/>
          <a:p>
            <a:pPr algn="ctr"/>
            <a:r>
              <a:rPr lang="he-IL" sz="4000" b="1" dirty="0">
                <a:solidFill>
                  <a:srgbClr val="40512B"/>
                </a:solidFill>
                <a:latin typeface="+mj-lt"/>
                <a:cs typeface="Times New Roman" panose="02020603050405020304" pitchFamily="18" charset="0"/>
              </a:rPr>
              <a:t>16,682</a:t>
            </a:r>
          </a:p>
        </p:txBody>
      </p:sp>
      <p:sp>
        <p:nvSpPr>
          <p:cNvPr id="23" name="תיבת טקסט 22">
            <a:extLst>
              <a:ext uri="{FF2B5EF4-FFF2-40B4-BE49-F238E27FC236}">
                <a16:creationId xmlns:a16="http://schemas.microsoft.com/office/drawing/2014/main" id="{CAB07FE5-FD19-3F50-2AAC-E4744A6DBE61}"/>
              </a:ext>
            </a:extLst>
          </p:cNvPr>
          <p:cNvSpPr txBox="1"/>
          <p:nvPr/>
        </p:nvSpPr>
        <p:spPr>
          <a:xfrm>
            <a:off x="1079500" y="10147300"/>
            <a:ext cx="2113315" cy="471924"/>
          </a:xfrm>
          <a:prstGeom prst="rect">
            <a:avLst/>
          </a:prstGeom>
          <a:noFill/>
        </p:spPr>
        <p:txBody>
          <a:bodyPr vert="horz" wrap="square" lIns="76200" tIns="50800" rIns="76200" bIns="50800" rtlCol="1">
            <a:spAutoFit/>
          </a:bodyPr>
          <a:lstStyle/>
          <a:p>
            <a:pPr algn="ctr"/>
            <a:r>
              <a:rPr lang="en-US" sz="2400" b="1" dirty="0">
                <a:solidFill>
                  <a:srgbClr val="40512B"/>
                </a:solidFill>
                <a:cs typeface="Times New Roman" panose="02020603050405020304" pitchFamily="18" charset="0"/>
              </a:rPr>
              <a:t>10-min rows</a:t>
            </a:r>
            <a:endParaRPr lang="he-IL" sz="2400" b="1" dirty="0">
              <a:solidFill>
                <a:srgbClr val="40512B"/>
              </a:solidFill>
              <a:cs typeface="Times New Roman" panose="02020603050405020304" pitchFamily="18" charset="0"/>
            </a:endParaRPr>
          </a:p>
        </p:txBody>
      </p:sp>
      <p:sp>
        <p:nvSpPr>
          <p:cNvPr id="24" name="מלבן: פינות מעוגלות 23">
            <a:extLst>
              <a:ext uri="{FF2B5EF4-FFF2-40B4-BE49-F238E27FC236}">
                <a16:creationId xmlns:a16="http://schemas.microsoft.com/office/drawing/2014/main" id="{AD984F87-BDDA-269A-D0BC-19B76B56B447}"/>
              </a:ext>
            </a:extLst>
          </p:cNvPr>
          <p:cNvSpPr/>
          <p:nvPr/>
        </p:nvSpPr>
        <p:spPr>
          <a:xfrm>
            <a:off x="3396015" y="9613900"/>
            <a:ext cx="2265715"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5" name="תיבת טקסט 24">
            <a:extLst>
              <a:ext uri="{FF2B5EF4-FFF2-40B4-BE49-F238E27FC236}">
                <a16:creationId xmlns:a16="http://schemas.microsoft.com/office/drawing/2014/main" id="{F405E55F-93E3-09E2-B7BD-FD30ABF3E9D9}"/>
              </a:ext>
            </a:extLst>
          </p:cNvPr>
          <p:cNvSpPr txBox="1"/>
          <p:nvPr/>
        </p:nvSpPr>
        <p:spPr>
          <a:xfrm>
            <a:off x="3472215" y="9608820"/>
            <a:ext cx="2113315" cy="718145"/>
          </a:xfrm>
          <a:prstGeom prst="rect">
            <a:avLst/>
          </a:prstGeom>
          <a:noFill/>
        </p:spPr>
        <p:txBody>
          <a:bodyPr vert="horz" wrap="square" lIns="76200" tIns="50800" rIns="76200" bIns="50800" rtlCol="1">
            <a:spAutoFit/>
          </a:bodyPr>
          <a:lstStyle/>
          <a:p>
            <a:pPr algn="ctr"/>
            <a:r>
              <a:rPr lang="he-IL" sz="4000" b="1" dirty="0">
                <a:solidFill>
                  <a:srgbClr val="40512B"/>
                </a:solidFill>
                <a:latin typeface="+mj-lt"/>
                <a:cs typeface="Times New Roman" panose="02020603050405020304" pitchFamily="18" charset="0"/>
              </a:rPr>
              <a:t>109</a:t>
            </a:r>
          </a:p>
        </p:txBody>
      </p:sp>
      <p:sp>
        <p:nvSpPr>
          <p:cNvPr id="26" name="תיבת טקסט 25">
            <a:extLst>
              <a:ext uri="{FF2B5EF4-FFF2-40B4-BE49-F238E27FC236}">
                <a16:creationId xmlns:a16="http://schemas.microsoft.com/office/drawing/2014/main" id="{C1F90CEF-A163-5BF1-DA7F-06E01ED2540B}"/>
              </a:ext>
            </a:extLst>
          </p:cNvPr>
          <p:cNvSpPr txBox="1"/>
          <p:nvPr/>
        </p:nvSpPr>
        <p:spPr>
          <a:xfrm>
            <a:off x="3472215" y="10147300"/>
            <a:ext cx="2113315" cy="471924"/>
          </a:xfrm>
          <a:prstGeom prst="rect">
            <a:avLst/>
          </a:prstGeom>
          <a:noFill/>
        </p:spPr>
        <p:txBody>
          <a:bodyPr vert="horz" wrap="square" lIns="76200" tIns="50800" rIns="76200" bIns="50800" rtlCol="1">
            <a:spAutoFit/>
          </a:bodyPr>
          <a:lstStyle/>
          <a:p>
            <a:pPr algn="ctr"/>
            <a:r>
              <a:rPr lang="en-US" sz="2400" b="1" dirty="0">
                <a:solidFill>
                  <a:srgbClr val="40512B"/>
                </a:solidFill>
                <a:cs typeface="Times New Roman" panose="02020603050405020304" pitchFamily="18" charset="0"/>
              </a:rPr>
              <a:t>pH / EC labels</a:t>
            </a:r>
            <a:endParaRPr lang="he-IL" sz="2400" b="1" dirty="0">
              <a:solidFill>
                <a:srgbClr val="40512B"/>
              </a:solidFill>
              <a:cs typeface="Times New Roman" panose="02020603050405020304" pitchFamily="18" charset="0"/>
            </a:endParaRPr>
          </a:p>
        </p:txBody>
      </p:sp>
      <p:sp>
        <p:nvSpPr>
          <p:cNvPr id="27" name="מלבן: פינות מעוגלות 26">
            <a:extLst>
              <a:ext uri="{FF2B5EF4-FFF2-40B4-BE49-F238E27FC236}">
                <a16:creationId xmlns:a16="http://schemas.microsoft.com/office/drawing/2014/main" id="{4FBC8430-C42A-B8A0-5046-4DD9DB41A890}"/>
              </a:ext>
            </a:extLst>
          </p:cNvPr>
          <p:cNvSpPr/>
          <p:nvPr/>
        </p:nvSpPr>
        <p:spPr>
          <a:xfrm>
            <a:off x="5788730" y="9613900"/>
            <a:ext cx="2265716"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8" name="תיבת טקסט 27">
            <a:extLst>
              <a:ext uri="{FF2B5EF4-FFF2-40B4-BE49-F238E27FC236}">
                <a16:creationId xmlns:a16="http://schemas.microsoft.com/office/drawing/2014/main" id="{FD2DB9D6-F7C6-BD56-560E-65E6FFB52F50}"/>
              </a:ext>
            </a:extLst>
          </p:cNvPr>
          <p:cNvSpPr txBox="1"/>
          <p:nvPr/>
        </p:nvSpPr>
        <p:spPr>
          <a:xfrm>
            <a:off x="5864930" y="9608820"/>
            <a:ext cx="2113315" cy="718145"/>
          </a:xfrm>
          <a:prstGeom prst="rect">
            <a:avLst/>
          </a:prstGeom>
          <a:noFill/>
        </p:spPr>
        <p:txBody>
          <a:bodyPr vert="horz" wrap="square" lIns="76200" tIns="50800" rIns="76200" bIns="50800" rtlCol="1">
            <a:spAutoFit/>
          </a:bodyPr>
          <a:lstStyle/>
          <a:p>
            <a:pPr algn="ctr"/>
            <a:r>
              <a:rPr lang="he-IL" sz="4000" b="1" dirty="0">
                <a:solidFill>
                  <a:srgbClr val="40512B"/>
                </a:solidFill>
                <a:latin typeface="+mj-lt"/>
                <a:cs typeface="Times New Roman" panose="02020603050405020304" pitchFamily="18" charset="0"/>
              </a:rPr>
              <a:t>20+</a:t>
            </a:r>
          </a:p>
        </p:txBody>
      </p:sp>
      <p:sp>
        <p:nvSpPr>
          <p:cNvPr id="29" name="תיבת טקסט 28">
            <a:extLst>
              <a:ext uri="{FF2B5EF4-FFF2-40B4-BE49-F238E27FC236}">
                <a16:creationId xmlns:a16="http://schemas.microsoft.com/office/drawing/2014/main" id="{DE6600D9-E126-8370-B273-90F041FA3D7D}"/>
              </a:ext>
            </a:extLst>
          </p:cNvPr>
          <p:cNvSpPr txBox="1"/>
          <p:nvPr/>
        </p:nvSpPr>
        <p:spPr>
          <a:xfrm>
            <a:off x="5864930" y="10147300"/>
            <a:ext cx="2113315" cy="471924"/>
          </a:xfrm>
          <a:prstGeom prst="rect">
            <a:avLst/>
          </a:prstGeom>
          <a:noFill/>
        </p:spPr>
        <p:txBody>
          <a:bodyPr vert="horz" wrap="square" lIns="76200" tIns="50800" rIns="76200" bIns="50800" rtlCol="1">
            <a:spAutoFit/>
          </a:bodyPr>
          <a:lstStyle/>
          <a:p>
            <a:pPr algn="ctr"/>
            <a:r>
              <a:rPr lang="en-US" sz="2400" b="1" dirty="0">
                <a:solidFill>
                  <a:srgbClr val="40512B"/>
                </a:solidFill>
                <a:cs typeface="Times New Roman" panose="02020603050405020304" pitchFamily="18" charset="0"/>
              </a:rPr>
              <a:t>input features</a:t>
            </a:r>
            <a:endParaRPr lang="he-IL" sz="2400" b="1" dirty="0">
              <a:solidFill>
                <a:srgbClr val="40512B"/>
              </a:solidFill>
              <a:cs typeface="Times New Roman" panose="02020603050405020304" pitchFamily="18" charset="0"/>
            </a:endParaRPr>
          </a:p>
        </p:txBody>
      </p:sp>
      <p:sp>
        <p:nvSpPr>
          <p:cNvPr id="301" name="cap"/>
          <p:cNvSpPr txBox="1"/>
          <p:nvPr/>
        </p:nvSpPr>
        <p:spPr>
          <a:xfrm>
            <a:off x="1003300" y="10940000"/>
            <a:ext cx="7051146" cy="470000"/>
          </a:xfrm>
          <a:prstGeom prst="rect">
            <a:avLst/>
          </a:prstGeom>
          <a:noFill/>
        </p:spPr>
        <p:txBody>
          <a:bodyPr wrap="square" lIns="0" tIns="0" rIns="91440" bIns="0" rtlCol="0" anchor="ctr">
            <a:normAutofit/>
          </a:bodyPr>
          <a:lstStyle/>
          <a:p>
            <a:pPr algn="l"/>
            <a:r>
              <a:rPr lang="en-US" sz="2400" i="1" dirty="0">
                <a:solidFill>
                  <a:srgbClr val="557123"/>
                </a:solidFill>
                <a:latin typeface="Calibri"/>
              </a:rPr>
              <a:t>Sampling frequency by data source</a:t>
            </a:r>
          </a:p>
        </p:txBody>
      </p:sp>
      <p:sp>
        <p:nvSpPr>
          <p:cNvPr id="302" name="lane"/>
          <p:cNvSpPr txBox="1"/>
          <p:nvPr/>
        </p:nvSpPr>
        <p:spPr>
          <a:xfrm>
            <a:off x="779780" y="11425000"/>
            <a:ext cx="3246700" cy="590000"/>
          </a:xfrm>
          <a:prstGeom prst="rect">
            <a:avLst/>
          </a:prstGeom>
          <a:noFill/>
        </p:spPr>
        <p:txBody>
          <a:bodyPr wrap="square" lIns="0" tIns="0" rIns="40000" bIns="0" rtlCol="0" anchor="ctr">
            <a:normAutofit/>
          </a:bodyPr>
          <a:lstStyle/>
          <a:p>
            <a:pPr algn="r"/>
            <a:r>
              <a:rPr lang="en-US" sz="2400" b="1" dirty="0">
                <a:solidFill>
                  <a:srgbClr val="40512B"/>
                </a:solidFill>
                <a:latin typeface="Calibri"/>
              </a:rPr>
              <a:t>Weather &amp; radiation</a:t>
            </a:r>
          </a:p>
        </p:txBody>
      </p:sp>
      <p:sp>
        <p:nvSpPr>
          <p:cNvPr id="303" name="band"/>
          <p:cNvSpPr/>
          <p:nvPr/>
        </p:nvSpPr>
        <p:spPr>
          <a:xfrm>
            <a:off x="4156480" y="11615000"/>
            <a:ext cx="3674446" cy="210000"/>
          </a:xfrm>
          <a:prstGeom prst="roundRect">
            <a:avLst>
              <a:gd name="adj" fmla="val 22000"/>
            </a:avLst>
          </a:prstGeom>
          <a:solidFill>
            <a:srgbClr val="557123"/>
          </a:solidFill>
          <a:ln>
            <a:noFill/>
          </a:ln>
        </p:spPr>
        <p:txBody>
          <a:bodyPr/>
          <a:lstStyle/>
          <a:p>
            <a:endParaRPr lang="he-IL"/>
          </a:p>
        </p:txBody>
      </p:sp>
      <p:sp>
        <p:nvSpPr>
          <p:cNvPr id="304" name="lane"/>
          <p:cNvSpPr txBox="1"/>
          <p:nvPr/>
        </p:nvSpPr>
        <p:spPr>
          <a:xfrm>
            <a:off x="779780" y="12015000"/>
            <a:ext cx="3246700" cy="590000"/>
          </a:xfrm>
          <a:prstGeom prst="rect">
            <a:avLst/>
          </a:prstGeom>
          <a:noFill/>
        </p:spPr>
        <p:txBody>
          <a:bodyPr wrap="square" lIns="0" tIns="0" rIns="40000" bIns="0" rtlCol="0" anchor="ctr">
            <a:normAutofit/>
          </a:bodyPr>
          <a:lstStyle/>
          <a:p>
            <a:pPr algn="r"/>
            <a:r>
              <a:rPr lang="en-US" sz="2400" b="1" dirty="0">
                <a:solidFill>
                  <a:srgbClr val="40512B"/>
                </a:solidFill>
                <a:latin typeface="Calibri"/>
              </a:rPr>
              <a:t>Greenhouse climate</a:t>
            </a:r>
          </a:p>
        </p:txBody>
      </p:sp>
      <p:sp>
        <p:nvSpPr>
          <p:cNvPr id="305" name="band"/>
          <p:cNvSpPr/>
          <p:nvPr/>
        </p:nvSpPr>
        <p:spPr>
          <a:xfrm>
            <a:off x="4156480" y="12205000"/>
            <a:ext cx="3674446" cy="210000"/>
          </a:xfrm>
          <a:prstGeom prst="roundRect">
            <a:avLst>
              <a:gd name="adj" fmla="val 22000"/>
            </a:avLst>
          </a:prstGeom>
          <a:solidFill>
            <a:srgbClr val="557123"/>
          </a:solidFill>
          <a:ln>
            <a:noFill/>
          </a:ln>
        </p:spPr>
        <p:txBody>
          <a:bodyPr/>
          <a:lstStyle/>
          <a:p>
            <a:endParaRPr lang="he-IL"/>
          </a:p>
        </p:txBody>
      </p:sp>
      <p:sp>
        <p:nvSpPr>
          <p:cNvPr id="306" name="lane"/>
          <p:cNvSpPr txBox="1"/>
          <p:nvPr/>
        </p:nvSpPr>
        <p:spPr>
          <a:xfrm>
            <a:off x="779780" y="12605000"/>
            <a:ext cx="3246700" cy="590000"/>
          </a:xfrm>
          <a:prstGeom prst="rect">
            <a:avLst/>
          </a:prstGeom>
          <a:noFill/>
        </p:spPr>
        <p:txBody>
          <a:bodyPr wrap="square" lIns="0" tIns="0" rIns="40000" bIns="0" rtlCol="0" anchor="ctr">
            <a:normAutofit/>
          </a:bodyPr>
          <a:lstStyle/>
          <a:p>
            <a:pPr algn="r"/>
            <a:r>
              <a:rPr lang="en-US" sz="2400" b="1" dirty="0">
                <a:solidFill>
                  <a:srgbClr val="40512B"/>
                </a:solidFill>
                <a:latin typeface="Calibri"/>
              </a:rPr>
              <a:t>Irrigation / fertigation</a:t>
            </a:r>
          </a:p>
        </p:txBody>
      </p:sp>
      <p:sp>
        <p:nvSpPr>
          <p:cNvPr id="307" name="irrig"/>
          <p:cNvSpPr/>
          <p:nvPr/>
        </p:nvSpPr>
        <p:spPr>
          <a:xfrm>
            <a:off x="4156480" y="12775000"/>
            <a:ext cx="3674446" cy="250000"/>
          </a:xfrm>
          <a:prstGeom prst="roundRect">
            <a:avLst>
              <a:gd name="adj" fmla="val 18000"/>
            </a:avLst>
          </a:prstGeom>
          <a:pattFill prst="ltVert">
            <a:fgClr>
              <a:srgbClr val="557123"/>
            </a:fgClr>
            <a:bgClr>
              <a:srgbClr val="FFFDF5"/>
            </a:bgClr>
          </a:pattFill>
          <a:ln>
            <a:noFill/>
          </a:ln>
        </p:spPr>
        <p:txBody>
          <a:bodyPr/>
          <a:lstStyle/>
          <a:p>
            <a:endParaRPr lang="he-IL"/>
          </a:p>
        </p:txBody>
      </p:sp>
      <p:sp>
        <p:nvSpPr>
          <p:cNvPr id="308" name="lane"/>
          <p:cNvSpPr txBox="1"/>
          <p:nvPr/>
        </p:nvSpPr>
        <p:spPr>
          <a:xfrm>
            <a:off x="779780" y="13195000"/>
            <a:ext cx="3246700" cy="590000"/>
          </a:xfrm>
          <a:prstGeom prst="rect">
            <a:avLst/>
          </a:prstGeom>
          <a:noFill/>
        </p:spPr>
        <p:txBody>
          <a:bodyPr wrap="square" lIns="0" tIns="0" rIns="40000" bIns="0" rtlCol="0" anchor="ctr">
            <a:normAutofit/>
          </a:bodyPr>
          <a:lstStyle/>
          <a:p>
            <a:pPr algn="r"/>
            <a:r>
              <a:rPr lang="en-US" sz="2400" b="1" dirty="0">
                <a:solidFill>
                  <a:srgbClr val="40512B"/>
                </a:solidFill>
                <a:latin typeface="Calibri"/>
              </a:rPr>
              <a:t>Crop state</a:t>
            </a:r>
          </a:p>
        </p:txBody>
      </p:sp>
      <p:sp>
        <p:nvSpPr>
          <p:cNvPr id="309" name="crop"/>
          <p:cNvSpPr/>
          <p:nvPr/>
        </p:nvSpPr>
        <p:spPr>
          <a:xfrm>
            <a:off x="4154096" y="13432500"/>
            <a:ext cx="115000" cy="115000"/>
          </a:xfrm>
          <a:prstGeom prst="ellipse">
            <a:avLst/>
          </a:prstGeom>
          <a:solidFill>
            <a:srgbClr val="557123"/>
          </a:solidFill>
          <a:ln>
            <a:noFill/>
          </a:ln>
        </p:spPr>
        <p:txBody>
          <a:bodyPr/>
          <a:lstStyle/>
          <a:p>
            <a:endParaRPr lang="he-IL"/>
          </a:p>
        </p:txBody>
      </p:sp>
      <p:sp>
        <p:nvSpPr>
          <p:cNvPr id="310" name="crop"/>
          <p:cNvSpPr/>
          <p:nvPr/>
        </p:nvSpPr>
        <p:spPr>
          <a:xfrm>
            <a:off x="4391710" y="13432500"/>
            <a:ext cx="115000" cy="115000"/>
          </a:xfrm>
          <a:prstGeom prst="ellipse">
            <a:avLst/>
          </a:prstGeom>
          <a:solidFill>
            <a:srgbClr val="557123"/>
          </a:solidFill>
          <a:ln>
            <a:noFill/>
          </a:ln>
        </p:spPr>
        <p:txBody>
          <a:bodyPr/>
          <a:lstStyle/>
          <a:p>
            <a:endParaRPr lang="he-IL"/>
          </a:p>
        </p:txBody>
      </p:sp>
      <p:sp>
        <p:nvSpPr>
          <p:cNvPr id="311" name="crop"/>
          <p:cNvSpPr/>
          <p:nvPr/>
        </p:nvSpPr>
        <p:spPr>
          <a:xfrm>
            <a:off x="4629325" y="13432500"/>
            <a:ext cx="115000" cy="115000"/>
          </a:xfrm>
          <a:prstGeom prst="ellipse">
            <a:avLst/>
          </a:prstGeom>
          <a:solidFill>
            <a:srgbClr val="557123"/>
          </a:solidFill>
          <a:ln>
            <a:noFill/>
          </a:ln>
        </p:spPr>
        <p:txBody>
          <a:bodyPr/>
          <a:lstStyle/>
          <a:p>
            <a:endParaRPr lang="he-IL"/>
          </a:p>
        </p:txBody>
      </p:sp>
      <p:sp>
        <p:nvSpPr>
          <p:cNvPr id="312" name="crop"/>
          <p:cNvSpPr/>
          <p:nvPr/>
        </p:nvSpPr>
        <p:spPr>
          <a:xfrm>
            <a:off x="4866939" y="13432500"/>
            <a:ext cx="115000" cy="115000"/>
          </a:xfrm>
          <a:prstGeom prst="ellipse">
            <a:avLst/>
          </a:prstGeom>
          <a:solidFill>
            <a:srgbClr val="557123"/>
          </a:solidFill>
          <a:ln>
            <a:noFill/>
          </a:ln>
        </p:spPr>
        <p:txBody>
          <a:bodyPr/>
          <a:lstStyle/>
          <a:p>
            <a:endParaRPr lang="he-IL"/>
          </a:p>
        </p:txBody>
      </p:sp>
      <p:sp>
        <p:nvSpPr>
          <p:cNvPr id="313" name="crop"/>
          <p:cNvSpPr/>
          <p:nvPr/>
        </p:nvSpPr>
        <p:spPr>
          <a:xfrm>
            <a:off x="5104553" y="13432500"/>
            <a:ext cx="115000" cy="115000"/>
          </a:xfrm>
          <a:prstGeom prst="ellipse">
            <a:avLst/>
          </a:prstGeom>
          <a:solidFill>
            <a:srgbClr val="557123"/>
          </a:solidFill>
          <a:ln>
            <a:noFill/>
          </a:ln>
        </p:spPr>
        <p:txBody>
          <a:bodyPr/>
          <a:lstStyle/>
          <a:p>
            <a:endParaRPr lang="he-IL"/>
          </a:p>
        </p:txBody>
      </p:sp>
      <p:sp>
        <p:nvSpPr>
          <p:cNvPr id="314" name="crop"/>
          <p:cNvSpPr/>
          <p:nvPr/>
        </p:nvSpPr>
        <p:spPr>
          <a:xfrm>
            <a:off x="5342167" y="13432500"/>
            <a:ext cx="115000" cy="115000"/>
          </a:xfrm>
          <a:prstGeom prst="ellipse">
            <a:avLst/>
          </a:prstGeom>
          <a:solidFill>
            <a:srgbClr val="557123"/>
          </a:solidFill>
          <a:ln>
            <a:noFill/>
          </a:ln>
        </p:spPr>
        <p:txBody>
          <a:bodyPr/>
          <a:lstStyle/>
          <a:p>
            <a:endParaRPr lang="he-IL"/>
          </a:p>
        </p:txBody>
      </p:sp>
      <p:sp>
        <p:nvSpPr>
          <p:cNvPr id="315" name="crop"/>
          <p:cNvSpPr/>
          <p:nvPr/>
        </p:nvSpPr>
        <p:spPr>
          <a:xfrm>
            <a:off x="5579781" y="13432500"/>
            <a:ext cx="115000" cy="115000"/>
          </a:xfrm>
          <a:prstGeom prst="ellipse">
            <a:avLst/>
          </a:prstGeom>
          <a:solidFill>
            <a:srgbClr val="557123"/>
          </a:solidFill>
          <a:ln>
            <a:noFill/>
          </a:ln>
        </p:spPr>
        <p:txBody>
          <a:bodyPr/>
          <a:lstStyle/>
          <a:p>
            <a:endParaRPr lang="he-IL"/>
          </a:p>
        </p:txBody>
      </p:sp>
      <p:sp>
        <p:nvSpPr>
          <p:cNvPr id="316" name="crop"/>
          <p:cNvSpPr/>
          <p:nvPr/>
        </p:nvSpPr>
        <p:spPr>
          <a:xfrm>
            <a:off x="5817395" y="13432500"/>
            <a:ext cx="115000" cy="115000"/>
          </a:xfrm>
          <a:prstGeom prst="ellipse">
            <a:avLst/>
          </a:prstGeom>
          <a:solidFill>
            <a:srgbClr val="557123"/>
          </a:solidFill>
          <a:ln>
            <a:noFill/>
          </a:ln>
        </p:spPr>
        <p:txBody>
          <a:bodyPr/>
          <a:lstStyle/>
          <a:p>
            <a:endParaRPr lang="he-IL"/>
          </a:p>
        </p:txBody>
      </p:sp>
      <p:sp>
        <p:nvSpPr>
          <p:cNvPr id="317" name="crop"/>
          <p:cNvSpPr/>
          <p:nvPr/>
        </p:nvSpPr>
        <p:spPr>
          <a:xfrm>
            <a:off x="6055010" y="13432500"/>
            <a:ext cx="115000" cy="115000"/>
          </a:xfrm>
          <a:prstGeom prst="ellipse">
            <a:avLst/>
          </a:prstGeom>
          <a:solidFill>
            <a:srgbClr val="557123"/>
          </a:solidFill>
          <a:ln>
            <a:noFill/>
          </a:ln>
        </p:spPr>
        <p:txBody>
          <a:bodyPr/>
          <a:lstStyle/>
          <a:p>
            <a:endParaRPr lang="he-IL"/>
          </a:p>
        </p:txBody>
      </p:sp>
      <p:sp>
        <p:nvSpPr>
          <p:cNvPr id="318" name="crop"/>
          <p:cNvSpPr/>
          <p:nvPr/>
        </p:nvSpPr>
        <p:spPr>
          <a:xfrm>
            <a:off x="6292624" y="13432500"/>
            <a:ext cx="115000" cy="115000"/>
          </a:xfrm>
          <a:prstGeom prst="ellipse">
            <a:avLst/>
          </a:prstGeom>
          <a:solidFill>
            <a:srgbClr val="557123"/>
          </a:solidFill>
          <a:ln>
            <a:noFill/>
          </a:ln>
        </p:spPr>
        <p:txBody>
          <a:bodyPr/>
          <a:lstStyle/>
          <a:p>
            <a:endParaRPr lang="he-IL"/>
          </a:p>
        </p:txBody>
      </p:sp>
      <p:sp>
        <p:nvSpPr>
          <p:cNvPr id="319" name="crop"/>
          <p:cNvSpPr/>
          <p:nvPr/>
        </p:nvSpPr>
        <p:spPr>
          <a:xfrm>
            <a:off x="6530238" y="13432500"/>
            <a:ext cx="115000" cy="115000"/>
          </a:xfrm>
          <a:prstGeom prst="ellipse">
            <a:avLst/>
          </a:prstGeom>
          <a:solidFill>
            <a:srgbClr val="557123"/>
          </a:solidFill>
          <a:ln>
            <a:noFill/>
          </a:ln>
        </p:spPr>
        <p:txBody>
          <a:bodyPr/>
          <a:lstStyle/>
          <a:p>
            <a:endParaRPr lang="he-IL"/>
          </a:p>
        </p:txBody>
      </p:sp>
      <p:sp>
        <p:nvSpPr>
          <p:cNvPr id="320" name="crop"/>
          <p:cNvSpPr/>
          <p:nvPr/>
        </p:nvSpPr>
        <p:spPr>
          <a:xfrm>
            <a:off x="6767852" y="13432500"/>
            <a:ext cx="115000" cy="115000"/>
          </a:xfrm>
          <a:prstGeom prst="ellipse">
            <a:avLst/>
          </a:prstGeom>
          <a:solidFill>
            <a:srgbClr val="557123"/>
          </a:solidFill>
          <a:ln>
            <a:noFill/>
          </a:ln>
        </p:spPr>
        <p:txBody>
          <a:bodyPr/>
          <a:lstStyle/>
          <a:p>
            <a:endParaRPr lang="he-IL"/>
          </a:p>
        </p:txBody>
      </p:sp>
      <p:sp>
        <p:nvSpPr>
          <p:cNvPr id="321" name="crop"/>
          <p:cNvSpPr/>
          <p:nvPr/>
        </p:nvSpPr>
        <p:spPr>
          <a:xfrm>
            <a:off x="7005466" y="13432500"/>
            <a:ext cx="115000" cy="115000"/>
          </a:xfrm>
          <a:prstGeom prst="ellipse">
            <a:avLst/>
          </a:prstGeom>
          <a:solidFill>
            <a:srgbClr val="557123"/>
          </a:solidFill>
          <a:ln>
            <a:noFill/>
          </a:ln>
        </p:spPr>
        <p:txBody>
          <a:bodyPr/>
          <a:lstStyle/>
          <a:p>
            <a:endParaRPr lang="he-IL"/>
          </a:p>
        </p:txBody>
      </p:sp>
      <p:sp>
        <p:nvSpPr>
          <p:cNvPr id="322" name="crop"/>
          <p:cNvSpPr/>
          <p:nvPr/>
        </p:nvSpPr>
        <p:spPr>
          <a:xfrm>
            <a:off x="7243080" y="13432500"/>
            <a:ext cx="115000" cy="115000"/>
          </a:xfrm>
          <a:prstGeom prst="ellipse">
            <a:avLst/>
          </a:prstGeom>
          <a:solidFill>
            <a:srgbClr val="557123"/>
          </a:solidFill>
          <a:ln>
            <a:noFill/>
          </a:ln>
        </p:spPr>
        <p:txBody>
          <a:bodyPr/>
          <a:lstStyle/>
          <a:p>
            <a:endParaRPr lang="he-IL"/>
          </a:p>
        </p:txBody>
      </p:sp>
      <p:sp>
        <p:nvSpPr>
          <p:cNvPr id="323" name="crop"/>
          <p:cNvSpPr/>
          <p:nvPr/>
        </p:nvSpPr>
        <p:spPr>
          <a:xfrm>
            <a:off x="7480695" y="13432500"/>
            <a:ext cx="115000" cy="115000"/>
          </a:xfrm>
          <a:prstGeom prst="ellipse">
            <a:avLst/>
          </a:prstGeom>
          <a:solidFill>
            <a:srgbClr val="557123"/>
          </a:solidFill>
          <a:ln>
            <a:noFill/>
          </a:ln>
        </p:spPr>
        <p:txBody>
          <a:bodyPr/>
          <a:lstStyle/>
          <a:p>
            <a:endParaRPr lang="he-IL"/>
          </a:p>
        </p:txBody>
      </p:sp>
      <p:sp>
        <p:nvSpPr>
          <p:cNvPr id="324" name="crop"/>
          <p:cNvSpPr/>
          <p:nvPr/>
        </p:nvSpPr>
        <p:spPr>
          <a:xfrm>
            <a:off x="7718309" y="13432500"/>
            <a:ext cx="115000" cy="115000"/>
          </a:xfrm>
          <a:prstGeom prst="ellipse">
            <a:avLst/>
          </a:prstGeom>
          <a:solidFill>
            <a:srgbClr val="557123"/>
          </a:solidFill>
          <a:ln>
            <a:noFill/>
          </a:ln>
        </p:spPr>
        <p:txBody>
          <a:bodyPr/>
          <a:lstStyle/>
          <a:p>
            <a:endParaRPr lang="he-IL"/>
          </a:p>
        </p:txBody>
      </p:sp>
      <p:sp>
        <p:nvSpPr>
          <p:cNvPr id="325" name="lane"/>
          <p:cNvSpPr txBox="1"/>
          <p:nvPr/>
        </p:nvSpPr>
        <p:spPr>
          <a:xfrm>
            <a:off x="779780" y="13785000"/>
            <a:ext cx="3246700" cy="590000"/>
          </a:xfrm>
          <a:prstGeom prst="rect">
            <a:avLst/>
          </a:prstGeom>
          <a:noFill/>
        </p:spPr>
        <p:txBody>
          <a:bodyPr wrap="square" lIns="0" tIns="0" rIns="40000" bIns="0" rtlCol="0" anchor="ctr">
            <a:normAutofit/>
          </a:bodyPr>
          <a:lstStyle/>
          <a:p>
            <a:pPr algn="r"/>
            <a:r>
              <a:rPr lang="en-US" sz="2400" b="1" dirty="0">
                <a:solidFill>
                  <a:srgbClr val="40512B"/>
                </a:solidFill>
                <a:latin typeface="Calibri"/>
              </a:rPr>
              <a:t>Manual pH / EC labels</a:t>
            </a:r>
          </a:p>
        </p:txBody>
      </p:sp>
      <p:sp>
        <p:nvSpPr>
          <p:cNvPr id="326" name="lab"/>
          <p:cNvSpPr/>
          <p:nvPr/>
        </p:nvSpPr>
        <p:spPr>
          <a:xfrm>
            <a:off x="4188713" y="14002000"/>
            <a:ext cx="156000" cy="156000"/>
          </a:xfrm>
          <a:prstGeom prst="ellipse">
            <a:avLst/>
          </a:prstGeom>
          <a:solidFill>
            <a:srgbClr val="E4AD1F"/>
          </a:solidFill>
          <a:ln>
            <a:noFill/>
          </a:ln>
        </p:spPr>
        <p:txBody>
          <a:bodyPr/>
          <a:lstStyle/>
          <a:p>
            <a:endParaRPr lang="he-IL"/>
          </a:p>
        </p:txBody>
      </p:sp>
      <p:sp>
        <p:nvSpPr>
          <p:cNvPr id="327" name="lab"/>
          <p:cNvSpPr/>
          <p:nvPr/>
        </p:nvSpPr>
        <p:spPr>
          <a:xfrm>
            <a:off x="4556157" y="14002000"/>
            <a:ext cx="156000" cy="156000"/>
          </a:xfrm>
          <a:prstGeom prst="ellipse">
            <a:avLst/>
          </a:prstGeom>
          <a:solidFill>
            <a:srgbClr val="E4AD1F"/>
          </a:solidFill>
          <a:ln>
            <a:noFill/>
          </a:ln>
        </p:spPr>
        <p:txBody>
          <a:bodyPr/>
          <a:lstStyle/>
          <a:p>
            <a:endParaRPr lang="he-IL"/>
          </a:p>
        </p:txBody>
      </p:sp>
      <p:sp>
        <p:nvSpPr>
          <p:cNvPr id="328" name="lab"/>
          <p:cNvSpPr/>
          <p:nvPr/>
        </p:nvSpPr>
        <p:spPr>
          <a:xfrm>
            <a:off x="4886858" y="14002000"/>
            <a:ext cx="156000" cy="156000"/>
          </a:xfrm>
          <a:prstGeom prst="ellipse">
            <a:avLst/>
          </a:prstGeom>
          <a:solidFill>
            <a:srgbClr val="E4AD1F"/>
          </a:solidFill>
          <a:ln>
            <a:noFill/>
          </a:ln>
        </p:spPr>
        <p:txBody>
          <a:bodyPr/>
          <a:lstStyle/>
          <a:p>
            <a:endParaRPr lang="he-IL"/>
          </a:p>
        </p:txBody>
      </p:sp>
      <p:sp>
        <p:nvSpPr>
          <p:cNvPr id="329" name="lab"/>
          <p:cNvSpPr/>
          <p:nvPr/>
        </p:nvSpPr>
        <p:spPr>
          <a:xfrm>
            <a:off x="5327791" y="14002000"/>
            <a:ext cx="156000" cy="156000"/>
          </a:xfrm>
          <a:prstGeom prst="ellipse">
            <a:avLst/>
          </a:prstGeom>
          <a:solidFill>
            <a:srgbClr val="E4AD1F"/>
          </a:solidFill>
          <a:ln>
            <a:noFill/>
          </a:ln>
        </p:spPr>
        <p:txBody>
          <a:bodyPr/>
          <a:lstStyle/>
          <a:p>
            <a:endParaRPr lang="he-IL"/>
          </a:p>
        </p:txBody>
      </p:sp>
      <p:sp>
        <p:nvSpPr>
          <p:cNvPr id="330" name="lab"/>
          <p:cNvSpPr/>
          <p:nvPr/>
        </p:nvSpPr>
        <p:spPr>
          <a:xfrm>
            <a:off x="5731980" y="14002000"/>
            <a:ext cx="156000" cy="156000"/>
          </a:xfrm>
          <a:prstGeom prst="ellipse">
            <a:avLst/>
          </a:prstGeom>
          <a:solidFill>
            <a:srgbClr val="E4AD1F"/>
          </a:solidFill>
          <a:ln>
            <a:noFill/>
          </a:ln>
        </p:spPr>
        <p:txBody>
          <a:bodyPr/>
          <a:lstStyle/>
          <a:p>
            <a:endParaRPr lang="he-IL"/>
          </a:p>
        </p:txBody>
      </p:sp>
      <p:sp>
        <p:nvSpPr>
          <p:cNvPr id="331" name="lab"/>
          <p:cNvSpPr/>
          <p:nvPr/>
        </p:nvSpPr>
        <p:spPr>
          <a:xfrm>
            <a:off x="6209658" y="14002000"/>
            <a:ext cx="156000" cy="156000"/>
          </a:xfrm>
          <a:prstGeom prst="ellipse">
            <a:avLst/>
          </a:prstGeom>
          <a:solidFill>
            <a:srgbClr val="E4AD1F"/>
          </a:solidFill>
          <a:ln>
            <a:noFill/>
          </a:ln>
        </p:spPr>
        <p:txBody>
          <a:bodyPr/>
          <a:lstStyle/>
          <a:p>
            <a:endParaRPr lang="he-IL"/>
          </a:p>
        </p:txBody>
      </p:sp>
      <p:sp>
        <p:nvSpPr>
          <p:cNvPr id="332" name="lab"/>
          <p:cNvSpPr/>
          <p:nvPr/>
        </p:nvSpPr>
        <p:spPr>
          <a:xfrm>
            <a:off x="6650592" y="14002000"/>
            <a:ext cx="156000" cy="156000"/>
          </a:xfrm>
          <a:prstGeom prst="ellipse">
            <a:avLst/>
          </a:prstGeom>
          <a:solidFill>
            <a:srgbClr val="E4AD1F"/>
          </a:solidFill>
          <a:ln>
            <a:noFill/>
          </a:ln>
        </p:spPr>
        <p:txBody>
          <a:bodyPr/>
          <a:lstStyle/>
          <a:p>
            <a:endParaRPr lang="he-IL"/>
          </a:p>
        </p:txBody>
      </p:sp>
      <p:sp>
        <p:nvSpPr>
          <p:cNvPr id="333" name="lab"/>
          <p:cNvSpPr/>
          <p:nvPr/>
        </p:nvSpPr>
        <p:spPr>
          <a:xfrm>
            <a:off x="7128270" y="14002000"/>
            <a:ext cx="156000" cy="156000"/>
          </a:xfrm>
          <a:prstGeom prst="ellipse">
            <a:avLst/>
          </a:prstGeom>
          <a:solidFill>
            <a:srgbClr val="E4AD1F"/>
          </a:solidFill>
          <a:ln>
            <a:noFill/>
          </a:ln>
        </p:spPr>
        <p:txBody>
          <a:bodyPr/>
          <a:lstStyle/>
          <a:p>
            <a:endParaRPr lang="he-IL"/>
          </a:p>
        </p:txBody>
      </p:sp>
      <p:sp>
        <p:nvSpPr>
          <p:cNvPr id="334" name="lab"/>
          <p:cNvSpPr/>
          <p:nvPr/>
        </p:nvSpPr>
        <p:spPr>
          <a:xfrm>
            <a:off x="7569203" y="14002000"/>
            <a:ext cx="156000" cy="156000"/>
          </a:xfrm>
          <a:prstGeom prst="ellipse">
            <a:avLst/>
          </a:prstGeom>
          <a:solidFill>
            <a:srgbClr val="E4AD1F"/>
          </a:solidFill>
          <a:ln>
            <a:noFill/>
          </a:ln>
        </p:spPr>
        <p:txBody>
          <a:bodyPr/>
          <a:lstStyle/>
          <a:p>
            <a:endParaRPr lang="he-IL"/>
          </a:p>
        </p:txBody>
      </p:sp>
      <p:sp>
        <p:nvSpPr>
          <p:cNvPr id="335" name="axis"/>
          <p:cNvSpPr/>
          <p:nvPr/>
        </p:nvSpPr>
        <p:spPr>
          <a:xfrm>
            <a:off x="4156480" y="14430000"/>
            <a:ext cx="3674446" cy="16000"/>
          </a:xfrm>
          <a:prstGeom prst="rect">
            <a:avLst/>
          </a:prstGeom>
          <a:solidFill>
            <a:srgbClr val="B7C4A7"/>
          </a:solidFill>
          <a:ln>
            <a:noFill/>
          </a:ln>
        </p:spPr>
        <p:txBody>
          <a:bodyPr/>
          <a:lstStyle/>
          <a:p>
            <a:endParaRPr lang="he-IL"/>
          </a:p>
        </p:txBody>
      </p:sp>
      <p:sp>
        <p:nvSpPr>
          <p:cNvPr id="336" name="mon"/>
          <p:cNvSpPr txBox="1"/>
          <p:nvPr/>
        </p:nvSpPr>
        <p:spPr>
          <a:xfrm>
            <a:off x="3456480" y="14480000"/>
            <a:ext cx="1400000" cy="470000"/>
          </a:xfrm>
          <a:prstGeom prst="rect">
            <a:avLst/>
          </a:prstGeom>
          <a:noFill/>
        </p:spPr>
        <p:txBody>
          <a:bodyPr wrap="square" lIns="0" tIns="0" rIns="0" bIns="0" rtlCol="0" anchor="t">
            <a:normAutofit/>
          </a:bodyPr>
          <a:lstStyle/>
          <a:p>
            <a:pPr algn="ctr"/>
            <a:r>
              <a:rPr lang="en-US" sz="2400" dirty="0">
                <a:solidFill>
                  <a:srgbClr val="557123"/>
                </a:solidFill>
                <a:latin typeface="Calibri"/>
              </a:rPr>
              <a:t>May 29</a:t>
            </a:r>
          </a:p>
        </p:txBody>
      </p:sp>
      <p:sp>
        <p:nvSpPr>
          <p:cNvPr id="337" name="mon"/>
          <p:cNvSpPr txBox="1"/>
          <p:nvPr/>
        </p:nvSpPr>
        <p:spPr>
          <a:xfrm>
            <a:off x="4626634" y="14480000"/>
            <a:ext cx="1400000" cy="470000"/>
          </a:xfrm>
          <a:prstGeom prst="rect">
            <a:avLst/>
          </a:prstGeom>
          <a:noFill/>
        </p:spPr>
        <p:txBody>
          <a:bodyPr wrap="square" lIns="0" tIns="0" rIns="0" bIns="0" rtlCol="0" anchor="t">
            <a:normAutofit/>
          </a:bodyPr>
          <a:lstStyle/>
          <a:p>
            <a:pPr algn="ctr"/>
            <a:r>
              <a:rPr lang="en-US" sz="2400" dirty="0">
                <a:solidFill>
                  <a:srgbClr val="557123"/>
                </a:solidFill>
                <a:latin typeface="Calibri"/>
              </a:rPr>
              <a:t>Jul</a:t>
            </a:r>
          </a:p>
        </p:txBody>
      </p:sp>
      <p:sp>
        <p:nvSpPr>
          <p:cNvPr id="338" name="mon"/>
          <p:cNvSpPr txBox="1"/>
          <p:nvPr/>
        </p:nvSpPr>
        <p:spPr>
          <a:xfrm>
            <a:off x="5617137" y="14480000"/>
            <a:ext cx="1400000" cy="470000"/>
          </a:xfrm>
          <a:prstGeom prst="rect">
            <a:avLst/>
          </a:prstGeom>
          <a:noFill/>
        </p:spPr>
        <p:txBody>
          <a:bodyPr wrap="square" lIns="0" tIns="0" rIns="0" bIns="0" rtlCol="0" anchor="t">
            <a:normAutofit/>
          </a:bodyPr>
          <a:lstStyle/>
          <a:p>
            <a:pPr algn="ctr"/>
            <a:r>
              <a:rPr lang="en-US" sz="2400" dirty="0">
                <a:solidFill>
                  <a:srgbClr val="557123"/>
                </a:solidFill>
                <a:latin typeface="Calibri"/>
              </a:rPr>
              <a:t>Aug</a:t>
            </a:r>
          </a:p>
        </p:txBody>
      </p:sp>
      <p:sp>
        <p:nvSpPr>
          <p:cNvPr id="339" name="mon"/>
          <p:cNvSpPr txBox="1"/>
          <p:nvPr/>
        </p:nvSpPr>
        <p:spPr>
          <a:xfrm>
            <a:off x="6948046" y="14480000"/>
            <a:ext cx="1400000" cy="470000"/>
          </a:xfrm>
          <a:prstGeom prst="rect">
            <a:avLst/>
          </a:prstGeom>
          <a:noFill/>
        </p:spPr>
        <p:txBody>
          <a:bodyPr wrap="square" lIns="0" tIns="0" rIns="0" bIns="0" rtlCol="0" anchor="t">
            <a:normAutofit/>
          </a:bodyPr>
          <a:lstStyle/>
          <a:p>
            <a:pPr algn="ctr"/>
            <a:r>
              <a:rPr lang="en-US" sz="2400" dirty="0">
                <a:solidFill>
                  <a:srgbClr val="557123"/>
                </a:solidFill>
                <a:latin typeface="Calibri"/>
              </a:rPr>
              <a:t>Sep 21</a:t>
            </a:r>
          </a:p>
        </p:txBody>
      </p:sp>
      <p:sp>
        <p:nvSpPr>
          <p:cNvPr id="340" name="lg1"/>
          <p:cNvSpPr/>
          <p:nvPr/>
        </p:nvSpPr>
        <p:spPr>
          <a:xfrm>
            <a:off x="1003300" y="15200000"/>
            <a:ext cx="200000" cy="200000"/>
          </a:xfrm>
          <a:prstGeom prst="roundRect">
            <a:avLst>
              <a:gd name="adj" fmla="val 18000"/>
            </a:avLst>
          </a:prstGeom>
          <a:solidFill>
            <a:srgbClr val="557123"/>
          </a:solidFill>
          <a:ln>
            <a:noFill/>
          </a:ln>
        </p:spPr>
        <p:txBody>
          <a:bodyPr/>
          <a:lstStyle/>
          <a:p>
            <a:endParaRPr lang="he-IL"/>
          </a:p>
        </p:txBody>
      </p:sp>
      <p:sp>
        <p:nvSpPr>
          <p:cNvPr id="341" name="lgt1"/>
          <p:cNvSpPr txBox="1"/>
          <p:nvPr/>
        </p:nvSpPr>
        <p:spPr>
          <a:xfrm>
            <a:off x="1283300" y="15105000"/>
            <a:ext cx="2600000" cy="470000"/>
          </a:xfrm>
          <a:prstGeom prst="rect">
            <a:avLst/>
          </a:prstGeom>
          <a:noFill/>
        </p:spPr>
        <p:txBody>
          <a:bodyPr wrap="square" lIns="0" tIns="0" rIns="91440" bIns="0" rtlCol="0" anchor="ctr">
            <a:normAutofit/>
          </a:bodyPr>
          <a:lstStyle/>
          <a:p>
            <a:pPr algn="l"/>
            <a:r>
              <a:rPr lang="en-US" sz="2400" dirty="0">
                <a:solidFill>
                  <a:srgbClr val="40512B"/>
                </a:solidFill>
                <a:latin typeface="Calibri"/>
              </a:rPr>
              <a:t>16,682 dense rows</a:t>
            </a:r>
          </a:p>
        </p:txBody>
      </p:sp>
      <p:sp>
        <p:nvSpPr>
          <p:cNvPr id="342" name="lg2"/>
          <p:cNvSpPr/>
          <p:nvPr/>
        </p:nvSpPr>
        <p:spPr>
          <a:xfrm>
            <a:off x="4055300" y="15202000"/>
            <a:ext cx="196000" cy="196000"/>
          </a:xfrm>
          <a:prstGeom prst="ellipse">
            <a:avLst/>
          </a:prstGeom>
          <a:solidFill>
            <a:srgbClr val="E4AD1F"/>
          </a:solidFill>
          <a:ln>
            <a:noFill/>
          </a:ln>
        </p:spPr>
        <p:txBody>
          <a:bodyPr/>
          <a:lstStyle/>
          <a:p>
            <a:endParaRPr lang="he-IL"/>
          </a:p>
        </p:txBody>
      </p:sp>
      <p:sp>
        <p:nvSpPr>
          <p:cNvPr id="343" name="lgt2"/>
          <p:cNvSpPr txBox="1"/>
          <p:nvPr/>
        </p:nvSpPr>
        <p:spPr>
          <a:xfrm>
            <a:off x="4403300" y="15105000"/>
            <a:ext cx="2600000" cy="470000"/>
          </a:xfrm>
          <a:prstGeom prst="rect">
            <a:avLst/>
          </a:prstGeom>
          <a:noFill/>
        </p:spPr>
        <p:txBody>
          <a:bodyPr wrap="square" lIns="0" tIns="0" rIns="91440" bIns="0" rtlCol="0" anchor="ctr">
            <a:normAutofit/>
          </a:bodyPr>
          <a:lstStyle/>
          <a:p>
            <a:pPr algn="l"/>
            <a:r>
              <a:rPr lang="en-US" sz="2400" dirty="0">
                <a:solidFill>
                  <a:srgbClr val="40512B"/>
                </a:solidFill>
                <a:latin typeface="Calibri"/>
              </a:rPr>
              <a:t>109 sparse labels</a:t>
            </a:r>
          </a:p>
        </p:txBody>
      </p:sp>
      <p:sp>
        <p:nvSpPr>
          <p:cNvPr id="31" name="מלבן: פינות מעוגלות 30">
            <a:extLst>
              <a:ext uri="{FF2B5EF4-FFF2-40B4-BE49-F238E27FC236}">
                <a16:creationId xmlns:a16="http://schemas.microsoft.com/office/drawing/2014/main" id="{F4F7827B-1234-0CFF-4AF9-88BAAD1741EB}"/>
              </a:ext>
            </a:extLst>
          </p:cNvPr>
          <p:cNvSpPr/>
          <p:nvPr/>
        </p:nvSpPr>
        <p:spPr>
          <a:xfrm>
            <a:off x="8714846" y="8318500"/>
            <a:ext cx="7762345"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2" name="מלבן: פינות מעוגלות 31">
            <a:extLst>
              <a:ext uri="{FF2B5EF4-FFF2-40B4-BE49-F238E27FC236}">
                <a16:creationId xmlns:a16="http://schemas.microsoft.com/office/drawing/2014/main" id="{FBDFEF8B-08AF-B826-0D60-17579EAF752B}"/>
              </a:ext>
            </a:extLst>
          </p:cNvPr>
          <p:cNvSpPr/>
          <p:nvPr/>
        </p:nvSpPr>
        <p:spPr>
          <a:xfrm>
            <a:off x="9006946" y="85725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03</a:t>
            </a:r>
          </a:p>
        </p:txBody>
      </p:sp>
      <p:sp>
        <p:nvSpPr>
          <p:cNvPr id="33" name="תיבת טקסט 32">
            <a:extLst>
              <a:ext uri="{FF2B5EF4-FFF2-40B4-BE49-F238E27FC236}">
                <a16:creationId xmlns:a16="http://schemas.microsoft.com/office/drawing/2014/main" id="{5B890404-BDEC-4D7F-0EAE-6D6942B5B311}"/>
              </a:ext>
            </a:extLst>
          </p:cNvPr>
          <p:cNvSpPr txBox="1"/>
          <p:nvPr/>
        </p:nvSpPr>
        <p:spPr>
          <a:xfrm>
            <a:off x="9756246" y="8509000"/>
            <a:ext cx="6365346"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Method</a:t>
            </a:r>
            <a:endParaRPr lang="he-IL" sz="4000" b="1" dirty="0">
              <a:solidFill>
                <a:srgbClr val="40512B"/>
              </a:solidFill>
              <a:cs typeface="Times New Roman" panose="02020603050405020304" pitchFamily="18" charset="0"/>
            </a:endParaRPr>
          </a:p>
        </p:txBody>
      </p:sp>
      <p:sp>
        <p:nvSpPr>
          <p:cNvPr id="34" name="מלבן 33">
            <a:extLst>
              <a:ext uri="{FF2B5EF4-FFF2-40B4-BE49-F238E27FC236}">
                <a16:creationId xmlns:a16="http://schemas.microsoft.com/office/drawing/2014/main" id="{E75D4366-ADBE-F524-5675-B9704CCAA04C}"/>
              </a:ext>
            </a:extLst>
          </p:cNvPr>
          <p:cNvSpPr/>
          <p:nvPr/>
        </p:nvSpPr>
        <p:spPr>
          <a:xfrm>
            <a:off x="9070446" y="9283700"/>
            <a:ext cx="7051145"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5" name="תיבת טקסט 34">
            <a:extLst>
              <a:ext uri="{FF2B5EF4-FFF2-40B4-BE49-F238E27FC236}">
                <a16:creationId xmlns:a16="http://schemas.microsoft.com/office/drawing/2014/main" id="{3A68B451-28DD-8557-4600-EA7E53580A87}"/>
              </a:ext>
            </a:extLst>
          </p:cNvPr>
          <p:cNvSpPr txBox="1"/>
          <p:nvPr/>
        </p:nvSpPr>
        <p:spPr>
          <a:xfrm>
            <a:off x="9146646" y="9537700"/>
            <a:ext cx="6898746" cy="2098331"/>
          </a:xfrm>
          <a:prstGeom prst="rect">
            <a:avLst/>
          </a:prstGeom>
          <a:noFill/>
        </p:spPr>
        <p:txBody>
          <a:bodyPr vert="horz" wrap="square" lIns="76200" tIns="50800" rIns="76200" bIns="50800" rtlCol="1">
            <a:spAutoFit/>
          </a:bodyPr>
          <a:lstStyle/>
          <a:p>
            <a:r>
              <a:rPr lang="en-US" sz="2400" b="1" dirty="0">
                <a:solidFill>
                  <a:srgbClr val="40512B"/>
                </a:solidFill>
                <a:ea typeface="Cambria" panose="02040503050406030204" pitchFamily="18" charset="0"/>
                <a:cs typeface="Times New Roman" panose="02020603050405020304" pitchFamily="18" charset="0"/>
              </a:rPr>
              <a:t>Two-stage prediction pipeline:</a:t>
            </a:r>
          </a:p>
          <a:p>
            <a:pPr>
              <a:lnSpc>
                <a:spcPct val="106000"/>
              </a:lnSpc>
              <a:spcAft>
                <a:spcPts val="600"/>
              </a:spcAft>
            </a:pPr>
            <a:r>
              <a:rPr lang="en-US" sz="2400" dirty="0">
                <a:solidFill>
                  <a:schemeClr val="tx2">
                    <a:lumMod val="75000"/>
                  </a:schemeClr>
                </a:solidFill>
              </a:rPr>
              <a:t>1. Forecast internal greenhouse micro-climate from external weather and radiation.</a:t>
            </a:r>
          </a:p>
          <a:p>
            <a:pPr>
              <a:lnSpc>
                <a:spcPct val="106000"/>
              </a:lnSpc>
              <a:spcAft>
                <a:spcPts val="600"/>
              </a:spcAft>
            </a:pPr>
            <a:r>
              <a:rPr lang="en-US" sz="2400" dirty="0">
                <a:solidFill>
                  <a:schemeClr val="tx2">
                    <a:lumMod val="75000"/>
                  </a:schemeClr>
                </a:solidFill>
              </a:rPr>
              <a:t>2. Predict t₀ → t₁ root-zone pH/EC change using climate, crop state and planned events.</a:t>
            </a:r>
          </a:p>
        </p:txBody>
      </p:sp>
      <p:sp>
        <p:nvSpPr>
          <p:cNvPr id="38" name="מלבן: פינות מעוגלות 37">
            <a:extLst>
              <a:ext uri="{FF2B5EF4-FFF2-40B4-BE49-F238E27FC236}">
                <a16:creationId xmlns:a16="http://schemas.microsoft.com/office/drawing/2014/main" id="{66BEC3B3-EAF9-6958-D0EE-E1C0E76E4095}"/>
              </a:ext>
            </a:extLst>
          </p:cNvPr>
          <p:cNvSpPr/>
          <p:nvPr/>
        </p:nvSpPr>
        <p:spPr>
          <a:xfrm>
            <a:off x="16781991" y="8318500"/>
            <a:ext cx="7762347"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פינות מעוגלות 38">
            <a:extLst>
              <a:ext uri="{FF2B5EF4-FFF2-40B4-BE49-F238E27FC236}">
                <a16:creationId xmlns:a16="http://schemas.microsoft.com/office/drawing/2014/main" id="{2EDF2E40-BC90-41DB-83C0-07850D5F68B1}"/>
              </a:ext>
            </a:extLst>
          </p:cNvPr>
          <p:cNvSpPr/>
          <p:nvPr/>
        </p:nvSpPr>
        <p:spPr>
          <a:xfrm>
            <a:off x="17074091" y="85725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04</a:t>
            </a:r>
          </a:p>
        </p:txBody>
      </p:sp>
      <p:sp>
        <p:nvSpPr>
          <p:cNvPr id="40" name="תיבת טקסט 39">
            <a:extLst>
              <a:ext uri="{FF2B5EF4-FFF2-40B4-BE49-F238E27FC236}">
                <a16:creationId xmlns:a16="http://schemas.microsoft.com/office/drawing/2014/main" id="{65D99537-0187-1811-FB6F-2EAEE1A952F3}"/>
              </a:ext>
            </a:extLst>
          </p:cNvPr>
          <p:cNvSpPr txBox="1"/>
          <p:nvPr/>
        </p:nvSpPr>
        <p:spPr>
          <a:xfrm>
            <a:off x="17823391" y="8509000"/>
            <a:ext cx="6365346"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Validation Strategy</a:t>
            </a:r>
            <a:endParaRPr lang="he-IL" sz="4000" b="1" dirty="0">
              <a:solidFill>
                <a:srgbClr val="40512B"/>
              </a:solidFill>
              <a:cs typeface="Times New Roman" panose="02020603050405020304" pitchFamily="18" charset="0"/>
            </a:endParaRPr>
          </a:p>
        </p:txBody>
      </p:sp>
      <p:sp>
        <p:nvSpPr>
          <p:cNvPr id="41" name="מלבן 40">
            <a:extLst>
              <a:ext uri="{FF2B5EF4-FFF2-40B4-BE49-F238E27FC236}">
                <a16:creationId xmlns:a16="http://schemas.microsoft.com/office/drawing/2014/main" id="{2CD86FC5-D20A-C078-5D24-F851EE264315}"/>
              </a:ext>
            </a:extLst>
          </p:cNvPr>
          <p:cNvSpPr/>
          <p:nvPr/>
        </p:nvSpPr>
        <p:spPr>
          <a:xfrm>
            <a:off x="17137591" y="9283700"/>
            <a:ext cx="7051147"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42" name="תיבת טקסט 41">
            <a:extLst>
              <a:ext uri="{FF2B5EF4-FFF2-40B4-BE49-F238E27FC236}">
                <a16:creationId xmlns:a16="http://schemas.microsoft.com/office/drawing/2014/main" id="{A016E686-5C37-7FE0-B47F-299A17B9AAF7}"/>
              </a:ext>
            </a:extLst>
          </p:cNvPr>
          <p:cNvSpPr txBox="1"/>
          <p:nvPr/>
        </p:nvSpPr>
        <p:spPr>
          <a:xfrm>
            <a:off x="17213791" y="9512300"/>
            <a:ext cx="6898746" cy="2133341"/>
          </a:xfrm>
          <a:prstGeom prst="rect">
            <a:avLst/>
          </a:prstGeom>
          <a:noFill/>
        </p:spPr>
        <p:txBody>
          <a:bodyPr vert="horz" wrap="square" lIns="76200" tIns="50800" rIns="76200" bIns="50800" rtlCol="1">
            <a:spAutoFit/>
          </a:bodyPr>
          <a:lstStyle/>
          <a:p>
            <a:pPr>
              <a:lnSpc>
                <a:spcPct val="106000"/>
              </a:lnSpc>
              <a:spcAft>
                <a:spcPts val="700"/>
              </a:spcAft>
            </a:pPr>
            <a:r>
              <a:rPr lang="en-US" sz="2400" dirty="0">
                <a:solidFill>
                  <a:schemeClr val="tx2">
                    <a:lumMod val="75000"/>
                  </a:schemeClr>
                </a:solidFill>
              </a:rPr>
              <a:t>▪ Walk-forward validation matches deployment: future pH/EC is predicted from past labels, forecasted climate and planned irrigation/fertigation.</a:t>
            </a:r>
          </a:p>
          <a:p>
            <a:pPr>
              <a:lnSpc>
                <a:spcPct val="106000"/>
              </a:lnSpc>
              <a:spcAft>
                <a:spcPts val="700"/>
              </a:spcAft>
            </a:pPr>
            <a:r>
              <a:rPr lang="en-US" sz="2400" dirty="0">
                <a:solidFill>
                  <a:schemeClr val="tx2">
                    <a:lumMod val="75000"/>
                  </a:schemeClr>
                </a:solidFill>
              </a:rPr>
              <a:t>▪ Future pH/EC labels are never used for training until after that sample becomes available.</a:t>
            </a:r>
          </a:p>
        </p:txBody>
      </p:sp>
      <p:pic>
        <p:nvPicPr>
          <p:cNvPr id="44" name="תמונה 43">
            <a:extLst>
              <a:ext uri="{FF2B5EF4-FFF2-40B4-BE49-F238E27FC236}">
                <a16:creationId xmlns:a16="http://schemas.microsoft.com/office/drawing/2014/main" id="{AEDC8850-F176-63DD-CBFE-C38728A825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9792" y="11835069"/>
            <a:ext cx="7408968" cy="4523566"/>
          </a:xfrm>
          <a:prstGeom prst="rect">
            <a:avLst/>
          </a:prstGeom>
        </p:spPr>
      </p:pic>
      <p:sp>
        <p:nvSpPr>
          <p:cNvPr id="48" name="מלבן: פינות מעוגלות 47">
            <a:extLst>
              <a:ext uri="{FF2B5EF4-FFF2-40B4-BE49-F238E27FC236}">
                <a16:creationId xmlns:a16="http://schemas.microsoft.com/office/drawing/2014/main" id="{CDF2BDC3-A9C6-31A5-E157-D5B99D2B7F67}"/>
              </a:ext>
            </a:extLst>
          </p:cNvPr>
          <p:cNvSpPr/>
          <p:nvPr/>
        </p:nvSpPr>
        <p:spPr>
          <a:xfrm>
            <a:off x="647700" y="16814800"/>
            <a:ext cx="7762346"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0" name="מלבן: פינות מעוגלות 49">
            <a:extLst>
              <a:ext uri="{FF2B5EF4-FFF2-40B4-BE49-F238E27FC236}">
                <a16:creationId xmlns:a16="http://schemas.microsoft.com/office/drawing/2014/main" id="{A170729E-ED29-1816-79A5-82AE5CA92EC1}"/>
              </a:ext>
            </a:extLst>
          </p:cNvPr>
          <p:cNvSpPr/>
          <p:nvPr/>
        </p:nvSpPr>
        <p:spPr>
          <a:xfrm>
            <a:off x="939800" y="170688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05</a:t>
            </a:r>
          </a:p>
        </p:txBody>
      </p:sp>
      <p:sp>
        <p:nvSpPr>
          <p:cNvPr id="51" name="תיבת טקסט 50">
            <a:extLst>
              <a:ext uri="{FF2B5EF4-FFF2-40B4-BE49-F238E27FC236}">
                <a16:creationId xmlns:a16="http://schemas.microsoft.com/office/drawing/2014/main" id="{7E660510-BB04-F511-8009-B2FA8E2C99A3}"/>
              </a:ext>
            </a:extLst>
          </p:cNvPr>
          <p:cNvSpPr txBox="1"/>
          <p:nvPr/>
        </p:nvSpPr>
        <p:spPr>
          <a:xfrm>
            <a:off x="1689100" y="17005300"/>
            <a:ext cx="6365346"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Algorithms &amp; Model Choice</a:t>
            </a:r>
            <a:endParaRPr lang="he-IL" sz="4000" b="1" dirty="0">
              <a:solidFill>
                <a:srgbClr val="40512B"/>
              </a:solidFill>
              <a:cs typeface="Times New Roman" panose="02020603050405020304" pitchFamily="18" charset="0"/>
            </a:endParaRPr>
          </a:p>
        </p:txBody>
      </p:sp>
      <p:sp>
        <p:nvSpPr>
          <p:cNvPr id="52" name="מלבן 51">
            <a:extLst>
              <a:ext uri="{FF2B5EF4-FFF2-40B4-BE49-F238E27FC236}">
                <a16:creationId xmlns:a16="http://schemas.microsoft.com/office/drawing/2014/main" id="{7F10B742-1940-5E32-B568-3DA963BCAE70}"/>
              </a:ext>
            </a:extLst>
          </p:cNvPr>
          <p:cNvSpPr/>
          <p:nvPr/>
        </p:nvSpPr>
        <p:spPr>
          <a:xfrm>
            <a:off x="1003300" y="17780000"/>
            <a:ext cx="7051146"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3" name="תיבת טקסט 52">
            <a:extLst>
              <a:ext uri="{FF2B5EF4-FFF2-40B4-BE49-F238E27FC236}">
                <a16:creationId xmlns:a16="http://schemas.microsoft.com/office/drawing/2014/main" id="{DE7541AF-3A61-4A00-E3AB-D24CC69CF6EF}"/>
              </a:ext>
            </a:extLst>
          </p:cNvPr>
          <p:cNvSpPr txBox="1"/>
          <p:nvPr/>
        </p:nvSpPr>
        <p:spPr>
          <a:xfrm>
            <a:off x="1079500" y="18034000"/>
            <a:ext cx="7104392" cy="1949252"/>
          </a:xfrm>
          <a:prstGeom prst="rect">
            <a:avLst/>
          </a:prstGeom>
          <a:noFill/>
        </p:spPr>
        <p:txBody>
          <a:bodyPr vert="horz" wrap="square" lIns="76200" tIns="50800" rIns="76200" bIns="50800" rtlCol="1">
            <a:spAutoFit/>
          </a:bodyPr>
          <a:lstStyle/>
          <a:p>
            <a:r>
              <a:rPr lang="en-US" sz="2400" b="1" dirty="0">
                <a:solidFill>
                  <a:srgbClr val="40512B"/>
                </a:solidFill>
                <a:ea typeface="Cambria" panose="02040503050406030204" pitchFamily="18" charset="0"/>
                <a:cs typeface="Times New Roman" panose="02020603050405020304" pitchFamily="18" charset="0"/>
              </a:rPr>
              <a:t>Hybrid model choice: </a:t>
            </a:r>
            <a:r>
              <a:rPr lang="he-IL" sz="2400" dirty="0"/>
              <a:t>Gradient Boosting captures nonlinear interactions for interpolation, while a Huber Regressor adds robustness to outliers and sharp pH/EC shifts during extreme conditions.</a:t>
            </a:r>
          </a:p>
          <a:p>
            <a:endParaRPr lang="he-IL" sz="2400" dirty="0">
              <a:solidFill>
                <a:srgbClr val="40512B"/>
              </a:solidFill>
              <a:ea typeface="Cambria" panose="02040503050406030204" pitchFamily="18" charset="0"/>
              <a:cs typeface="Times New Roman" panose="02020603050405020304" pitchFamily="18" charset="0"/>
            </a:endParaRPr>
          </a:p>
        </p:txBody>
      </p:sp>
      <p:pic>
        <p:nvPicPr>
          <p:cNvPr id="55" name="תמונה 54">
            <a:extLst>
              <a:ext uri="{FF2B5EF4-FFF2-40B4-BE49-F238E27FC236}">
                <a16:creationId xmlns:a16="http://schemas.microsoft.com/office/drawing/2014/main" id="{A2A5EF21-6B69-219D-4C0C-EDCC8974EA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6677" y="19708786"/>
            <a:ext cx="7051146" cy="5167974"/>
          </a:xfrm>
          <a:prstGeom prst="rect">
            <a:avLst/>
          </a:prstGeom>
        </p:spPr>
      </p:pic>
      <p:sp>
        <p:nvSpPr>
          <p:cNvPr id="56" name="מלבן: פינות מעוגלות 55">
            <a:extLst>
              <a:ext uri="{FF2B5EF4-FFF2-40B4-BE49-F238E27FC236}">
                <a16:creationId xmlns:a16="http://schemas.microsoft.com/office/drawing/2014/main" id="{664AE188-AB34-4A09-1F8B-1467B6D98E0D}"/>
              </a:ext>
            </a:extLst>
          </p:cNvPr>
          <p:cNvSpPr/>
          <p:nvPr/>
        </p:nvSpPr>
        <p:spPr>
          <a:xfrm>
            <a:off x="8714846" y="16814800"/>
            <a:ext cx="7762345"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7" name="מלבן: פינות מעוגלות 56">
            <a:extLst>
              <a:ext uri="{FF2B5EF4-FFF2-40B4-BE49-F238E27FC236}">
                <a16:creationId xmlns:a16="http://schemas.microsoft.com/office/drawing/2014/main" id="{2A1D6785-E7A4-3BD2-19F5-F573EDB46B0E}"/>
              </a:ext>
            </a:extLst>
          </p:cNvPr>
          <p:cNvSpPr/>
          <p:nvPr/>
        </p:nvSpPr>
        <p:spPr>
          <a:xfrm>
            <a:off x="9006946" y="170688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06</a:t>
            </a:r>
          </a:p>
        </p:txBody>
      </p:sp>
      <p:sp>
        <p:nvSpPr>
          <p:cNvPr id="58" name="תיבת טקסט 57">
            <a:extLst>
              <a:ext uri="{FF2B5EF4-FFF2-40B4-BE49-F238E27FC236}">
                <a16:creationId xmlns:a16="http://schemas.microsoft.com/office/drawing/2014/main" id="{2845822B-331D-51BF-1A05-58EC0FDA0C7E}"/>
              </a:ext>
            </a:extLst>
          </p:cNvPr>
          <p:cNvSpPr txBox="1"/>
          <p:nvPr/>
        </p:nvSpPr>
        <p:spPr>
          <a:xfrm>
            <a:off x="9756246" y="17005300"/>
            <a:ext cx="6365346" cy="718145"/>
          </a:xfrm>
          <a:prstGeom prst="rect">
            <a:avLst/>
          </a:prstGeom>
          <a:noFill/>
        </p:spPr>
        <p:txBody>
          <a:bodyPr vert="horz" wrap="square" lIns="76200" tIns="50800" rIns="76200" bIns="50800" rtlCol="1">
            <a:spAutoFit/>
          </a:bodyPr>
          <a:lstStyle/>
          <a:p>
            <a:r>
              <a:rPr lang="en-US" sz="4000" b="1">
                <a:solidFill>
                  <a:srgbClr val="40512B"/>
                </a:solidFill>
                <a:cs typeface="Times New Roman" panose="02020603050405020304" pitchFamily="18" charset="0"/>
              </a:rPr>
              <a:t>Micro-Climate Model</a:t>
            </a:r>
            <a:endParaRPr lang="he-IL" sz="4000" b="1" dirty="0">
              <a:solidFill>
                <a:srgbClr val="40512B"/>
              </a:solidFill>
              <a:cs typeface="Times New Roman" panose="02020603050405020304" pitchFamily="18" charset="0"/>
            </a:endParaRPr>
          </a:p>
        </p:txBody>
      </p:sp>
      <p:sp>
        <p:nvSpPr>
          <p:cNvPr id="59" name="מלבן 58">
            <a:extLst>
              <a:ext uri="{FF2B5EF4-FFF2-40B4-BE49-F238E27FC236}">
                <a16:creationId xmlns:a16="http://schemas.microsoft.com/office/drawing/2014/main" id="{F0E1D228-AAE7-9728-1816-5199D79B5085}"/>
              </a:ext>
            </a:extLst>
          </p:cNvPr>
          <p:cNvSpPr/>
          <p:nvPr/>
        </p:nvSpPr>
        <p:spPr>
          <a:xfrm>
            <a:off x="9070446" y="17780000"/>
            <a:ext cx="7051145"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60" name="תיבת טקסט 59">
            <a:extLst>
              <a:ext uri="{FF2B5EF4-FFF2-40B4-BE49-F238E27FC236}">
                <a16:creationId xmlns:a16="http://schemas.microsoft.com/office/drawing/2014/main" id="{F01704CE-785B-BD42-3AB8-FDFC3FFAAC37}"/>
              </a:ext>
            </a:extLst>
          </p:cNvPr>
          <p:cNvSpPr txBox="1"/>
          <p:nvPr/>
        </p:nvSpPr>
        <p:spPr>
          <a:xfrm>
            <a:off x="9146646" y="18008600"/>
            <a:ext cx="6898746" cy="2133341"/>
          </a:xfrm>
          <a:prstGeom prst="rect">
            <a:avLst/>
          </a:prstGeom>
          <a:noFill/>
        </p:spPr>
        <p:txBody>
          <a:bodyPr vert="horz" wrap="square" lIns="76200" tIns="50800" rIns="76200" bIns="50800" rtlCol="1">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62" name="תמונה 61">
            <a:extLst>
              <a:ext uri="{FF2B5EF4-FFF2-40B4-BE49-F238E27FC236}">
                <a16:creationId xmlns:a16="http://schemas.microsoft.com/office/drawing/2014/main" id="{1C0CC4D9-1DC3-AF0C-CDAF-EED0BA3E8E2E}"/>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019646" y="20243541"/>
            <a:ext cx="7152746" cy="4628149"/>
          </a:xfrm>
          <a:prstGeom prst="rect">
            <a:avLst/>
          </a:prstGeom>
        </p:spPr>
      </p:pic>
      <p:sp>
        <p:nvSpPr>
          <p:cNvPr id="63" name="מלבן: פינות מעוגלות 62">
            <a:extLst>
              <a:ext uri="{FF2B5EF4-FFF2-40B4-BE49-F238E27FC236}">
                <a16:creationId xmlns:a16="http://schemas.microsoft.com/office/drawing/2014/main" id="{5D3BDCDE-04E3-D1E1-4036-6EF0FB12C7CE}"/>
              </a:ext>
            </a:extLst>
          </p:cNvPr>
          <p:cNvSpPr/>
          <p:nvPr/>
        </p:nvSpPr>
        <p:spPr>
          <a:xfrm>
            <a:off x="16781991" y="16814800"/>
            <a:ext cx="7762347" cy="81915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64" name="מלבן: פינות מעוגלות 63">
            <a:extLst>
              <a:ext uri="{FF2B5EF4-FFF2-40B4-BE49-F238E27FC236}">
                <a16:creationId xmlns:a16="http://schemas.microsoft.com/office/drawing/2014/main" id="{C6578452-55F4-D454-0E6A-8C71EACCB7C7}"/>
              </a:ext>
            </a:extLst>
          </p:cNvPr>
          <p:cNvSpPr/>
          <p:nvPr/>
        </p:nvSpPr>
        <p:spPr>
          <a:xfrm>
            <a:off x="17074091" y="170688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07</a:t>
            </a:r>
          </a:p>
        </p:txBody>
      </p:sp>
      <p:sp>
        <p:nvSpPr>
          <p:cNvPr id="65" name="תיבת טקסט 64">
            <a:extLst>
              <a:ext uri="{FF2B5EF4-FFF2-40B4-BE49-F238E27FC236}">
                <a16:creationId xmlns:a16="http://schemas.microsoft.com/office/drawing/2014/main" id="{29A1C261-44FE-DE89-DC4A-A0A6EB13B8C4}"/>
              </a:ext>
            </a:extLst>
          </p:cNvPr>
          <p:cNvSpPr txBox="1"/>
          <p:nvPr/>
        </p:nvSpPr>
        <p:spPr>
          <a:xfrm>
            <a:off x="17823391" y="17005300"/>
            <a:ext cx="6365346" cy="718145"/>
          </a:xfrm>
          <a:prstGeom prst="rect">
            <a:avLst/>
          </a:prstGeom>
          <a:noFill/>
        </p:spPr>
        <p:txBody>
          <a:bodyPr vert="horz" wrap="square" lIns="76200" tIns="50800" rIns="76200" bIns="50800" rtlCol="1">
            <a:spAutoFit/>
          </a:bodyPr>
          <a:lstStyle/>
          <a:p>
            <a:r>
              <a:rPr lang="en-US" sz="4000" b="1">
                <a:solidFill>
                  <a:srgbClr val="40512B"/>
                </a:solidFill>
                <a:cs typeface="Times New Roman" panose="02020603050405020304" pitchFamily="18" charset="0"/>
              </a:rPr>
              <a:t>Challenges &amp; Limitations</a:t>
            </a:r>
            <a:endParaRPr lang="he-IL" sz="4000" b="1" dirty="0">
              <a:solidFill>
                <a:srgbClr val="40512B"/>
              </a:solidFill>
              <a:cs typeface="Times New Roman" panose="02020603050405020304" pitchFamily="18" charset="0"/>
            </a:endParaRPr>
          </a:p>
        </p:txBody>
      </p:sp>
      <p:sp>
        <p:nvSpPr>
          <p:cNvPr id="66" name="מלבן 65">
            <a:extLst>
              <a:ext uri="{FF2B5EF4-FFF2-40B4-BE49-F238E27FC236}">
                <a16:creationId xmlns:a16="http://schemas.microsoft.com/office/drawing/2014/main" id="{13EC3F5A-4492-1F04-22BA-5B40AF2F284D}"/>
              </a:ext>
            </a:extLst>
          </p:cNvPr>
          <p:cNvSpPr/>
          <p:nvPr/>
        </p:nvSpPr>
        <p:spPr>
          <a:xfrm>
            <a:off x="17137591" y="17780000"/>
            <a:ext cx="7051147"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40" name="hL"/>
          <p:cNvSpPr txBox="1"/>
          <p:nvPr/>
        </p:nvSpPr>
        <p:spPr>
          <a:xfrm>
            <a:off x="17213791" y="18000000"/>
            <a:ext cx="2500000" cy="480000"/>
          </a:xfrm>
          <a:prstGeom prst="rect">
            <a:avLst/>
          </a:prstGeom>
          <a:noFill/>
        </p:spPr>
        <p:txBody>
          <a:bodyPr wrap="square" lIns="0" tIns="0" rIns="91440" bIns="0" rtlCol="0" anchor="ctr">
            <a:normAutofit/>
          </a:bodyPr>
          <a:lstStyle/>
          <a:p>
            <a:pPr algn="l"/>
            <a:r>
              <a:rPr lang="en-US" sz="2400" b="1" dirty="0">
                <a:solidFill>
                  <a:srgbClr val="40512B"/>
                </a:solidFill>
              </a:rPr>
              <a:t>Challenge</a:t>
            </a:r>
          </a:p>
        </p:txBody>
      </p:sp>
      <p:sp>
        <p:nvSpPr>
          <p:cNvPr id="241" name="hR"/>
          <p:cNvSpPr txBox="1"/>
          <p:nvPr/>
        </p:nvSpPr>
        <p:spPr>
          <a:xfrm>
            <a:off x="20113791" y="18000000"/>
            <a:ext cx="3998746" cy="480000"/>
          </a:xfrm>
          <a:prstGeom prst="rect">
            <a:avLst/>
          </a:prstGeom>
          <a:noFill/>
        </p:spPr>
        <p:txBody>
          <a:bodyPr wrap="square" lIns="91440" tIns="0" rIns="91440" bIns="0" rtlCol="0" anchor="ctr">
            <a:normAutofit/>
          </a:bodyPr>
          <a:lstStyle/>
          <a:p>
            <a:pPr algn="l"/>
            <a:r>
              <a:rPr lang="en-US" sz="2400" b="1" dirty="0">
                <a:solidFill>
                  <a:srgbClr val="40512B"/>
                </a:solidFill>
              </a:rPr>
              <a:t>How we addressed it</a:t>
            </a:r>
          </a:p>
        </p:txBody>
      </p:sp>
      <p:sp>
        <p:nvSpPr>
          <p:cNvPr id="242" name="hrule"/>
          <p:cNvSpPr/>
          <p:nvPr/>
        </p:nvSpPr>
        <p:spPr>
          <a:xfrm>
            <a:off x="17213791" y="18520000"/>
            <a:ext cx="6898746" cy="16000"/>
          </a:xfrm>
          <a:prstGeom prst="rect">
            <a:avLst/>
          </a:prstGeom>
          <a:solidFill>
            <a:srgbClr val="B7C4A7"/>
          </a:solidFill>
          <a:ln>
            <a:noFill/>
          </a:ln>
        </p:spPr>
        <p:txBody>
          <a:bodyPr/>
          <a:lstStyle/>
          <a:p>
            <a:endParaRPr lang="he-IL"/>
          </a:p>
        </p:txBody>
      </p:sp>
      <p:sp>
        <p:nvSpPr>
          <p:cNvPr id="243" name="card"/>
          <p:cNvSpPr/>
          <p:nvPr/>
        </p:nvSpPr>
        <p:spPr>
          <a:xfrm>
            <a:off x="20113791" y="18810000"/>
            <a:ext cx="3998746" cy="1060000"/>
          </a:xfrm>
          <a:prstGeom prst="roundRect">
            <a:avLst>
              <a:gd name="adj" fmla="val 9000"/>
            </a:avLst>
          </a:prstGeom>
          <a:solidFill>
            <a:srgbClr val="DCE5CC"/>
          </a:solidFill>
          <a:ln>
            <a:noFill/>
          </a:ln>
        </p:spPr>
        <p:txBody>
          <a:bodyPr/>
          <a:lstStyle/>
          <a:p>
            <a:endParaRPr lang="he-IL"/>
          </a:p>
        </p:txBody>
      </p:sp>
      <p:sp>
        <p:nvSpPr>
          <p:cNvPr id="244" name="resp"/>
          <p:cNvSpPr txBox="1"/>
          <p:nvPr/>
        </p:nvSpPr>
        <p:spPr>
          <a:xfrm>
            <a:off x="20113791" y="18810000"/>
            <a:ext cx="3998746" cy="1060000"/>
          </a:xfrm>
          <a:prstGeom prst="rect">
            <a:avLst/>
          </a:prstGeom>
          <a:noFill/>
        </p:spPr>
        <p:txBody>
          <a:bodyPr wrap="square" lIns="91440" tIns="0" rIns="91440" bIns="0" rtlCol="0" anchor="ctr">
            <a:noAutofit/>
          </a:bodyPr>
          <a:lstStyle/>
          <a:p>
            <a:pPr algn="l"/>
            <a:r>
              <a:rPr lang="en-US" sz="2400" dirty="0">
                <a:solidFill>
                  <a:srgbClr val="40512B"/>
                </a:solidFill>
              </a:rPr>
              <a:t>Modeled t₀ → t₁ intervals with accumulated and history features</a:t>
            </a:r>
          </a:p>
        </p:txBody>
      </p:sp>
      <p:sp>
        <p:nvSpPr>
          <p:cNvPr id="245" name="chal"/>
          <p:cNvSpPr txBox="1"/>
          <p:nvPr/>
        </p:nvSpPr>
        <p:spPr>
          <a:xfrm>
            <a:off x="17213791" y="18750000"/>
            <a:ext cx="2500000" cy="1180000"/>
          </a:xfrm>
          <a:prstGeom prst="rect">
            <a:avLst/>
          </a:prstGeom>
          <a:noFill/>
        </p:spPr>
        <p:txBody>
          <a:bodyPr wrap="square" lIns="0" tIns="0" rIns="91440" bIns="0" rtlCol="0" anchor="ctr">
            <a:normAutofit/>
          </a:bodyPr>
          <a:lstStyle/>
          <a:p>
            <a:pPr algn="l"/>
            <a:r>
              <a:rPr lang="en-US" sz="2400" b="1" dirty="0">
                <a:solidFill>
                  <a:srgbClr val="40512B"/>
                </a:solidFill>
              </a:rPr>
              <a:t>Only 109 labels vs 16,682 rows</a:t>
            </a:r>
          </a:p>
        </p:txBody>
      </p:sp>
      <p:sp>
        <p:nvSpPr>
          <p:cNvPr id="246" name="arr"/>
          <p:cNvSpPr txBox="1"/>
          <p:nvPr/>
        </p:nvSpPr>
        <p:spPr>
          <a:xfrm>
            <a:off x="19763791" y="18750000"/>
            <a:ext cx="300000" cy="1180000"/>
          </a:xfrm>
          <a:prstGeom prst="rect">
            <a:avLst/>
          </a:prstGeom>
          <a:noFill/>
        </p:spPr>
        <p:txBody>
          <a:bodyPr wrap="square" lIns="0" tIns="0" rIns="0" bIns="0" rtlCol="0" anchor="ctr">
            <a:normAutofit/>
          </a:bodyPr>
          <a:lstStyle/>
          <a:p>
            <a:pPr algn="ctr"/>
            <a:r>
              <a:rPr lang="en-US" sz="3200" b="1" dirty="0">
                <a:solidFill>
                  <a:srgbClr val="E4AD1F"/>
                </a:solidFill>
              </a:rPr>
              <a:t>→</a:t>
            </a:r>
            <a:endParaRPr lang="en-US" sz="2800" b="1" dirty="0">
              <a:solidFill>
                <a:srgbClr val="E4AD1F"/>
              </a:solidFill>
            </a:endParaRPr>
          </a:p>
        </p:txBody>
      </p:sp>
      <p:sp>
        <p:nvSpPr>
          <p:cNvPr id="247" name="card"/>
          <p:cNvSpPr/>
          <p:nvPr/>
        </p:nvSpPr>
        <p:spPr>
          <a:xfrm>
            <a:off x="20113791" y="19990000"/>
            <a:ext cx="3998746" cy="1060000"/>
          </a:xfrm>
          <a:prstGeom prst="roundRect">
            <a:avLst>
              <a:gd name="adj" fmla="val 9000"/>
            </a:avLst>
          </a:prstGeom>
          <a:solidFill>
            <a:srgbClr val="DCE5CC"/>
          </a:solidFill>
          <a:ln>
            <a:noFill/>
          </a:ln>
        </p:spPr>
        <p:txBody>
          <a:bodyPr/>
          <a:lstStyle/>
          <a:p>
            <a:endParaRPr lang="he-IL"/>
          </a:p>
        </p:txBody>
      </p:sp>
      <p:sp>
        <p:nvSpPr>
          <p:cNvPr id="248" name="resp"/>
          <p:cNvSpPr txBox="1"/>
          <p:nvPr/>
        </p:nvSpPr>
        <p:spPr>
          <a:xfrm>
            <a:off x="20113791" y="19990000"/>
            <a:ext cx="3998746" cy="1060000"/>
          </a:xfrm>
          <a:prstGeom prst="rect">
            <a:avLst/>
          </a:prstGeom>
          <a:noFill/>
        </p:spPr>
        <p:txBody>
          <a:bodyPr wrap="square" lIns="91440" tIns="0" rIns="91440" bIns="0" rtlCol="0" anchor="ctr">
            <a:noAutofit/>
          </a:bodyPr>
          <a:lstStyle/>
          <a:p>
            <a:pPr algn="l"/>
            <a:r>
              <a:rPr lang="en-US" sz="2400" dirty="0">
                <a:solidFill>
                  <a:srgbClr val="40512B"/>
                </a:solidFill>
              </a:rPr>
              <a:t>Micro-climate model filled greenhouse-condition gaps</a:t>
            </a:r>
          </a:p>
        </p:txBody>
      </p:sp>
      <p:sp>
        <p:nvSpPr>
          <p:cNvPr id="249" name="chal"/>
          <p:cNvSpPr txBox="1"/>
          <p:nvPr/>
        </p:nvSpPr>
        <p:spPr>
          <a:xfrm>
            <a:off x="17213791" y="19930000"/>
            <a:ext cx="2500000" cy="1180000"/>
          </a:xfrm>
          <a:prstGeom prst="rect">
            <a:avLst/>
          </a:prstGeom>
          <a:noFill/>
        </p:spPr>
        <p:txBody>
          <a:bodyPr wrap="square" lIns="0" tIns="0" rIns="91440" bIns="0" rtlCol="0" anchor="ctr">
            <a:normAutofit/>
          </a:bodyPr>
          <a:lstStyle/>
          <a:p>
            <a:pPr algn="l"/>
            <a:r>
              <a:rPr lang="en-US" sz="2400" b="1" dirty="0">
                <a:solidFill>
                  <a:srgbClr val="40512B"/>
                </a:solidFill>
              </a:rPr>
              <a:t>Missing internal climate inputs</a:t>
            </a:r>
          </a:p>
        </p:txBody>
      </p:sp>
      <p:sp>
        <p:nvSpPr>
          <p:cNvPr id="250" name="arr"/>
          <p:cNvSpPr txBox="1"/>
          <p:nvPr/>
        </p:nvSpPr>
        <p:spPr>
          <a:xfrm>
            <a:off x="19763791" y="19930000"/>
            <a:ext cx="300000" cy="1180000"/>
          </a:xfrm>
          <a:prstGeom prst="rect">
            <a:avLst/>
          </a:prstGeom>
          <a:noFill/>
        </p:spPr>
        <p:txBody>
          <a:bodyPr wrap="square" lIns="0" tIns="0" rIns="0" bIns="0" rtlCol="0" anchor="ctr">
            <a:normAutofit/>
          </a:bodyPr>
          <a:lstStyle/>
          <a:p>
            <a:pPr algn="ctr"/>
            <a:r>
              <a:rPr lang="en-US" sz="2800" b="1" dirty="0">
                <a:solidFill>
                  <a:srgbClr val="E4AD1F"/>
                </a:solidFill>
              </a:rPr>
              <a:t>→</a:t>
            </a:r>
          </a:p>
        </p:txBody>
      </p:sp>
      <p:sp>
        <p:nvSpPr>
          <p:cNvPr id="251" name="card"/>
          <p:cNvSpPr/>
          <p:nvPr/>
        </p:nvSpPr>
        <p:spPr>
          <a:xfrm>
            <a:off x="20113791" y="21170000"/>
            <a:ext cx="3998746" cy="1060000"/>
          </a:xfrm>
          <a:prstGeom prst="roundRect">
            <a:avLst>
              <a:gd name="adj" fmla="val 9000"/>
            </a:avLst>
          </a:prstGeom>
          <a:solidFill>
            <a:srgbClr val="DCE5CC"/>
          </a:solidFill>
          <a:ln>
            <a:noFill/>
          </a:ln>
        </p:spPr>
        <p:txBody>
          <a:bodyPr/>
          <a:lstStyle/>
          <a:p>
            <a:endParaRPr lang="he-IL"/>
          </a:p>
        </p:txBody>
      </p:sp>
      <p:sp>
        <p:nvSpPr>
          <p:cNvPr id="252" name="resp"/>
          <p:cNvSpPr txBox="1"/>
          <p:nvPr/>
        </p:nvSpPr>
        <p:spPr>
          <a:xfrm>
            <a:off x="20113791" y="21170000"/>
            <a:ext cx="3998746" cy="1060000"/>
          </a:xfrm>
          <a:prstGeom prst="rect">
            <a:avLst/>
          </a:prstGeom>
          <a:noFill/>
        </p:spPr>
        <p:txBody>
          <a:bodyPr wrap="square" lIns="91440" tIns="0" rIns="91440" bIns="0" rtlCol="0" anchor="ctr">
            <a:noAutofit/>
          </a:bodyPr>
          <a:lstStyle/>
          <a:p>
            <a:pPr algn="l"/>
            <a:r>
              <a:rPr lang="en-US" sz="2400" dirty="0">
                <a:solidFill>
                  <a:srgbClr val="40512B"/>
                </a:solidFill>
              </a:rPr>
              <a:t>Added time-gap features and window-based aggregations</a:t>
            </a:r>
          </a:p>
        </p:txBody>
      </p:sp>
      <p:sp>
        <p:nvSpPr>
          <p:cNvPr id="253" name="chal"/>
          <p:cNvSpPr txBox="1"/>
          <p:nvPr/>
        </p:nvSpPr>
        <p:spPr>
          <a:xfrm>
            <a:off x="17213791" y="21110000"/>
            <a:ext cx="2500000" cy="1180000"/>
          </a:xfrm>
          <a:prstGeom prst="rect">
            <a:avLst/>
          </a:prstGeom>
          <a:noFill/>
        </p:spPr>
        <p:txBody>
          <a:bodyPr wrap="square" lIns="0" tIns="0" rIns="91440" bIns="0" rtlCol="0" anchor="ctr">
            <a:normAutofit/>
          </a:bodyPr>
          <a:lstStyle/>
          <a:p>
            <a:pPr algn="l"/>
            <a:r>
              <a:rPr lang="en-US" sz="2400" b="1" dirty="0">
                <a:solidFill>
                  <a:srgbClr val="40512B"/>
                </a:solidFill>
              </a:rPr>
              <a:t>Irregular sampling intervals</a:t>
            </a:r>
          </a:p>
        </p:txBody>
      </p:sp>
      <p:sp>
        <p:nvSpPr>
          <p:cNvPr id="254" name="arr"/>
          <p:cNvSpPr txBox="1"/>
          <p:nvPr/>
        </p:nvSpPr>
        <p:spPr>
          <a:xfrm>
            <a:off x="19763791" y="21110000"/>
            <a:ext cx="300000" cy="1180000"/>
          </a:xfrm>
          <a:prstGeom prst="rect">
            <a:avLst/>
          </a:prstGeom>
          <a:noFill/>
        </p:spPr>
        <p:txBody>
          <a:bodyPr wrap="square" lIns="0" tIns="0" rIns="0" bIns="0" rtlCol="0" anchor="ctr">
            <a:normAutofit/>
          </a:bodyPr>
          <a:lstStyle/>
          <a:p>
            <a:pPr algn="ctr"/>
            <a:r>
              <a:rPr lang="en-US" sz="2800" b="1" dirty="0">
                <a:solidFill>
                  <a:srgbClr val="E4AD1F"/>
                </a:solidFill>
              </a:rPr>
              <a:t>→</a:t>
            </a:r>
          </a:p>
        </p:txBody>
      </p:sp>
      <p:sp>
        <p:nvSpPr>
          <p:cNvPr id="255" name="card"/>
          <p:cNvSpPr/>
          <p:nvPr/>
        </p:nvSpPr>
        <p:spPr>
          <a:xfrm>
            <a:off x="20113791" y="22350000"/>
            <a:ext cx="3998746" cy="1060000"/>
          </a:xfrm>
          <a:prstGeom prst="roundRect">
            <a:avLst>
              <a:gd name="adj" fmla="val 9000"/>
            </a:avLst>
          </a:prstGeom>
          <a:solidFill>
            <a:srgbClr val="DCE5CC"/>
          </a:solidFill>
          <a:ln>
            <a:noFill/>
          </a:ln>
        </p:spPr>
        <p:txBody>
          <a:bodyPr/>
          <a:lstStyle/>
          <a:p>
            <a:endParaRPr lang="he-IL"/>
          </a:p>
        </p:txBody>
      </p:sp>
      <p:sp>
        <p:nvSpPr>
          <p:cNvPr id="256" name="resp"/>
          <p:cNvSpPr txBox="1"/>
          <p:nvPr/>
        </p:nvSpPr>
        <p:spPr>
          <a:xfrm>
            <a:off x="20113791" y="22350000"/>
            <a:ext cx="3998746" cy="1060000"/>
          </a:xfrm>
          <a:prstGeom prst="rect">
            <a:avLst/>
          </a:prstGeom>
          <a:noFill/>
        </p:spPr>
        <p:txBody>
          <a:bodyPr wrap="square" lIns="91440" tIns="0" rIns="91440" bIns="0" rtlCol="0" anchor="ctr">
            <a:normAutofit lnSpcReduction="10000"/>
          </a:bodyPr>
          <a:lstStyle/>
          <a:p>
            <a:pPr algn="l"/>
            <a:r>
              <a:rPr lang="en-US" sz="2400" dirty="0">
                <a:solidFill>
                  <a:srgbClr val="40512B"/>
                </a:solidFill>
              </a:rPr>
              <a:t>Used log-transformed EC change and absolute-error metrics</a:t>
            </a:r>
          </a:p>
        </p:txBody>
      </p:sp>
      <p:sp>
        <p:nvSpPr>
          <p:cNvPr id="257" name="chal"/>
          <p:cNvSpPr txBox="1"/>
          <p:nvPr/>
        </p:nvSpPr>
        <p:spPr>
          <a:xfrm>
            <a:off x="17213791" y="22290000"/>
            <a:ext cx="2500000" cy="1180000"/>
          </a:xfrm>
          <a:prstGeom prst="rect">
            <a:avLst/>
          </a:prstGeom>
          <a:noFill/>
        </p:spPr>
        <p:txBody>
          <a:bodyPr wrap="square" lIns="0" tIns="0" rIns="91440" bIns="0" rtlCol="0" anchor="ctr">
            <a:normAutofit/>
          </a:bodyPr>
          <a:lstStyle/>
          <a:p>
            <a:pPr algn="l"/>
            <a:r>
              <a:rPr lang="en-US" sz="2400" b="1" dirty="0">
                <a:solidFill>
                  <a:srgbClr val="40512B"/>
                </a:solidFill>
              </a:rPr>
              <a:t>Low EC range sensitivity</a:t>
            </a:r>
          </a:p>
        </p:txBody>
      </p:sp>
      <p:sp>
        <p:nvSpPr>
          <p:cNvPr id="258" name="arr"/>
          <p:cNvSpPr txBox="1"/>
          <p:nvPr/>
        </p:nvSpPr>
        <p:spPr>
          <a:xfrm>
            <a:off x="19763791" y="22290000"/>
            <a:ext cx="300000" cy="1180000"/>
          </a:xfrm>
          <a:prstGeom prst="rect">
            <a:avLst/>
          </a:prstGeom>
          <a:noFill/>
        </p:spPr>
        <p:txBody>
          <a:bodyPr wrap="square" lIns="0" tIns="0" rIns="0" bIns="0" rtlCol="0" anchor="ctr">
            <a:normAutofit/>
          </a:bodyPr>
          <a:lstStyle/>
          <a:p>
            <a:pPr algn="ctr"/>
            <a:r>
              <a:rPr lang="en-US" sz="2800" b="1" dirty="0">
                <a:solidFill>
                  <a:srgbClr val="E4AD1F"/>
                </a:solidFill>
              </a:rPr>
              <a:t>→</a:t>
            </a:r>
          </a:p>
        </p:txBody>
      </p:sp>
      <p:sp>
        <p:nvSpPr>
          <p:cNvPr id="259" name="card"/>
          <p:cNvSpPr/>
          <p:nvPr/>
        </p:nvSpPr>
        <p:spPr>
          <a:xfrm>
            <a:off x="20113791" y="23530000"/>
            <a:ext cx="3998746" cy="1060000"/>
          </a:xfrm>
          <a:prstGeom prst="roundRect">
            <a:avLst>
              <a:gd name="adj" fmla="val 9000"/>
            </a:avLst>
          </a:prstGeom>
          <a:solidFill>
            <a:srgbClr val="DCE5CC"/>
          </a:solidFill>
          <a:ln>
            <a:noFill/>
          </a:ln>
        </p:spPr>
        <p:txBody>
          <a:bodyPr/>
          <a:lstStyle/>
          <a:p>
            <a:endParaRPr lang="he-IL"/>
          </a:p>
        </p:txBody>
      </p:sp>
      <p:sp>
        <p:nvSpPr>
          <p:cNvPr id="260" name="resp"/>
          <p:cNvSpPr txBox="1"/>
          <p:nvPr/>
        </p:nvSpPr>
        <p:spPr>
          <a:xfrm>
            <a:off x="20113791" y="23530000"/>
            <a:ext cx="3998746" cy="1060000"/>
          </a:xfrm>
          <a:prstGeom prst="rect">
            <a:avLst/>
          </a:prstGeom>
          <a:noFill/>
        </p:spPr>
        <p:txBody>
          <a:bodyPr wrap="square" lIns="91440" tIns="0" rIns="91440" bIns="0" rtlCol="0" anchor="ctr">
            <a:normAutofit/>
          </a:bodyPr>
          <a:lstStyle/>
          <a:p>
            <a:pPr algn="l"/>
            <a:r>
              <a:rPr lang="en-US" sz="2400" dirty="0">
                <a:solidFill>
                  <a:srgbClr val="40512B"/>
                </a:solidFill>
              </a:rPr>
              <a:t>Next step: validate across more seasons and crops</a:t>
            </a:r>
          </a:p>
        </p:txBody>
      </p:sp>
      <p:sp>
        <p:nvSpPr>
          <p:cNvPr id="261" name="chal"/>
          <p:cNvSpPr txBox="1"/>
          <p:nvPr/>
        </p:nvSpPr>
        <p:spPr>
          <a:xfrm>
            <a:off x="17213791" y="23470000"/>
            <a:ext cx="2500000" cy="1180000"/>
          </a:xfrm>
          <a:prstGeom prst="rect">
            <a:avLst/>
          </a:prstGeom>
          <a:noFill/>
        </p:spPr>
        <p:txBody>
          <a:bodyPr wrap="square" lIns="0" tIns="0" rIns="91440" bIns="0" rtlCol="0" anchor="ctr">
            <a:normAutofit/>
          </a:bodyPr>
          <a:lstStyle/>
          <a:p>
            <a:pPr algn="l"/>
            <a:r>
              <a:rPr lang="en-US" sz="2400" b="1" dirty="0">
                <a:solidFill>
                  <a:srgbClr val="40512B"/>
                </a:solidFill>
              </a:rPr>
              <a:t>Single season, one crop</a:t>
            </a:r>
          </a:p>
        </p:txBody>
      </p:sp>
      <p:sp>
        <p:nvSpPr>
          <p:cNvPr id="262" name="arr"/>
          <p:cNvSpPr txBox="1"/>
          <p:nvPr/>
        </p:nvSpPr>
        <p:spPr>
          <a:xfrm>
            <a:off x="19763791" y="23470000"/>
            <a:ext cx="300000" cy="1180000"/>
          </a:xfrm>
          <a:prstGeom prst="rect">
            <a:avLst/>
          </a:prstGeom>
          <a:noFill/>
        </p:spPr>
        <p:txBody>
          <a:bodyPr wrap="square" lIns="0" tIns="0" rIns="0" bIns="0" rtlCol="0" anchor="ctr">
            <a:normAutofit/>
          </a:bodyPr>
          <a:lstStyle/>
          <a:p>
            <a:pPr algn="ctr"/>
            <a:r>
              <a:rPr lang="en-US" sz="2800" b="1" dirty="0">
                <a:solidFill>
                  <a:srgbClr val="E4AD1F"/>
                </a:solidFill>
              </a:rPr>
              <a:t>→</a:t>
            </a:r>
          </a:p>
        </p:txBody>
      </p:sp>
      <p:sp>
        <p:nvSpPr>
          <p:cNvPr id="68" name="מלבן: פינות מעוגלות 67">
            <a:extLst>
              <a:ext uri="{FF2B5EF4-FFF2-40B4-BE49-F238E27FC236}">
                <a16:creationId xmlns:a16="http://schemas.microsoft.com/office/drawing/2014/main" id="{E893B1F0-C50E-ABE6-33C1-7F567886DFD7}"/>
              </a:ext>
            </a:extLst>
          </p:cNvPr>
          <p:cNvSpPr/>
          <p:nvPr/>
        </p:nvSpPr>
        <p:spPr>
          <a:xfrm>
            <a:off x="647700" y="25361900"/>
            <a:ext cx="23896638" cy="6350000"/>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69" name="מלבן: פינות מעוגלות 68">
            <a:extLst>
              <a:ext uri="{FF2B5EF4-FFF2-40B4-BE49-F238E27FC236}">
                <a16:creationId xmlns:a16="http://schemas.microsoft.com/office/drawing/2014/main" id="{7DB68EEC-2F66-6E8F-10BC-57AD9DABA4FB}"/>
              </a:ext>
            </a:extLst>
          </p:cNvPr>
          <p:cNvSpPr/>
          <p:nvPr/>
        </p:nvSpPr>
        <p:spPr>
          <a:xfrm>
            <a:off x="939800" y="256159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08</a:t>
            </a:r>
          </a:p>
        </p:txBody>
      </p:sp>
      <p:sp>
        <p:nvSpPr>
          <p:cNvPr id="70" name="תיבת טקסט 69">
            <a:extLst>
              <a:ext uri="{FF2B5EF4-FFF2-40B4-BE49-F238E27FC236}">
                <a16:creationId xmlns:a16="http://schemas.microsoft.com/office/drawing/2014/main" id="{89F9D183-9051-550B-3749-A50107867C93}"/>
              </a:ext>
            </a:extLst>
          </p:cNvPr>
          <p:cNvSpPr txBox="1"/>
          <p:nvPr/>
        </p:nvSpPr>
        <p:spPr>
          <a:xfrm>
            <a:off x="1689100" y="25552400"/>
            <a:ext cx="22499638" cy="718145"/>
          </a:xfrm>
          <a:prstGeom prst="rect">
            <a:avLst/>
          </a:prstGeom>
          <a:noFill/>
        </p:spPr>
        <p:txBody>
          <a:bodyPr vert="horz" wrap="square" lIns="76200" tIns="50800" rIns="76200" bIns="50800" rtlCol="1">
            <a:spAutoFit/>
          </a:bodyPr>
          <a:lstStyle/>
          <a:p>
            <a:r>
              <a:rPr lang="en-US" sz="4000" b="1">
                <a:solidFill>
                  <a:srgbClr val="40512B"/>
                </a:solidFill>
                <a:cs typeface="Times New Roman" panose="02020603050405020304" pitchFamily="18" charset="0"/>
              </a:rPr>
              <a:t>Root-zone Model Results - Walk-forward Test</a:t>
            </a:r>
            <a:endParaRPr lang="he-IL" sz="4000" b="1" dirty="0">
              <a:solidFill>
                <a:srgbClr val="40512B"/>
              </a:solidFill>
              <a:cs typeface="Times New Roman" panose="02020603050405020304" pitchFamily="18" charset="0"/>
            </a:endParaRPr>
          </a:p>
        </p:txBody>
      </p:sp>
      <p:sp>
        <p:nvSpPr>
          <p:cNvPr id="71" name="מלבן 70">
            <a:extLst>
              <a:ext uri="{FF2B5EF4-FFF2-40B4-BE49-F238E27FC236}">
                <a16:creationId xmlns:a16="http://schemas.microsoft.com/office/drawing/2014/main" id="{9B60821D-A19F-382D-A2E0-607A1E081B6B}"/>
              </a:ext>
            </a:extLst>
          </p:cNvPr>
          <p:cNvSpPr/>
          <p:nvPr/>
        </p:nvSpPr>
        <p:spPr>
          <a:xfrm>
            <a:off x="1003300" y="26327100"/>
            <a:ext cx="23185438"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4" name="מלבן: פינות מעוגלות 73">
            <a:extLst>
              <a:ext uri="{FF2B5EF4-FFF2-40B4-BE49-F238E27FC236}">
                <a16:creationId xmlns:a16="http://schemas.microsoft.com/office/drawing/2014/main" id="{74457816-BE6B-9781-4D9D-DC548DBCEF66}"/>
              </a:ext>
            </a:extLst>
          </p:cNvPr>
          <p:cNvSpPr/>
          <p:nvPr/>
        </p:nvSpPr>
        <p:spPr>
          <a:xfrm>
            <a:off x="1003300" y="26581100"/>
            <a:ext cx="3694906"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5" name="תיבת טקסט 74">
            <a:extLst>
              <a:ext uri="{FF2B5EF4-FFF2-40B4-BE49-F238E27FC236}">
                <a16:creationId xmlns:a16="http://schemas.microsoft.com/office/drawing/2014/main" id="{1276916A-FDDC-E38F-1C81-062B9C8E5549}"/>
              </a:ext>
            </a:extLst>
          </p:cNvPr>
          <p:cNvSpPr txBox="1"/>
          <p:nvPr/>
        </p:nvSpPr>
        <p:spPr>
          <a:xfrm>
            <a:off x="1079500" y="26518578"/>
            <a:ext cx="3542506" cy="841256"/>
          </a:xfrm>
          <a:prstGeom prst="rect">
            <a:avLst/>
          </a:prstGeom>
          <a:noFill/>
        </p:spPr>
        <p:txBody>
          <a:bodyPr vert="horz" wrap="square" lIns="76200" tIns="50800" rIns="76200" bIns="50800" rtlCol="1">
            <a:spAutoFit/>
          </a:bodyPr>
          <a:lstStyle/>
          <a:p>
            <a:pPr algn="ctr"/>
            <a:r>
              <a:rPr lang="he-IL" sz="4800" b="1" dirty="0">
                <a:solidFill>
                  <a:srgbClr val="40512B"/>
                </a:solidFill>
                <a:cs typeface="Times New Roman" panose="02020603050405020304" pitchFamily="18" charset="0"/>
              </a:rPr>
              <a:t>0.33</a:t>
            </a:r>
          </a:p>
        </p:txBody>
      </p:sp>
      <p:sp>
        <p:nvSpPr>
          <p:cNvPr id="77" name="תיבת טקסט 76">
            <a:extLst>
              <a:ext uri="{FF2B5EF4-FFF2-40B4-BE49-F238E27FC236}">
                <a16:creationId xmlns:a16="http://schemas.microsoft.com/office/drawing/2014/main" id="{DC957417-C641-9035-273B-5DCB72254FCD}"/>
              </a:ext>
            </a:extLst>
          </p:cNvPr>
          <p:cNvSpPr txBox="1"/>
          <p:nvPr/>
        </p:nvSpPr>
        <p:spPr>
          <a:xfrm>
            <a:off x="1079500"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pH MAE</a:t>
            </a:r>
            <a:endParaRPr lang="he-IL" sz="3200" b="1" dirty="0">
              <a:solidFill>
                <a:srgbClr val="40512B"/>
              </a:solidFill>
              <a:cs typeface="Times New Roman" panose="02020603050405020304" pitchFamily="18" charset="0"/>
            </a:endParaRPr>
          </a:p>
        </p:txBody>
      </p:sp>
      <p:sp>
        <p:nvSpPr>
          <p:cNvPr id="78" name="מלבן: פינות מעוגלות 77">
            <a:extLst>
              <a:ext uri="{FF2B5EF4-FFF2-40B4-BE49-F238E27FC236}">
                <a16:creationId xmlns:a16="http://schemas.microsoft.com/office/drawing/2014/main" id="{32F19B7E-3B8B-3BA7-B172-59E9D2B56276}"/>
              </a:ext>
            </a:extLst>
          </p:cNvPr>
          <p:cNvSpPr/>
          <p:nvPr/>
        </p:nvSpPr>
        <p:spPr>
          <a:xfrm>
            <a:off x="4901406" y="26581100"/>
            <a:ext cx="3694907"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9" name="תיבת טקסט 78">
            <a:extLst>
              <a:ext uri="{FF2B5EF4-FFF2-40B4-BE49-F238E27FC236}">
                <a16:creationId xmlns:a16="http://schemas.microsoft.com/office/drawing/2014/main" id="{32FAC1CA-A13B-70B4-90BB-042762B93C35}"/>
              </a:ext>
            </a:extLst>
          </p:cNvPr>
          <p:cNvSpPr txBox="1"/>
          <p:nvPr/>
        </p:nvSpPr>
        <p:spPr>
          <a:xfrm>
            <a:off x="4977606" y="26518578"/>
            <a:ext cx="3542506" cy="841256"/>
          </a:xfrm>
          <a:prstGeom prst="rect">
            <a:avLst/>
          </a:prstGeom>
          <a:noFill/>
        </p:spPr>
        <p:txBody>
          <a:bodyPr vert="horz" wrap="square" lIns="76200" tIns="50800" rIns="76200" bIns="50800" rtlCol="1">
            <a:spAutoFit/>
          </a:bodyPr>
          <a:lstStyle/>
          <a:p>
            <a:pPr algn="ctr"/>
            <a:r>
              <a:rPr lang="he-IL" sz="4800" b="1">
                <a:solidFill>
                  <a:srgbClr val="40512B"/>
                </a:solidFill>
                <a:cs typeface="Times New Roman" panose="02020603050405020304" pitchFamily="18" charset="0"/>
              </a:rPr>
              <a:t>0.93</a:t>
            </a:r>
            <a:endParaRPr lang="he-IL" sz="4800" b="1" dirty="0">
              <a:solidFill>
                <a:srgbClr val="40512B"/>
              </a:solidFill>
              <a:cs typeface="Times New Roman" panose="02020603050405020304" pitchFamily="18" charset="0"/>
            </a:endParaRPr>
          </a:p>
        </p:txBody>
      </p:sp>
      <p:sp>
        <p:nvSpPr>
          <p:cNvPr id="102" name="תיבת טקסט 101">
            <a:extLst>
              <a:ext uri="{FF2B5EF4-FFF2-40B4-BE49-F238E27FC236}">
                <a16:creationId xmlns:a16="http://schemas.microsoft.com/office/drawing/2014/main" id="{8C72E5AF-6CE1-8555-DC1F-727D9D1C94C6}"/>
              </a:ext>
            </a:extLst>
          </p:cNvPr>
          <p:cNvSpPr txBox="1"/>
          <p:nvPr/>
        </p:nvSpPr>
        <p:spPr>
          <a:xfrm>
            <a:off x="4977606"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pH R2</a:t>
            </a:r>
            <a:endParaRPr lang="he-IL" sz="3200" b="1" dirty="0">
              <a:solidFill>
                <a:srgbClr val="40512B"/>
              </a:solidFill>
              <a:cs typeface="Times New Roman" panose="02020603050405020304" pitchFamily="18" charset="0"/>
            </a:endParaRPr>
          </a:p>
        </p:txBody>
      </p:sp>
      <p:sp>
        <p:nvSpPr>
          <p:cNvPr id="109" name="מלבן: פינות מעוגלות 108">
            <a:extLst>
              <a:ext uri="{FF2B5EF4-FFF2-40B4-BE49-F238E27FC236}">
                <a16:creationId xmlns:a16="http://schemas.microsoft.com/office/drawing/2014/main" id="{3F616F05-DF76-C0DD-E60F-8DC7389169E3}"/>
              </a:ext>
            </a:extLst>
          </p:cNvPr>
          <p:cNvSpPr/>
          <p:nvPr/>
        </p:nvSpPr>
        <p:spPr>
          <a:xfrm>
            <a:off x="8799513" y="26581100"/>
            <a:ext cx="3694906" cy="1066800"/>
          </a:xfrm>
          <a:prstGeom prst="roundRect">
            <a:avLst>
              <a:gd name="adj" fmla="val 8000"/>
            </a:avLst>
          </a:prstGeom>
          <a:solidFill>
            <a:srgbClr val="F5E8D1"/>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6" name="תיבת טקסט 115">
            <a:extLst>
              <a:ext uri="{FF2B5EF4-FFF2-40B4-BE49-F238E27FC236}">
                <a16:creationId xmlns:a16="http://schemas.microsoft.com/office/drawing/2014/main" id="{0329DED2-BB36-DAE0-3212-6BBE829BB502}"/>
              </a:ext>
            </a:extLst>
          </p:cNvPr>
          <p:cNvSpPr txBox="1"/>
          <p:nvPr/>
        </p:nvSpPr>
        <p:spPr>
          <a:xfrm>
            <a:off x="8875713" y="26518578"/>
            <a:ext cx="3542506" cy="841256"/>
          </a:xfrm>
          <a:prstGeom prst="rect">
            <a:avLst/>
          </a:prstGeom>
          <a:noFill/>
        </p:spPr>
        <p:txBody>
          <a:bodyPr vert="horz" wrap="square" lIns="76200" tIns="50800" rIns="76200" bIns="50800" rtlCol="1">
            <a:spAutoFit/>
          </a:bodyPr>
          <a:lstStyle/>
          <a:p>
            <a:pPr algn="ctr"/>
            <a:r>
              <a:rPr lang="he-IL" sz="4800" b="1">
                <a:solidFill>
                  <a:srgbClr val="B57900"/>
                </a:solidFill>
                <a:cs typeface="Times New Roman" panose="02020603050405020304" pitchFamily="18" charset="0"/>
              </a:rPr>
              <a:t>62%</a:t>
            </a:r>
            <a:endParaRPr lang="he-IL" sz="4800" b="1" dirty="0">
              <a:solidFill>
                <a:srgbClr val="B57900"/>
              </a:solidFill>
              <a:cs typeface="Times New Roman" panose="02020603050405020304" pitchFamily="18" charset="0"/>
            </a:endParaRPr>
          </a:p>
        </p:txBody>
      </p:sp>
      <p:sp>
        <p:nvSpPr>
          <p:cNvPr id="123" name="תיבת טקסט 122">
            <a:extLst>
              <a:ext uri="{FF2B5EF4-FFF2-40B4-BE49-F238E27FC236}">
                <a16:creationId xmlns:a16="http://schemas.microsoft.com/office/drawing/2014/main" id="{7393F21F-FED1-6CDA-0C08-60A582943061}"/>
              </a:ext>
            </a:extLst>
          </p:cNvPr>
          <p:cNvSpPr txBox="1"/>
          <p:nvPr/>
        </p:nvSpPr>
        <p:spPr>
          <a:xfrm>
            <a:off x="8875713"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pH gain</a:t>
            </a:r>
            <a:endParaRPr lang="he-IL" sz="3200" b="1" dirty="0">
              <a:solidFill>
                <a:srgbClr val="40512B"/>
              </a:solidFill>
              <a:cs typeface="Times New Roman" panose="02020603050405020304" pitchFamily="18" charset="0"/>
            </a:endParaRPr>
          </a:p>
        </p:txBody>
      </p:sp>
      <p:sp>
        <p:nvSpPr>
          <p:cNvPr id="152" name="מלבן: פינות מעוגלות 151">
            <a:extLst>
              <a:ext uri="{FF2B5EF4-FFF2-40B4-BE49-F238E27FC236}">
                <a16:creationId xmlns:a16="http://schemas.microsoft.com/office/drawing/2014/main" id="{54DC2E60-5947-1B53-1F13-F3E514B82EC1}"/>
              </a:ext>
            </a:extLst>
          </p:cNvPr>
          <p:cNvSpPr/>
          <p:nvPr/>
        </p:nvSpPr>
        <p:spPr>
          <a:xfrm>
            <a:off x="12697619" y="26581100"/>
            <a:ext cx="3694906"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53" name="תיבת טקסט 152">
            <a:extLst>
              <a:ext uri="{FF2B5EF4-FFF2-40B4-BE49-F238E27FC236}">
                <a16:creationId xmlns:a16="http://schemas.microsoft.com/office/drawing/2014/main" id="{71A6B5EA-7824-5DA2-CD48-00B81B5EF37A}"/>
              </a:ext>
            </a:extLst>
          </p:cNvPr>
          <p:cNvSpPr txBox="1"/>
          <p:nvPr/>
        </p:nvSpPr>
        <p:spPr>
          <a:xfrm>
            <a:off x="12773819" y="26518578"/>
            <a:ext cx="3542506" cy="841256"/>
          </a:xfrm>
          <a:prstGeom prst="rect">
            <a:avLst/>
          </a:prstGeom>
          <a:noFill/>
        </p:spPr>
        <p:txBody>
          <a:bodyPr vert="horz" wrap="square" lIns="76200" tIns="50800" rIns="76200" bIns="50800" rtlCol="1">
            <a:spAutoFit/>
          </a:bodyPr>
          <a:lstStyle/>
          <a:p>
            <a:pPr algn="ctr"/>
            <a:r>
              <a:rPr lang="he-IL" sz="4800" b="1">
                <a:solidFill>
                  <a:srgbClr val="40512B"/>
                </a:solidFill>
                <a:cs typeface="Times New Roman" panose="02020603050405020304" pitchFamily="18" charset="0"/>
              </a:rPr>
              <a:t>0.127</a:t>
            </a:r>
            <a:endParaRPr lang="he-IL" sz="4800" b="1" dirty="0">
              <a:solidFill>
                <a:srgbClr val="40512B"/>
              </a:solidFill>
              <a:cs typeface="Times New Roman" panose="02020603050405020304" pitchFamily="18" charset="0"/>
            </a:endParaRPr>
          </a:p>
        </p:txBody>
      </p:sp>
      <p:sp>
        <p:nvSpPr>
          <p:cNvPr id="154" name="תיבת טקסט 153">
            <a:extLst>
              <a:ext uri="{FF2B5EF4-FFF2-40B4-BE49-F238E27FC236}">
                <a16:creationId xmlns:a16="http://schemas.microsoft.com/office/drawing/2014/main" id="{E0EA7162-8EBF-4764-5DB4-97B65B064F21}"/>
              </a:ext>
            </a:extLst>
          </p:cNvPr>
          <p:cNvSpPr txBox="1"/>
          <p:nvPr/>
        </p:nvSpPr>
        <p:spPr>
          <a:xfrm>
            <a:off x="12773819"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EC MAE</a:t>
            </a:r>
            <a:endParaRPr lang="he-IL" sz="3200" b="1" dirty="0">
              <a:solidFill>
                <a:srgbClr val="40512B"/>
              </a:solidFill>
              <a:cs typeface="Times New Roman" panose="02020603050405020304" pitchFamily="18" charset="0"/>
            </a:endParaRPr>
          </a:p>
        </p:txBody>
      </p:sp>
      <p:sp>
        <p:nvSpPr>
          <p:cNvPr id="155" name="מלבן: פינות מעוגלות 154">
            <a:extLst>
              <a:ext uri="{FF2B5EF4-FFF2-40B4-BE49-F238E27FC236}">
                <a16:creationId xmlns:a16="http://schemas.microsoft.com/office/drawing/2014/main" id="{B95E48A9-2B9A-5D8E-FEA5-4B5E1B1A8E43}"/>
              </a:ext>
            </a:extLst>
          </p:cNvPr>
          <p:cNvSpPr/>
          <p:nvPr/>
        </p:nvSpPr>
        <p:spPr>
          <a:xfrm>
            <a:off x="16595725" y="26581100"/>
            <a:ext cx="3694906" cy="1066800"/>
          </a:xfrm>
          <a:prstGeom prst="roundRect">
            <a:avLst>
              <a:gd name="adj" fmla="val 8000"/>
            </a:avLst>
          </a:prstGeom>
          <a:solidFill>
            <a:srgbClr val="C8D4B4"/>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69" name="תיבת טקסט 168">
            <a:extLst>
              <a:ext uri="{FF2B5EF4-FFF2-40B4-BE49-F238E27FC236}">
                <a16:creationId xmlns:a16="http://schemas.microsoft.com/office/drawing/2014/main" id="{74DC65C7-1828-152E-0FF6-6788F8894085}"/>
              </a:ext>
            </a:extLst>
          </p:cNvPr>
          <p:cNvSpPr txBox="1"/>
          <p:nvPr/>
        </p:nvSpPr>
        <p:spPr>
          <a:xfrm>
            <a:off x="16671925" y="26518578"/>
            <a:ext cx="3542506" cy="841256"/>
          </a:xfrm>
          <a:prstGeom prst="rect">
            <a:avLst/>
          </a:prstGeom>
          <a:noFill/>
        </p:spPr>
        <p:txBody>
          <a:bodyPr vert="horz" wrap="square" lIns="76200" tIns="50800" rIns="76200" bIns="50800" rtlCol="1">
            <a:spAutoFit/>
          </a:bodyPr>
          <a:lstStyle/>
          <a:p>
            <a:pPr algn="ctr"/>
            <a:r>
              <a:rPr lang="he-IL" sz="4800" b="1">
                <a:solidFill>
                  <a:srgbClr val="40512B"/>
                </a:solidFill>
                <a:cs typeface="Times New Roman" panose="02020603050405020304" pitchFamily="18" charset="0"/>
              </a:rPr>
              <a:t>0.98</a:t>
            </a:r>
            <a:endParaRPr lang="he-IL" sz="4800" b="1" dirty="0">
              <a:solidFill>
                <a:srgbClr val="40512B"/>
              </a:solidFill>
              <a:cs typeface="Times New Roman" panose="02020603050405020304" pitchFamily="18" charset="0"/>
            </a:endParaRPr>
          </a:p>
        </p:txBody>
      </p:sp>
      <p:sp>
        <p:nvSpPr>
          <p:cNvPr id="170" name="תיבת טקסט 169">
            <a:extLst>
              <a:ext uri="{FF2B5EF4-FFF2-40B4-BE49-F238E27FC236}">
                <a16:creationId xmlns:a16="http://schemas.microsoft.com/office/drawing/2014/main" id="{395E76A3-BA18-41BF-8D41-7DC53B7BC79E}"/>
              </a:ext>
            </a:extLst>
          </p:cNvPr>
          <p:cNvSpPr txBox="1"/>
          <p:nvPr/>
        </p:nvSpPr>
        <p:spPr>
          <a:xfrm>
            <a:off x="16671925"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EC R2</a:t>
            </a:r>
            <a:endParaRPr lang="he-IL" sz="3200" b="1" dirty="0">
              <a:solidFill>
                <a:srgbClr val="40512B"/>
              </a:solidFill>
              <a:cs typeface="Times New Roman" panose="02020603050405020304" pitchFamily="18" charset="0"/>
            </a:endParaRPr>
          </a:p>
        </p:txBody>
      </p:sp>
      <p:sp>
        <p:nvSpPr>
          <p:cNvPr id="171" name="מלבן: פינות מעוגלות 170">
            <a:extLst>
              <a:ext uri="{FF2B5EF4-FFF2-40B4-BE49-F238E27FC236}">
                <a16:creationId xmlns:a16="http://schemas.microsoft.com/office/drawing/2014/main" id="{CBB8B8F2-1A9E-999A-D03C-14121CA15978}"/>
              </a:ext>
            </a:extLst>
          </p:cNvPr>
          <p:cNvSpPr/>
          <p:nvPr/>
        </p:nvSpPr>
        <p:spPr>
          <a:xfrm>
            <a:off x="20493831" y="26581100"/>
            <a:ext cx="3694907" cy="1066800"/>
          </a:xfrm>
          <a:prstGeom prst="roundRect">
            <a:avLst>
              <a:gd name="adj" fmla="val 8000"/>
            </a:avLst>
          </a:prstGeom>
          <a:solidFill>
            <a:srgbClr val="F5E8D1"/>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72" name="תיבת טקסט 171">
            <a:extLst>
              <a:ext uri="{FF2B5EF4-FFF2-40B4-BE49-F238E27FC236}">
                <a16:creationId xmlns:a16="http://schemas.microsoft.com/office/drawing/2014/main" id="{3EB6FAA6-074B-1A0A-956A-432C238BA64D}"/>
              </a:ext>
            </a:extLst>
          </p:cNvPr>
          <p:cNvSpPr txBox="1"/>
          <p:nvPr/>
        </p:nvSpPr>
        <p:spPr>
          <a:xfrm>
            <a:off x="20570031" y="26518578"/>
            <a:ext cx="3542506" cy="841256"/>
          </a:xfrm>
          <a:prstGeom prst="rect">
            <a:avLst/>
          </a:prstGeom>
          <a:noFill/>
        </p:spPr>
        <p:txBody>
          <a:bodyPr vert="horz" wrap="square" lIns="76200" tIns="50800" rIns="76200" bIns="50800" rtlCol="1">
            <a:spAutoFit/>
          </a:bodyPr>
          <a:lstStyle/>
          <a:p>
            <a:pPr algn="ctr"/>
            <a:r>
              <a:rPr lang="he-IL" sz="4800" b="1">
                <a:solidFill>
                  <a:srgbClr val="B57900"/>
                </a:solidFill>
                <a:cs typeface="Times New Roman" panose="02020603050405020304" pitchFamily="18" charset="0"/>
              </a:rPr>
              <a:t>35%</a:t>
            </a:r>
            <a:endParaRPr lang="he-IL" sz="4800" b="1" dirty="0">
              <a:solidFill>
                <a:srgbClr val="B57900"/>
              </a:solidFill>
              <a:cs typeface="Times New Roman" panose="02020603050405020304" pitchFamily="18" charset="0"/>
            </a:endParaRPr>
          </a:p>
        </p:txBody>
      </p:sp>
      <p:sp>
        <p:nvSpPr>
          <p:cNvPr id="173" name="תיבת טקסט 172">
            <a:extLst>
              <a:ext uri="{FF2B5EF4-FFF2-40B4-BE49-F238E27FC236}">
                <a16:creationId xmlns:a16="http://schemas.microsoft.com/office/drawing/2014/main" id="{BD6B4F80-D699-93D1-EE4C-8B1C2B99B794}"/>
              </a:ext>
            </a:extLst>
          </p:cNvPr>
          <p:cNvSpPr txBox="1"/>
          <p:nvPr/>
        </p:nvSpPr>
        <p:spPr>
          <a:xfrm>
            <a:off x="20570031" y="27114500"/>
            <a:ext cx="3542506" cy="595035"/>
          </a:xfrm>
          <a:prstGeom prst="rect">
            <a:avLst/>
          </a:prstGeom>
          <a:noFill/>
        </p:spPr>
        <p:txBody>
          <a:bodyPr vert="horz" wrap="square" lIns="76200" tIns="50800" rIns="76200" bIns="50800" rtlCol="1">
            <a:spAutoFit/>
          </a:bodyPr>
          <a:lstStyle/>
          <a:p>
            <a:pPr algn="ctr"/>
            <a:r>
              <a:rPr lang="en-US" sz="3200" b="1">
                <a:solidFill>
                  <a:srgbClr val="40512B"/>
                </a:solidFill>
                <a:cs typeface="Times New Roman" panose="02020603050405020304" pitchFamily="18" charset="0"/>
              </a:rPr>
              <a:t>EC gain</a:t>
            </a:r>
            <a:endParaRPr lang="he-IL" sz="3200" b="1" dirty="0">
              <a:solidFill>
                <a:srgbClr val="40512B"/>
              </a:solidFill>
              <a:cs typeface="Times New Roman" panose="02020603050405020304" pitchFamily="18" charset="0"/>
            </a:endParaRPr>
          </a:p>
        </p:txBody>
      </p:sp>
      <p:sp>
        <p:nvSpPr>
          <p:cNvPr id="178" name="מלבן: פינות מעוגלות 177">
            <a:extLst>
              <a:ext uri="{FF2B5EF4-FFF2-40B4-BE49-F238E27FC236}">
                <a16:creationId xmlns:a16="http://schemas.microsoft.com/office/drawing/2014/main" id="{13192204-3331-1E1D-51BE-CAEFE3DC62F7}"/>
              </a:ext>
            </a:extLst>
          </p:cNvPr>
          <p:cNvSpPr/>
          <p:nvPr/>
        </p:nvSpPr>
        <p:spPr>
          <a:xfrm>
            <a:off x="647700" y="32067500"/>
            <a:ext cx="23896638" cy="3195638"/>
          </a:xfrm>
          <a:prstGeom prst="roundRect">
            <a:avLst>
              <a:gd name="adj" fmla="val 6000"/>
            </a:avLst>
          </a:prstGeom>
          <a:solidFill>
            <a:srgbClr val="FFFDF5"/>
          </a:solidFill>
          <a:ln w="17145">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79" name="מלבן: פינות מעוגלות 178">
            <a:extLst>
              <a:ext uri="{FF2B5EF4-FFF2-40B4-BE49-F238E27FC236}">
                <a16:creationId xmlns:a16="http://schemas.microsoft.com/office/drawing/2014/main" id="{BAC1ADC2-8251-660F-50F2-84619D41EC44}"/>
              </a:ext>
            </a:extLst>
          </p:cNvPr>
          <p:cNvSpPr/>
          <p:nvPr/>
        </p:nvSpPr>
        <p:spPr>
          <a:xfrm>
            <a:off x="939800" y="32321500"/>
            <a:ext cx="609600" cy="609600"/>
          </a:xfrm>
          <a:prstGeom prst="roundRect">
            <a:avLst/>
          </a:prstGeom>
          <a:solidFill>
            <a:srgbClr val="E4AD1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50800" rIns="76200" bIns="50800" rtlCol="1" anchor="ctr"/>
          <a:lstStyle/>
          <a:p>
            <a:pPr algn="ctr"/>
            <a:r>
              <a:rPr lang="he-IL" sz="2800" b="1">
                <a:solidFill>
                  <a:srgbClr val="FFFFFF"/>
                </a:solidFill>
              </a:rPr>
              <a:t>09</a:t>
            </a:r>
          </a:p>
        </p:txBody>
      </p:sp>
      <p:sp>
        <p:nvSpPr>
          <p:cNvPr id="180" name="תיבת טקסט 179">
            <a:extLst>
              <a:ext uri="{FF2B5EF4-FFF2-40B4-BE49-F238E27FC236}">
                <a16:creationId xmlns:a16="http://schemas.microsoft.com/office/drawing/2014/main" id="{243FF85A-64B3-99C6-E6F8-B6204C9429E0}"/>
              </a:ext>
            </a:extLst>
          </p:cNvPr>
          <p:cNvSpPr txBox="1"/>
          <p:nvPr/>
        </p:nvSpPr>
        <p:spPr>
          <a:xfrm>
            <a:off x="1689100" y="32258000"/>
            <a:ext cx="22499638" cy="718145"/>
          </a:xfrm>
          <a:prstGeom prst="rect">
            <a:avLst/>
          </a:prstGeom>
          <a:noFill/>
        </p:spPr>
        <p:txBody>
          <a:bodyPr vert="horz" wrap="square" lIns="76200" tIns="50800" rIns="76200" bIns="50800" rtlCol="1">
            <a:spAutoFit/>
          </a:bodyPr>
          <a:lstStyle/>
          <a:p>
            <a:r>
              <a:rPr lang="en-US" sz="4000" b="1" dirty="0">
                <a:solidFill>
                  <a:srgbClr val="40512B"/>
                </a:solidFill>
                <a:cs typeface="Times New Roman" panose="02020603050405020304" pitchFamily="18" charset="0"/>
              </a:rPr>
              <a:t>Conclusions</a:t>
            </a:r>
            <a:endParaRPr lang="he-IL" sz="4000" b="1" dirty="0">
              <a:solidFill>
                <a:srgbClr val="40512B"/>
              </a:solidFill>
              <a:cs typeface="Times New Roman" panose="02020603050405020304" pitchFamily="18" charset="0"/>
            </a:endParaRPr>
          </a:p>
        </p:txBody>
      </p:sp>
      <p:sp>
        <p:nvSpPr>
          <p:cNvPr id="181" name="מלבן 180">
            <a:extLst>
              <a:ext uri="{FF2B5EF4-FFF2-40B4-BE49-F238E27FC236}">
                <a16:creationId xmlns:a16="http://schemas.microsoft.com/office/drawing/2014/main" id="{18E2001A-4EC1-8000-4C7B-8E35B46AD1C4}"/>
              </a:ext>
            </a:extLst>
          </p:cNvPr>
          <p:cNvSpPr/>
          <p:nvPr/>
        </p:nvSpPr>
        <p:spPr>
          <a:xfrm>
            <a:off x="1003300" y="33032700"/>
            <a:ext cx="23185438" cy="19050"/>
          </a:xfrm>
          <a:prstGeom prst="rect">
            <a:avLst/>
          </a:prstGeom>
          <a:solidFill>
            <a:srgbClr val="B7C4A7"/>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2" name="מלבן: פינות מעוגלות 181">
            <a:extLst>
              <a:ext uri="{FF2B5EF4-FFF2-40B4-BE49-F238E27FC236}">
                <a16:creationId xmlns:a16="http://schemas.microsoft.com/office/drawing/2014/main" id="{01A03FAE-583F-6D63-F50B-8FA39FA91BCC}"/>
              </a:ext>
            </a:extLst>
          </p:cNvPr>
          <p:cNvSpPr/>
          <p:nvPr/>
        </p:nvSpPr>
        <p:spPr>
          <a:xfrm>
            <a:off x="1181100" y="33362900"/>
            <a:ext cx="7423679" cy="1544638"/>
          </a:xfrm>
          <a:prstGeom prst="roundRect">
            <a:avLst>
              <a:gd name="adj" fmla="val 5000"/>
            </a:avLst>
          </a:prstGeom>
          <a:solidFill>
            <a:srgbClr val="FFFFFF"/>
          </a:solidFill>
          <a:ln w="12700">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3" name="תיבת טקסט 182">
            <a:extLst>
              <a:ext uri="{FF2B5EF4-FFF2-40B4-BE49-F238E27FC236}">
                <a16:creationId xmlns:a16="http://schemas.microsoft.com/office/drawing/2014/main" id="{7000422F-F813-6EAA-5329-972B27BA4980}"/>
              </a:ext>
            </a:extLst>
          </p:cNvPr>
          <p:cNvSpPr txBox="1"/>
          <p:nvPr/>
        </p:nvSpPr>
        <p:spPr>
          <a:xfrm>
            <a:off x="1384300" y="33515300"/>
            <a:ext cx="7017279" cy="533479"/>
          </a:xfrm>
          <a:prstGeom prst="rect">
            <a:avLst/>
          </a:prstGeom>
          <a:noFill/>
        </p:spPr>
        <p:txBody>
          <a:bodyPr vert="horz" wrap="square" lIns="76200" tIns="50800" rIns="76200" bIns="50800" rtlCol="1">
            <a:spAutoFit/>
          </a:bodyPr>
          <a:lstStyle/>
          <a:p>
            <a:r>
              <a:rPr lang="en-US" sz="2800" b="1" dirty="0">
                <a:solidFill>
                  <a:srgbClr val="557123"/>
                </a:solidFill>
                <a:cs typeface="Times New Roman" panose="02020603050405020304" pitchFamily="18" charset="0"/>
              </a:rPr>
              <a:t>Prediction value</a:t>
            </a:r>
            <a:endParaRPr lang="he-IL" sz="2800" b="1" dirty="0">
              <a:solidFill>
                <a:srgbClr val="557123"/>
              </a:solidFill>
              <a:cs typeface="Times New Roman" panose="02020603050405020304" pitchFamily="18" charset="0"/>
            </a:endParaRPr>
          </a:p>
        </p:txBody>
      </p:sp>
      <p:sp>
        <p:nvSpPr>
          <p:cNvPr id="184" name="תיבת טקסט 183">
            <a:extLst>
              <a:ext uri="{FF2B5EF4-FFF2-40B4-BE49-F238E27FC236}">
                <a16:creationId xmlns:a16="http://schemas.microsoft.com/office/drawing/2014/main" id="{8202181C-AB47-E4B3-FD24-EAD364677FAC}"/>
              </a:ext>
            </a:extLst>
          </p:cNvPr>
          <p:cNvSpPr txBox="1"/>
          <p:nvPr/>
        </p:nvSpPr>
        <p:spPr>
          <a:xfrm>
            <a:off x="1384300" y="33959800"/>
            <a:ext cx="7220479" cy="841256"/>
          </a:xfrm>
          <a:prstGeom prst="rect">
            <a:avLst/>
          </a:prstGeom>
          <a:noFill/>
        </p:spPr>
        <p:txBody>
          <a:bodyPr vert="horz" wrap="square" lIns="76200" tIns="50800" rIns="76200" bIns="50800" rtlCol="1">
            <a:spAutoFit/>
          </a:bodyPr>
          <a:lstStyle/>
          <a:p>
            <a:r>
              <a:rPr lang="en-US" sz="2400" dirty="0">
                <a:solidFill>
                  <a:srgbClr val="40512B"/>
                </a:solidFill>
                <a:ea typeface="Cambria" panose="02040503050406030204" pitchFamily="18" charset="0"/>
                <a:cs typeface="Times New Roman" panose="02020603050405020304" pitchFamily="18" charset="0"/>
              </a:rPr>
              <a:t>Improved over the baselines, showing pH/EC dynamics can be learned from greenhouse and crop data.</a:t>
            </a:r>
            <a:endParaRPr lang="he-IL" sz="2400" dirty="0">
              <a:solidFill>
                <a:srgbClr val="40512B"/>
              </a:solidFill>
              <a:ea typeface="Cambria" panose="02040503050406030204" pitchFamily="18" charset="0"/>
              <a:cs typeface="Times New Roman" panose="02020603050405020304" pitchFamily="18" charset="0"/>
            </a:endParaRPr>
          </a:p>
        </p:txBody>
      </p:sp>
      <p:sp>
        <p:nvSpPr>
          <p:cNvPr id="185" name="מלבן: פינות מעוגלות 184">
            <a:extLst>
              <a:ext uri="{FF2B5EF4-FFF2-40B4-BE49-F238E27FC236}">
                <a16:creationId xmlns:a16="http://schemas.microsoft.com/office/drawing/2014/main" id="{D2712953-BD9C-8A9F-4AFD-3DDE2568C98C}"/>
              </a:ext>
            </a:extLst>
          </p:cNvPr>
          <p:cNvSpPr/>
          <p:nvPr/>
        </p:nvSpPr>
        <p:spPr>
          <a:xfrm>
            <a:off x="8884179" y="33362900"/>
            <a:ext cx="7423680" cy="1544638"/>
          </a:xfrm>
          <a:prstGeom prst="roundRect">
            <a:avLst>
              <a:gd name="adj" fmla="val 5000"/>
            </a:avLst>
          </a:prstGeom>
          <a:solidFill>
            <a:srgbClr val="FFFFFF"/>
          </a:solidFill>
          <a:ln w="12700">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6" name="תיבת טקסט 185">
            <a:extLst>
              <a:ext uri="{FF2B5EF4-FFF2-40B4-BE49-F238E27FC236}">
                <a16:creationId xmlns:a16="http://schemas.microsoft.com/office/drawing/2014/main" id="{88D98828-03D2-CEEA-E05F-D008DB6C853D}"/>
              </a:ext>
            </a:extLst>
          </p:cNvPr>
          <p:cNvSpPr txBox="1"/>
          <p:nvPr/>
        </p:nvSpPr>
        <p:spPr>
          <a:xfrm>
            <a:off x="9087379" y="33515300"/>
            <a:ext cx="7017279" cy="533479"/>
          </a:xfrm>
          <a:prstGeom prst="rect">
            <a:avLst/>
          </a:prstGeom>
          <a:noFill/>
        </p:spPr>
        <p:txBody>
          <a:bodyPr vert="horz" wrap="square" lIns="76200" tIns="50800" rIns="76200" bIns="50800" rtlCol="1">
            <a:spAutoFit/>
          </a:bodyPr>
          <a:lstStyle/>
          <a:p>
            <a:r>
              <a:rPr lang="en-US" sz="2800" b="1" dirty="0">
                <a:solidFill>
                  <a:srgbClr val="557123"/>
                </a:solidFill>
                <a:cs typeface="Times New Roman" panose="02020603050405020304" pitchFamily="18" charset="0"/>
              </a:rPr>
              <a:t>Decision support platform</a:t>
            </a:r>
            <a:endParaRPr lang="he-IL" sz="2800" b="1" dirty="0">
              <a:solidFill>
                <a:srgbClr val="557123"/>
              </a:solidFill>
              <a:cs typeface="Times New Roman" panose="02020603050405020304" pitchFamily="18" charset="0"/>
            </a:endParaRPr>
          </a:p>
        </p:txBody>
      </p:sp>
      <p:sp>
        <p:nvSpPr>
          <p:cNvPr id="187" name="תיבת טקסט 186">
            <a:extLst>
              <a:ext uri="{FF2B5EF4-FFF2-40B4-BE49-F238E27FC236}">
                <a16:creationId xmlns:a16="http://schemas.microsoft.com/office/drawing/2014/main" id="{A14E9F50-EC63-A6EA-B369-E5BF94357457}"/>
              </a:ext>
            </a:extLst>
          </p:cNvPr>
          <p:cNvSpPr txBox="1"/>
          <p:nvPr/>
        </p:nvSpPr>
        <p:spPr>
          <a:xfrm>
            <a:off x="9087379" y="33959800"/>
            <a:ext cx="7228946" cy="841256"/>
          </a:xfrm>
          <a:prstGeom prst="rect">
            <a:avLst/>
          </a:prstGeom>
          <a:noFill/>
        </p:spPr>
        <p:txBody>
          <a:bodyPr vert="horz" wrap="square" lIns="76200" tIns="50800" rIns="76200" bIns="50800" rtlCol="1">
            <a:spAutoFit/>
          </a:bodyPr>
          <a:lstStyle/>
          <a:p>
            <a:r>
              <a:rPr lang="en-US" sz="2400" dirty="0">
                <a:solidFill>
                  <a:srgbClr val="40512B"/>
                </a:solidFill>
                <a:ea typeface="Cambria" panose="02040503050406030204" pitchFamily="18" charset="0"/>
                <a:cs typeface="Times New Roman" panose="02020603050405020304" pitchFamily="18" charset="0"/>
              </a:rPr>
              <a:t>Built a user platform where growers upload data and receive future pH/EC predictions.</a:t>
            </a:r>
            <a:endParaRPr lang="he-IL" sz="2400" dirty="0">
              <a:solidFill>
                <a:srgbClr val="40512B"/>
              </a:solidFill>
              <a:ea typeface="Cambria" panose="02040503050406030204" pitchFamily="18" charset="0"/>
              <a:cs typeface="Times New Roman" panose="02020603050405020304" pitchFamily="18" charset="0"/>
            </a:endParaRPr>
          </a:p>
        </p:txBody>
      </p:sp>
      <p:sp>
        <p:nvSpPr>
          <p:cNvPr id="188" name="מלבן: פינות מעוגלות 187">
            <a:extLst>
              <a:ext uri="{FF2B5EF4-FFF2-40B4-BE49-F238E27FC236}">
                <a16:creationId xmlns:a16="http://schemas.microsoft.com/office/drawing/2014/main" id="{03513389-33A1-AA7D-BC8F-BCA53E457F2F}"/>
              </a:ext>
            </a:extLst>
          </p:cNvPr>
          <p:cNvSpPr/>
          <p:nvPr/>
        </p:nvSpPr>
        <p:spPr>
          <a:xfrm>
            <a:off x="16587259" y="33362900"/>
            <a:ext cx="7423679" cy="1544638"/>
          </a:xfrm>
          <a:prstGeom prst="roundRect">
            <a:avLst>
              <a:gd name="adj" fmla="val 5000"/>
            </a:avLst>
          </a:prstGeom>
          <a:solidFill>
            <a:srgbClr val="FFFFFF"/>
          </a:solidFill>
          <a:ln w="12700">
            <a:solidFill>
              <a:srgbClr val="B7C4A7"/>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89" name="תיבת טקסט 188">
            <a:extLst>
              <a:ext uri="{FF2B5EF4-FFF2-40B4-BE49-F238E27FC236}">
                <a16:creationId xmlns:a16="http://schemas.microsoft.com/office/drawing/2014/main" id="{4C2F6FBB-18AB-775D-3C8E-923A09C8D3E2}"/>
              </a:ext>
            </a:extLst>
          </p:cNvPr>
          <p:cNvSpPr txBox="1"/>
          <p:nvPr/>
        </p:nvSpPr>
        <p:spPr>
          <a:xfrm>
            <a:off x="16790459" y="33515300"/>
            <a:ext cx="7017279" cy="533479"/>
          </a:xfrm>
          <a:prstGeom prst="rect">
            <a:avLst/>
          </a:prstGeom>
          <a:noFill/>
        </p:spPr>
        <p:txBody>
          <a:bodyPr vert="horz" wrap="square" lIns="76200" tIns="50800" rIns="76200" bIns="50800" rtlCol="1">
            <a:spAutoFit/>
          </a:bodyPr>
          <a:lstStyle/>
          <a:p>
            <a:r>
              <a:rPr lang="en-US" sz="2800" b="1" dirty="0">
                <a:solidFill>
                  <a:srgbClr val="557123"/>
                </a:solidFill>
                <a:cs typeface="Times New Roman" panose="02020603050405020304" pitchFamily="18" charset="0"/>
              </a:rPr>
              <a:t>Soft-sensor feasibility</a:t>
            </a:r>
            <a:endParaRPr lang="he-IL" sz="2800" b="1" dirty="0">
              <a:solidFill>
                <a:srgbClr val="557123"/>
              </a:solidFill>
              <a:cs typeface="Times New Roman" panose="02020603050405020304" pitchFamily="18" charset="0"/>
            </a:endParaRPr>
          </a:p>
        </p:txBody>
      </p:sp>
      <p:sp>
        <p:nvSpPr>
          <p:cNvPr id="190" name="תיבת טקסט 189">
            <a:extLst>
              <a:ext uri="{FF2B5EF4-FFF2-40B4-BE49-F238E27FC236}">
                <a16:creationId xmlns:a16="http://schemas.microsoft.com/office/drawing/2014/main" id="{0D9FBAA3-5E8F-0AE6-28AD-E2544F568B4D}"/>
              </a:ext>
            </a:extLst>
          </p:cNvPr>
          <p:cNvSpPr txBox="1"/>
          <p:nvPr/>
        </p:nvSpPr>
        <p:spPr>
          <a:xfrm>
            <a:off x="16790459" y="33959800"/>
            <a:ext cx="7245879" cy="841256"/>
          </a:xfrm>
          <a:prstGeom prst="rect">
            <a:avLst/>
          </a:prstGeom>
          <a:noFill/>
        </p:spPr>
        <p:txBody>
          <a:bodyPr vert="horz" wrap="square" lIns="76200" tIns="50800" rIns="76200" bIns="50800" rtlCol="1">
            <a:spAutoFit/>
          </a:bodyPr>
          <a:lstStyle/>
          <a:p>
            <a:r>
              <a:rPr lang="en-US" sz="2400" dirty="0">
                <a:solidFill>
                  <a:srgbClr val="40512B"/>
                </a:solidFill>
                <a:ea typeface="Cambria" panose="02040503050406030204" pitchFamily="18" charset="0"/>
                <a:cs typeface="Times New Roman" panose="02020603050405020304" pitchFamily="18" charset="0"/>
              </a:rPr>
              <a:t>Sparse samples can still support useful root-zone forecasting when combined with dense greenhouse data.</a:t>
            </a:r>
            <a:endParaRPr lang="he-IL" sz="2400" dirty="0">
              <a:solidFill>
                <a:srgbClr val="40512B"/>
              </a:solidFill>
              <a:ea typeface="Cambria" panose="02040503050406030204" pitchFamily="18" charset="0"/>
              <a:cs typeface="Times New Roman" panose="02020603050405020304" pitchFamily="18" charset="0"/>
            </a:endParaRPr>
          </a:p>
        </p:txBody>
      </p:sp>
      <p:pic>
        <p:nvPicPr>
          <p:cNvPr id="36" name="תמונה 35">
            <a:extLst>
              <a:ext uri="{FF2B5EF4-FFF2-40B4-BE49-F238E27FC236}">
                <a16:creationId xmlns:a16="http://schemas.microsoft.com/office/drawing/2014/main" id="{68414C20-283D-9769-7679-3B0A1DFBFC7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958400" y="11851708"/>
            <a:ext cx="7349459" cy="4213691"/>
          </a:xfrm>
          <a:prstGeom prst="rect">
            <a:avLst/>
          </a:prstGeom>
        </p:spPr>
      </p:pic>
      <p:pic>
        <p:nvPicPr>
          <p:cNvPr id="8" name="תמונה 7">
            <a:extLst>
              <a:ext uri="{FF2B5EF4-FFF2-40B4-BE49-F238E27FC236}">
                <a16:creationId xmlns:a16="http://schemas.microsoft.com/office/drawing/2014/main" id="{83ADC94F-3353-82A5-7646-6B3F11347CA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03300" y="27717429"/>
            <a:ext cx="11491119" cy="3977695"/>
          </a:xfrm>
          <a:prstGeom prst="rect">
            <a:avLst/>
          </a:prstGeom>
        </p:spPr>
      </p:pic>
      <p:pic>
        <p:nvPicPr>
          <p:cNvPr id="43" name="תמונה 42">
            <a:extLst>
              <a:ext uri="{FF2B5EF4-FFF2-40B4-BE49-F238E27FC236}">
                <a16:creationId xmlns:a16="http://schemas.microsoft.com/office/drawing/2014/main" id="{D58A909B-5A32-7B5F-67B4-DF6C9A11EEF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697619" y="27709536"/>
            <a:ext cx="11544068" cy="3996024"/>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411</TotalTime>
  <Words>544</Words>
  <Application>Microsoft Office PowerPoint</Application>
  <PresentationFormat>מותאם אישית</PresentationFormat>
  <Paragraphs>88</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97</cp:revision>
  <dcterms:created xsi:type="dcterms:W3CDTF">2012-02-10T00:10:15Z</dcterms:created>
  <dcterms:modified xsi:type="dcterms:W3CDTF">2026-06-23T12:07:18Z</dcterms:modified>
</cp:coreProperties>
</file>