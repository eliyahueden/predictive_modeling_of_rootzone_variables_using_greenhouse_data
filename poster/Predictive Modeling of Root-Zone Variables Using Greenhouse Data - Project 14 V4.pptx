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 id="2147483653" r:id="rId3"/>
  </p:sldMasterIdLst>
  <p:notesMasterIdLst>
    <p:notesMasterId r:id="rId5"/>
  </p:notesMasterIdLst>
  <p:handoutMasterIdLst>
    <p:handoutMasterId r:id="rId6"/>
  </p:handoutMasterIdLst>
  <p:sldIdLst>
    <p:sldId id="257" r:id="rId4"/>
  </p:sldIdLst>
  <p:sldSz cx="25192038" cy="35999738"/>
  <p:notesSz cx="6858000" cy="9144000"/>
  <p:defaultText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29">
          <p15:clr>
            <a:srgbClr val="A4A3A4"/>
          </p15:clr>
        </p15:guide>
        <p15:guide id="2" orient="horz" pos="315">
          <p15:clr>
            <a:srgbClr val="A4A3A4"/>
          </p15:clr>
        </p15:guide>
        <p15:guide id="3" orient="horz" pos="22047">
          <p15:clr>
            <a:srgbClr val="A4A3A4"/>
          </p15:clr>
        </p15:guide>
        <p15:guide id="4" orient="horz">
          <p15:clr>
            <a:srgbClr val="A4A3A4"/>
          </p15:clr>
        </p15:guide>
        <p15:guide id="5" pos="334">
          <p15:clr>
            <a:srgbClr val="A4A3A4"/>
          </p15:clr>
        </p15:guide>
        <p15:guide id="6" pos="1553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694" autoAdjust="0"/>
  </p:normalViewPr>
  <p:slideViewPr>
    <p:cSldViewPr snapToGrid="0" snapToObjects="1" showGuides="1">
      <p:cViewPr>
        <p:scale>
          <a:sx n="75" d="100"/>
          <a:sy n="75" d="100"/>
        </p:scale>
        <p:origin x="-162" y="-6048"/>
      </p:cViewPr>
      <p:guideLst>
        <p:guide orient="horz" pos="3629"/>
        <p:guide orient="horz" pos="315"/>
        <p:guide orient="horz" pos="22047"/>
        <p:guide orient="horz"/>
        <p:guide pos="334"/>
        <p:guide pos="1553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6/9/2026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1533006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6/9/2026</a:t>
            </a:fld>
            <a:endParaRPr lang="en-US" dirty="0"/>
          </a:p>
        </p:txBody>
      </p:sp>
      <p:sp>
        <p:nvSpPr>
          <p:cNvPr id="4" name="Slide Image Placeholder 3"/>
          <p:cNvSpPr>
            <a:spLocks noGrp="1" noRot="1" noChangeAspect="1"/>
          </p:cNvSpPr>
          <p:nvPr>
            <p:ph type="sldImg" idx="2"/>
          </p:nvPr>
        </p:nvSpPr>
        <p:spPr>
          <a:xfrm>
            <a:off x="2228850" y="685800"/>
            <a:ext cx="24003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675050545"/>
      </p:ext>
    </p:extLst>
  </p:cSld>
  <p:clrMap bg1="lt1" tx1="dk1" bg2="lt2" tx2="dk2" accent1="accent1" accent2="accent2" accent3="accent3" accent4="accent4" accent5="accent5" accent6="accent6" hlink="hlink" folHlink="folHlink"/>
  <p:notesStyle>
    <a:lvl1pPr marL="0" algn="l" defTabSz="3599776" rtl="0" eaLnBrk="1" latinLnBrk="0" hangingPunct="1">
      <a:defRPr sz="4800" kern="1200">
        <a:solidFill>
          <a:schemeClr val="tx1"/>
        </a:solidFill>
        <a:latin typeface="+mn-lt"/>
        <a:ea typeface="+mn-ea"/>
        <a:cs typeface="+mn-cs"/>
      </a:defRPr>
    </a:lvl1pPr>
    <a:lvl2pPr marL="1799889" algn="l" defTabSz="3599776" rtl="0" eaLnBrk="1" latinLnBrk="0" hangingPunct="1">
      <a:defRPr sz="4800" kern="1200">
        <a:solidFill>
          <a:schemeClr val="tx1"/>
        </a:solidFill>
        <a:latin typeface="+mn-lt"/>
        <a:ea typeface="+mn-ea"/>
        <a:cs typeface="+mn-cs"/>
      </a:defRPr>
    </a:lvl2pPr>
    <a:lvl3pPr marL="3599776" algn="l" defTabSz="3599776" rtl="0" eaLnBrk="1" latinLnBrk="0" hangingPunct="1">
      <a:defRPr sz="4800" kern="1200">
        <a:solidFill>
          <a:schemeClr val="tx1"/>
        </a:solidFill>
        <a:latin typeface="+mn-lt"/>
        <a:ea typeface="+mn-ea"/>
        <a:cs typeface="+mn-cs"/>
      </a:defRPr>
    </a:lvl3pPr>
    <a:lvl4pPr marL="5399664" algn="l" defTabSz="3599776" rtl="0" eaLnBrk="1" latinLnBrk="0" hangingPunct="1">
      <a:defRPr sz="4800" kern="1200">
        <a:solidFill>
          <a:schemeClr val="tx1"/>
        </a:solidFill>
        <a:latin typeface="+mn-lt"/>
        <a:ea typeface="+mn-ea"/>
        <a:cs typeface="+mn-cs"/>
      </a:defRPr>
    </a:lvl4pPr>
    <a:lvl5pPr marL="7199552" algn="l" defTabSz="3599776" rtl="0" eaLnBrk="1" latinLnBrk="0" hangingPunct="1">
      <a:defRPr sz="4800" kern="1200">
        <a:solidFill>
          <a:schemeClr val="tx1"/>
        </a:solidFill>
        <a:latin typeface="+mn-lt"/>
        <a:ea typeface="+mn-ea"/>
        <a:cs typeface="+mn-cs"/>
      </a:defRPr>
    </a:lvl5pPr>
    <a:lvl6pPr marL="8999441" algn="l" defTabSz="3599776" rtl="0" eaLnBrk="1" latinLnBrk="0" hangingPunct="1">
      <a:defRPr sz="4800" kern="1200">
        <a:solidFill>
          <a:schemeClr val="tx1"/>
        </a:solidFill>
        <a:latin typeface="+mn-lt"/>
        <a:ea typeface="+mn-ea"/>
        <a:cs typeface="+mn-cs"/>
      </a:defRPr>
    </a:lvl6pPr>
    <a:lvl7pPr marL="10799330" algn="l" defTabSz="3599776" rtl="0" eaLnBrk="1" latinLnBrk="0" hangingPunct="1">
      <a:defRPr sz="4800" kern="1200">
        <a:solidFill>
          <a:schemeClr val="tx1"/>
        </a:solidFill>
        <a:latin typeface="+mn-lt"/>
        <a:ea typeface="+mn-ea"/>
        <a:cs typeface="+mn-cs"/>
      </a:defRPr>
    </a:lvl7pPr>
    <a:lvl8pPr marL="12599217" algn="l" defTabSz="3599776" rtl="0" eaLnBrk="1" latinLnBrk="0" hangingPunct="1">
      <a:defRPr sz="4800" kern="1200">
        <a:solidFill>
          <a:schemeClr val="tx1"/>
        </a:solidFill>
        <a:latin typeface="+mn-lt"/>
        <a:ea typeface="+mn-ea"/>
        <a:cs typeface="+mn-cs"/>
      </a:defRPr>
    </a:lvl8pPr>
    <a:lvl9pPr marL="14399106" algn="l" defTabSz="3599776" rtl="0" eaLnBrk="1" latinLnBrk="0" hangingPunct="1">
      <a:defRPr sz="4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425827"/>
            <a:ext cx="1189834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29393" y="5804361"/>
            <a:ext cx="1188894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29391" y="15588601"/>
            <a:ext cx="11891854"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2725245" y="5804361"/>
            <a:ext cx="118887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2725245" y="6425827"/>
            <a:ext cx="118887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2725245" y="15607589"/>
            <a:ext cx="1188552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2725245" y="16274772"/>
            <a:ext cx="1189008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2725245" y="28083131"/>
            <a:ext cx="1187957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2725245" y="28767135"/>
            <a:ext cx="1188552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18974" y="16257349"/>
            <a:ext cx="11899368"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9"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0" name="Text Placeholder 76"/>
          <p:cNvSpPr>
            <a:spLocks noGrp="1"/>
          </p:cNvSpPr>
          <p:nvPr>
            <p:ph type="body" sz="quarter" idx="153"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Quick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425827"/>
            <a:ext cx="1189834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29393" y="5804361"/>
            <a:ext cx="1188894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29391" y="15588601"/>
            <a:ext cx="11891854"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2725245" y="5804361"/>
            <a:ext cx="118887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2725245" y="6425827"/>
            <a:ext cx="118887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2725245" y="15607589"/>
            <a:ext cx="1188552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2725245" y="16274772"/>
            <a:ext cx="1189008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2725245" y="28083131"/>
            <a:ext cx="1187957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2725245" y="28767135"/>
            <a:ext cx="1188552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18974" y="16257349"/>
            <a:ext cx="11899368"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9"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0" name="Text Placeholder 76"/>
          <p:cNvSpPr>
            <a:spLocks noGrp="1"/>
          </p:cNvSpPr>
          <p:nvPr>
            <p:ph type="body" sz="quarter" idx="153"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1270626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508586"/>
            <a:ext cx="5772264"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529393" y="5758641"/>
            <a:ext cx="5767709" cy="659288"/>
          </a:xfrm>
          <a:prstGeom prst="rect">
            <a:avLst/>
          </a:prstGeom>
          <a:noFill/>
        </p:spPr>
        <p:txBody>
          <a:bodyPr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INTRODUCTION</a:t>
            </a:r>
          </a:p>
        </p:txBody>
      </p:sp>
      <p:sp>
        <p:nvSpPr>
          <p:cNvPr id="19" name="Text Placeholder 3"/>
          <p:cNvSpPr>
            <a:spLocks noGrp="1"/>
          </p:cNvSpPr>
          <p:nvPr>
            <p:ph type="body" sz="quarter" idx="19" hasCustomPrompt="1"/>
          </p:nvPr>
        </p:nvSpPr>
        <p:spPr>
          <a:xfrm>
            <a:off x="518060" y="16174952"/>
            <a:ext cx="577317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529391" y="15542881"/>
            <a:ext cx="576861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6650633" y="6508586"/>
            <a:ext cx="11892594"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6650633" y="5758641"/>
            <a:ext cx="118925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6650633" y="23714639"/>
            <a:ext cx="118925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6650633" y="23047456"/>
            <a:ext cx="118925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18892159" y="5758641"/>
            <a:ext cx="5766642"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18892159" y="6508586"/>
            <a:ext cx="5766642"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18892159" y="15608744"/>
            <a:ext cx="5766642"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18913086" y="16275927"/>
            <a:ext cx="572478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18892159" y="28580547"/>
            <a:ext cx="5766642" cy="659288"/>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CONTACT</a:t>
            </a:r>
          </a:p>
        </p:txBody>
      </p:sp>
      <p:sp>
        <p:nvSpPr>
          <p:cNvPr id="30" name="Text Placeholder 3"/>
          <p:cNvSpPr>
            <a:spLocks noGrp="1"/>
          </p:cNvSpPr>
          <p:nvPr>
            <p:ph type="body" sz="quarter" idx="30" hasCustomPrompt="1"/>
          </p:nvPr>
        </p:nvSpPr>
        <p:spPr>
          <a:xfrm>
            <a:off x="18890715" y="29330961"/>
            <a:ext cx="576953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84"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85"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6" name="Text Placeholder 76"/>
          <p:cNvSpPr>
            <a:spLocks noGrp="1"/>
          </p:cNvSpPr>
          <p:nvPr>
            <p:ph type="body" sz="quarter" idx="178"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
        <p:nvSpPr>
          <p:cNvPr id="31" name="TextBox 30"/>
          <p:cNvSpPr txBox="1"/>
          <p:nvPr userDrawn="1"/>
        </p:nvSpPr>
        <p:spPr>
          <a:xfrm>
            <a:off x="8186057" y="10798629"/>
            <a:ext cx="6357257" cy="461665"/>
          </a:xfrm>
          <a:prstGeom prst="rect">
            <a:avLst/>
          </a:prstGeom>
          <a:noFill/>
        </p:spPr>
        <p:txBody>
          <a:bodyPr wrap="square" rtlCol="0" anchor="t" anchorCtr="0">
            <a:spAutoFit/>
          </a:bodyPr>
          <a:lstStyle/>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6CA1A99B-ADFE-0946-BD42-BD5A646350D9}"/>
              </a:ext>
            </a:extLst>
          </p:cNvPr>
          <p:cNvGraphicFramePr>
            <a:graphicFrameLocks noGrp="1"/>
          </p:cNvGraphicFramePr>
          <p:nvPr userDrawn="1">
            <p:extLst>
              <p:ext uri="{D42A27DB-BD31-4B8C-83A1-F6EECF244321}">
                <p14:modId xmlns:p14="http://schemas.microsoft.com/office/powerpoint/2010/main" val="4020684293"/>
              </p:ext>
            </p:extLst>
          </p:nvPr>
        </p:nvGraphicFramePr>
        <p:xfrm>
          <a:off x="-10750964" y="37356"/>
          <a:ext cx="10290587" cy="35976294"/>
        </p:xfrm>
        <a:graphic>
          <a:graphicData uri="http://schemas.openxmlformats.org/drawingml/2006/table">
            <a:tbl>
              <a:tblPr firstRow="1" bandRow="1">
                <a:tableStyleId>{5C22544A-7EE6-4342-B048-85BDC9FD1C3A}</a:tableStyleId>
              </a:tblPr>
              <a:tblGrid>
                <a:gridCol w="4412520">
                  <a:extLst>
                    <a:ext uri="{9D8B030D-6E8A-4147-A177-3AD203B41FA5}">
                      <a16:colId xmlns:a16="http://schemas.microsoft.com/office/drawing/2014/main" val="20000"/>
                    </a:ext>
                  </a:extLst>
                </a:gridCol>
                <a:gridCol w="5878067">
                  <a:extLst>
                    <a:ext uri="{9D8B030D-6E8A-4147-A177-3AD203B41FA5}">
                      <a16:colId xmlns:a16="http://schemas.microsoft.com/office/drawing/2014/main" val="20001"/>
                    </a:ext>
                  </a:extLst>
                </a:gridCol>
              </a:tblGrid>
              <a:tr h="1392775">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81487">
                <a:tc gridSpan="2">
                  <a:txBody>
                    <a:bodyPr/>
                    <a:lstStyle/>
                    <a:p>
                      <a:pPr defTabSz="3765639"/>
                      <a:r>
                        <a:rPr lang="en-US" sz="2400" i="0" dirty="0">
                          <a:solidFill>
                            <a:srgbClr val="D9D9D9"/>
                          </a:solidFill>
                          <a:latin typeface="Arial"/>
                          <a:cs typeface="Arial"/>
                        </a:rPr>
                        <a:t>This PowerPoint template produces a </a:t>
                      </a:r>
                      <a:r>
                        <a:rPr lang="en-US" sz="2400" b="1" i="0" dirty="0">
                          <a:solidFill>
                            <a:srgbClr val="FFC000"/>
                          </a:solidFill>
                          <a:latin typeface="Arial"/>
                          <a:cs typeface="Arial"/>
                        </a:rPr>
                        <a:t>70x100cm</a:t>
                      </a:r>
                      <a:r>
                        <a:rPr lang="en-US" sz="2400" i="0" dirty="0">
                          <a:solidFill>
                            <a:srgbClr val="FFC000"/>
                          </a:solidFill>
                          <a:latin typeface="Arial"/>
                          <a:cs typeface="Arial"/>
                        </a:rPr>
                        <a:t> </a:t>
                      </a:r>
                      <a:r>
                        <a:rPr lang="en-US" sz="2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the  </a:t>
                      </a:r>
                      <a:r>
                        <a:rPr lang="en-US" sz="2400" i="0" dirty="0">
                          <a:solidFill>
                            <a:srgbClr val="FFC000"/>
                          </a:solidFill>
                          <a:latin typeface="Arial"/>
                          <a:cs typeface="Arial"/>
                        </a:rPr>
                        <a:t>HELP DESK</a:t>
                      </a:r>
                      <a:r>
                        <a:rPr lang="en-US" sz="2400" i="0" baseline="0" dirty="0">
                          <a:solidFill>
                            <a:srgbClr val="D9D9D9"/>
                          </a:solidFill>
                          <a:latin typeface="Arial"/>
                          <a:cs typeface="Arial"/>
                        </a:rPr>
                        <a:t> </a:t>
                      </a:r>
                      <a:r>
                        <a:rPr lang="en-US" sz="2400" i="0" dirty="0">
                          <a:solidFill>
                            <a:srgbClr val="D9D9D9"/>
                          </a:solidFill>
                          <a:latin typeface="Arial"/>
                          <a:cs typeface="Arial"/>
                        </a:rPr>
                        <a:t>tab.</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To print your poster using our same-day professional printing service,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a:t>
                      </a:r>
                      <a:r>
                        <a:rPr lang="en-US" sz="2400" i="0" dirty="0">
                          <a:solidFill>
                            <a:srgbClr val="FFC000"/>
                          </a:solidFill>
                          <a:latin typeface="Arial"/>
                          <a:cs typeface="Arial"/>
                        </a:rPr>
                        <a:t>Order your poster</a:t>
                      </a:r>
                      <a:r>
                        <a:rPr lang="en-US" sz="2400" i="0" dirty="0">
                          <a:solidFill>
                            <a:srgbClr val="D9D9D9"/>
                          </a:solidFill>
                          <a:latin typeface="Arial"/>
                          <a:cs typeface="Arial"/>
                        </a:rPr>
                        <a:t>".</a:t>
                      </a:r>
                      <a:endParaRPr lang="en-US" sz="24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5106834">
                <a:tc>
                  <a:txBody>
                    <a:bodyPr/>
                    <a:lstStyle/>
                    <a:p>
                      <a:pPr algn="ctr"/>
                      <a:endParaRPr lang="en-US" sz="2400" dirty="0">
                        <a:solidFill>
                          <a:srgbClr val="1F3A4E"/>
                        </a:solidFill>
                      </a:endParaRPr>
                    </a:p>
                    <a:p>
                      <a:pPr algn="ctr"/>
                      <a:endParaRPr lang="en-US" sz="2400" dirty="0">
                        <a:solidFill>
                          <a:srgbClr val="1F3A4E"/>
                        </a:solidFill>
                      </a:endParaRPr>
                    </a:p>
                    <a:p>
                      <a:pPr algn="ctr"/>
                      <a:r>
                        <a:rPr lang="en-US" sz="2400" dirty="0">
                          <a:solidFill>
                            <a:schemeClr val="bg1"/>
                          </a:solidFill>
                          <a:latin typeface="Arial" panose="020B0604020202020204" pitchFamily="34" charset="0"/>
                          <a:cs typeface="Arial" panose="020B0604020202020204" pitchFamily="34" charset="0"/>
                        </a:rPr>
                        <a:t>This is a template for a </a:t>
                      </a:r>
                    </a:p>
                    <a:p>
                      <a:pPr algn="ctr"/>
                      <a:r>
                        <a:rPr lang="en-US" sz="2400" dirty="0">
                          <a:solidFill>
                            <a:schemeClr val="bg1"/>
                          </a:solidFill>
                          <a:latin typeface="Arial" panose="020B0604020202020204" pitchFamily="34" charset="0"/>
                          <a:cs typeface="Arial" panose="020B0604020202020204" pitchFamily="34" charset="0"/>
                        </a:rPr>
                        <a:t>presentation poster</a:t>
                      </a:r>
                      <a:br>
                        <a:rPr lang="en-US" sz="2400" dirty="0">
                          <a:solidFill>
                            <a:schemeClr val="bg1"/>
                          </a:solidFill>
                          <a:latin typeface="Arial" panose="020B0604020202020204" pitchFamily="34" charset="0"/>
                          <a:cs typeface="Arial" panose="020B0604020202020204" pitchFamily="34" charset="0"/>
                        </a:rPr>
                      </a:br>
                      <a:r>
                        <a:rPr lang="en-US" sz="4000" b="1" dirty="0">
                          <a:solidFill>
                            <a:srgbClr val="FFC000"/>
                          </a:solidFill>
                          <a:latin typeface="Arial" panose="020B0604020202020204" pitchFamily="34" charset="0"/>
                          <a:cs typeface="Arial" panose="020B0604020202020204" pitchFamily="34" charset="0"/>
                        </a:rPr>
                        <a:t>70x100cm</a:t>
                      </a:r>
                      <a:br>
                        <a:rPr lang="en-US" sz="2400" dirty="0">
                          <a:solidFill>
                            <a:schemeClr val="bg1"/>
                          </a:solidFill>
                          <a:latin typeface="Arial" panose="020B0604020202020204" pitchFamily="34" charset="0"/>
                          <a:cs typeface="Arial" panose="020B0604020202020204" pitchFamily="34" charset="0"/>
                        </a:rPr>
                      </a:br>
                      <a:endParaRPr lang="en-US" sz="24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Important:</a:t>
                      </a:r>
                      <a:br>
                        <a:rPr lang="en-US" sz="2800" b="1" baseline="0" dirty="0">
                          <a:solidFill>
                            <a:srgbClr val="FFC000"/>
                          </a:solidFill>
                          <a:latin typeface="Arial" panose="020B0604020202020204" pitchFamily="34" charset="0"/>
                          <a:cs typeface="Arial" panose="020B0604020202020204" pitchFamily="34" charset="0"/>
                        </a:rPr>
                      </a:br>
                      <a:r>
                        <a:rPr lang="en-US" sz="2800" b="1" baseline="0" dirty="0">
                          <a:solidFill>
                            <a:srgbClr val="FFC000"/>
                          </a:solidFill>
                          <a:latin typeface="Arial" panose="020B0604020202020204" pitchFamily="34" charset="0"/>
                          <a:cs typeface="Arial" panose="020B0604020202020204" pitchFamily="34" charset="0"/>
                        </a:rPr>
                        <a:t>Check the template size</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100x143 cm</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27.5x39.37 inches </a:t>
                      </a:r>
                    </a:p>
                  </a:txBody>
                  <a:tcPr marL="182880" marT="137160">
                    <a:solidFill>
                      <a:srgbClr val="010101"/>
                    </a:solidFill>
                  </a:tcPr>
                </a:tc>
                <a:extLst>
                  <a:ext uri="{0D108BD9-81ED-4DB2-BD59-A6C34878D82A}">
                    <a16:rowId xmlns:a16="http://schemas.microsoft.com/office/drawing/2014/main" val="10008"/>
                  </a:ext>
                </a:extLst>
              </a:tr>
              <a:tr h="5003666">
                <a:tc>
                  <a:txBody>
                    <a:bodyPr/>
                    <a:lstStyle/>
                    <a:p>
                      <a:endParaRPr lang="en-US" sz="2400" dirty="0">
                        <a:solidFill>
                          <a:srgbClr val="1F3A4E"/>
                        </a:solidFill>
                      </a:endParaRPr>
                    </a:p>
                  </a:txBody>
                  <a:tcPr>
                    <a:blipFill rotWithShape="1">
                      <a:blip r:embed="rId3"/>
                      <a:stretch>
                        <a:fillRect/>
                      </a:stretch>
                    </a:blipFill>
                  </a:tcPr>
                </a:tc>
                <a:tc>
                  <a:txBody>
                    <a:bodyPr/>
                    <a:lstStyle/>
                    <a:p>
                      <a:pPr algn="l"/>
                      <a:r>
                        <a:rPr lang="en-US" sz="2800" b="1" baseline="0" dirty="0">
                          <a:solidFill>
                            <a:srgbClr val="FFC000"/>
                          </a:solidFill>
                          <a:latin typeface="Arial" panose="020B0604020202020204" pitchFamily="34" charset="0"/>
                          <a:cs typeface="Arial" panose="020B0604020202020204" pitchFamily="34" charset="0"/>
                        </a:rPr>
                        <a:t>How to </a:t>
                      </a:r>
                      <a:r>
                        <a:rPr lang="en-US" sz="4400" b="1" baseline="0" dirty="0">
                          <a:solidFill>
                            <a:srgbClr val="FFC000"/>
                          </a:solidFill>
                          <a:latin typeface="Arial" panose="020B0604020202020204" pitchFamily="34" charset="0"/>
                          <a:cs typeface="Arial" panose="020B0604020202020204" pitchFamily="34" charset="0"/>
                        </a:rPr>
                        <a:t>Zoom in </a:t>
                      </a:r>
                      <a:r>
                        <a:rPr lang="en-US" sz="2800" b="1" baseline="0" dirty="0">
                          <a:solidFill>
                            <a:srgbClr val="FFC000"/>
                          </a:solidFill>
                          <a:latin typeface="Arial" panose="020B0604020202020204" pitchFamily="34" charset="0"/>
                          <a:cs typeface="Arial" panose="020B0604020202020204" pitchFamily="34" charset="0"/>
                        </a:rPr>
                        <a:t>and </a:t>
                      </a:r>
                      <a:r>
                        <a:rPr lang="en-US" sz="2000" b="1" baseline="0" dirty="0">
                          <a:solidFill>
                            <a:srgbClr val="FFC000"/>
                          </a:solidFill>
                          <a:latin typeface="Arial" panose="020B0604020202020204" pitchFamily="34" charset="0"/>
                          <a:cs typeface="Arial" panose="020B0604020202020204" pitchFamily="34" charset="0"/>
                        </a:rPr>
                        <a:t>out</a:t>
                      </a:r>
                      <a:endParaRPr lang="en-US" sz="2800" b="1" baseline="0" dirty="0">
                        <a:solidFill>
                          <a:srgbClr val="FFC000"/>
                        </a:solidFill>
                        <a:latin typeface="Arial" panose="020B0604020202020204" pitchFamily="34" charset="0"/>
                        <a:cs typeface="Arial" panose="020B0604020202020204" pitchFamily="34" charset="0"/>
                      </a:endParaRPr>
                    </a:p>
                    <a:p>
                      <a:pPr algn="l"/>
                      <a:r>
                        <a:rPr lang="en-US" sz="2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 </a:t>
                      </a:r>
                      <a:r>
                        <a:rPr lang="en-US" sz="2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 </a:t>
                      </a:r>
                      <a:r>
                        <a:rPr lang="en-US" sz="2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237287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Ruler and Guides</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4694162">
                <a:tc>
                  <a:txBody>
                    <a:bodyPr/>
                    <a:lstStyle/>
                    <a:p>
                      <a:endParaRPr lang="en-US" sz="2400" dirty="0">
                        <a:solidFill>
                          <a:srgbClr val="1F3A4E"/>
                        </a:solidFill>
                      </a:endParaRPr>
                    </a:p>
                  </a:txBody>
                  <a:tcPr>
                    <a:blipFill rotWithShape="1">
                      <a:blip r:embed="rId4"/>
                      <a:stretch>
                        <a:fillRect/>
                      </a:stretch>
                    </a:blipFill>
                  </a:tcPr>
                </a:tc>
                <a:tc>
                  <a:txBody>
                    <a:bodyPr/>
                    <a:lstStyle/>
                    <a:p>
                      <a:pPr marL="0" lvl="1" indent="0" algn="l" defTabSz="114300"/>
                      <a:r>
                        <a:rPr lang="en-US" sz="2800" b="1" baseline="0" dirty="0">
                          <a:solidFill>
                            <a:srgbClr val="FFC000"/>
                          </a:solidFill>
                          <a:latin typeface="Arial" panose="020B0604020202020204" pitchFamily="34" charset="0"/>
                          <a:cs typeface="Arial" panose="020B0604020202020204" pitchFamily="34" charset="0"/>
                        </a:rPr>
                        <a:t>Headers and text containers</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817230">
                <a:tc gridSpan="2">
                  <a:txBody>
                    <a:bodyPr/>
                    <a:lstStyle/>
                    <a:p>
                      <a:r>
                        <a:rPr lang="en-US" sz="2800" b="1" dirty="0">
                          <a:solidFill>
                            <a:srgbClr val="FFC000"/>
                          </a:solidFill>
                          <a:latin typeface="Arial" panose="020B0604020202020204" pitchFamily="34" charset="0"/>
                          <a:cs typeface="Arial" panose="020B0604020202020204" pitchFamily="34" charset="0"/>
                        </a:rPr>
                        <a:t>Adding content to the poster</a:t>
                      </a:r>
                    </a:p>
                    <a:p>
                      <a:r>
                        <a:rPr lang="en-US" sz="2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52762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23088">
                <a:tc gridSpan="2">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6669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0898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9" name="Group 8">
            <a:extLst>
              <a:ext uri="{FF2B5EF4-FFF2-40B4-BE49-F238E27FC236}">
                <a16:creationId xmlns:a16="http://schemas.microsoft.com/office/drawing/2014/main" id="{08DEEC71-333C-EB4F-94EA-63CA80BD11AC}"/>
              </a:ext>
            </a:extLst>
          </p:cNvPr>
          <p:cNvGrpSpPr/>
          <p:nvPr userDrawn="1"/>
        </p:nvGrpSpPr>
        <p:grpSpPr>
          <a:xfrm>
            <a:off x="0" y="0"/>
            <a:ext cx="25192038" cy="36013650"/>
            <a:chOff x="-282256" y="-251209"/>
            <a:chExt cx="25648282" cy="36391624"/>
          </a:xfrm>
        </p:grpSpPr>
        <p:sp>
          <p:nvSpPr>
            <p:cNvPr id="10" name="Freeform 9">
              <a:extLst>
                <a:ext uri="{FF2B5EF4-FFF2-40B4-BE49-F238E27FC236}">
                  <a16:creationId xmlns:a16="http://schemas.microsoft.com/office/drawing/2014/main" id="{DACE849D-9518-E947-B822-CB297FE580F1}"/>
                </a:ext>
              </a:extLst>
            </p:cNvPr>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82ACFDD4-76B9-7B48-B709-EADB21739772}"/>
                </a:ext>
              </a:extLst>
            </p:cNvPr>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DFE4A334-6B3E-114C-A46F-86084BCD00CB}"/>
                </a:ext>
              </a:extLst>
            </p:cNvPr>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4" name="Table 13">
            <a:extLst>
              <a:ext uri="{FF2B5EF4-FFF2-40B4-BE49-F238E27FC236}">
                <a16:creationId xmlns:a16="http://schemas.microsoft.com/office/drawing/2014/main" id="{1505E797-B9BB-BF41-8A6D-FBBD7110479D}"/>
              </a:ext>
            </a:extLst>
          </p:cNvPr>
          <p:cNvGraphicFramePr>
            <a:graphicFrameLocks noGrp="1"/>
          </p:cNvGraphicFramePr>
          <p:nvPr userDrawn="1">
            <p:extLst>
              <p:ext uri="{D42A27DB-BD31-4B8C-83A1-F6EECF244321}">
                <p14:modId xmlns:p14="http://schemas.microsoft.com/office/powerpoint/2010/main" val="1760322990"/>
              </p:ext>
            </p:extLst>
          </p:nvPr>
        </p:nvGraphicFramePr>
        <p:xfrm>
          <a:off x="25652414" y="37356"/>
          <a:ext cx="10290587" cy="35957775"/>
        </p:xfrm>
        <a:graphic>
          <a:graphicData uri="http://schemas.openxmlformats.org/drawingml/2006/table">
            <a:tbl>
              <a:tblPr firstRow="1" bandRow="1">
                <a:tableStyleId>{5C22544A-7EE6-4342-B048-85BDC9FD1C3A}</a:tableStyleId>
              </a:tblPr>
              <a:tblGrid>
                <a:gridCol w="4899938">
                  <a:extLst>
                    <a:ext uri="{9D8B030D-6E8A-4147-A177-3AD203B41FA5}">
                      <a16:colId xmlns:a16="http://schemas.microsoft.com/office/drawing/2014/main" val="20000"/>
                    </a:ext>
                  </a:extLst>
                </a:gridCol>
                <a:gridCol w="351173">
                  <a:extLst>
                    <a:ext uri="{9D8B030D-6E8A-4147-A177-3AD203B41FA5}">
                      <a16:colId xmlns:a16="http://schemas.microsoft.com/office/drawing/2014/main" val="764104496"/>
                    </a:ext>
                  </a:extLst>
                </a:gridCol>
                <a:gridCol w="5039476">
                  <a:extLst>
                    <a:ext uri="{9D8B030D-6E8A-4147-A177-3AD203B41FA5}">
                      <a16:colId xmlns:a16="http://schemas.microsoft.com/office/drawing/2014/main" val="4164475170"/>
                    </a:ext>
                  </a:extLst>
                </a:gridCol>
              </a:tblGrid>
              <a:tr h="1768730">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906470">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33058">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5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2023905">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656707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5578616">
                <a:tc>
                  <a:txBody>
                    <a:bodyPr/>
                    <a:lstStyle/>
                    <a:p>
                      <a:pPr rtl="0"/>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pPr rtl="0"/>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24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640111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262579">
                <a:tc gridSpan="3">
                  <a:txBody>
                    <a:bodyPr/>
                    <a:lstStyle/>
                    <a:p>
                      <a:endParaRPr lang="en-US" sz="24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716228">
                <a:tc gridSpan="2">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38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F5351D2-4B9C-6B4B-AC02-8BA80ECA0317}"/>
              </a:ext>
            </a:extLst>
          </p:cNvPr>
          <p:cNvGrpSpPr/>
          <p:nvPr userDrawn="1"/>
        </p:nvGrpSpPr>
        <p:grpSpPr>
          <a:xfrm>
            <a:off x="-282256" y="-251209"/>
            <a:ext cx="25648282" cy="36391624"/>
            <a:chOff x="-282256" y="-251209"/>
            <a:chExt cx="25648282" cy="36391624"/>
          </a:xfrm>
        </p:grpSpPr>
        <p:sp>
          <p:nvSpPr>
            <p:cNvPr id="40" name="Freeform 39"/>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41"/>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27783235"/>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BE4C25E8-A394-434E-8360-04CD8A1473B8}"/>
              </a:ext>
            </a:extLst>
          </p:cNvPr>
          <p:cNvGraphicFramePr>
            <a:graphicFrameLocks noGrp="1"/>
          </p:cNvGraphicFramePr>
          <p:nvPr userDrawn="1">
            <p:extLst>
              <p:ext uri="{D42A27DB-BD31-4B8C-83A1-F6EECF244321}">
                <p14:modId xmlns:p14="http://schemas.microsoft.com/office/powerpoint/2010/main" val="4020684293"/>
              </p:ext>
            </p:extLst>
          </p:nvPr>
        </p:nvGraphicFramePr>
        <p:xfrm>
          <a:off x="-10750964" y="37356"/>
          <a:ext cx="10290587" cy="35976294"/>
        </p:xfrm>
        <a:graphic>
          <a:graphicData uri="http://schemas.openxmlformats.org/drawingml/2006/table">
            <a:tbl>
              <a:tblPr firstRow="1" bandRow="1">
                <a:tableStyleId>{5C22544A-7EE6-4342-B048-85BDC9FD1C3A}</a:tableStyleId>
              </a:tblPr>
              <a:tblGrid>
                <a:gridCol w="4412520">
                  <a:extLst>
                    <a:ext uri="{9D8B030D-6E8A-4147-A177-3AD203B41FA5}">
                      <a16:colId xmlns:a16="http://schemas.microsoft.com/office/drawing/2014/main" val="20000"/>
                    </a:ext>
                  </a:extLst>
                </a:gridCol>
                <a:gridCol w="5878067">
                  <a:extLst>
                    <a:ext uri="{9D8B030D-6E8A-4147-A177-3AD203B41FA5}">
                      <a16:colId xmlns:a16="http://schemas.microsoft.com/office/drawing/2014/main" val="20001"/>
                    </a:ext>
                  </a:extLst>
                </a:gridCol>
              </a:tblGrid>
              <a:tr h="1392775">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81487">
                <a:tc gridSpan="2">
                  <a:txBody>
                    <a:bodyPr/>
                    <a:lstStyle/>
                    <a:p>
                      <a:pPr defTabSz="3765639"/>
                      <a:r>
                        <a:rPr lang="en-US" sz="2400" i="0" dirty="0">
                          <a:solidFill>
                            <a:srgbClr val="D9D9D9"/>
                          </a:solidFill>
                          <a:latin typeface="Arial"/>
                          <a:cs typeface="Arial"/>
                        </a:rPr>
                        <a:t>This PowerPoint template produces a </a:t>
                      </a:r>
                      <a:r>
                        <a:rPr lang="en-US" sz="2400" b="1" i="0" dirty="0">
                          <a:solidFill>
                            <a:srgbClr val="FFC000"/>
                          </a:solidFill>
                          <a:latin typeface="Arial"/>
                          <a:cs typeface="Arial"/>
                        </a:rPr>
                        <a:t>70x100cm</a:t>
                      </a:r>
                      <a:r>
                        <a:rPr lang="en-US" sz="2400" i="0" dirty="0">
                          <a:solidFill>
                            <a:srgbClr val="FFC000"/>
                          </a:solidFill>
                          <a:latin typeface="Arial"/>
                          <a:cs typeface="Arial"/>
                        </a:rPr>
                        <a:t> </a:t>
                      </a:r>
                      <a:r>
                        <a:rPr lang="en-US" sz="2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the  </a:t>
                      </a:r>
                      <a:r>
                        <a:rPr lang="en-US" sz="2400" i="0" dirty="0">
                          <a:solidFill>
                            <a:srgbClr val="FFC000"/>
                          </a:solidFill>
                          <a:latin typeface="Arial"/>
                          <a:cs typeface="Arial"/>
                        </a:rPr>
                        <a:t>HELP DESK</a:t>
                      </a:r>
                      <a:r>
                        <a:rPr lang="en-US" sz="2400" i="0" baseline="0" dirty="0">
                          <a:solidFill>
                            <a:srgbClr val="D9D9D9"/>
                          </a:solidFill>
                          <a:latin typeface="Arial"/>
                          <a:cs typeface="Arial"/>
                        </a:rPr>
                        <a:t> </a:t>
                      </a:r>
                      <a:r>
                        <a:rPr lang="en-US" sz="2400" i="0" dirty="0">
                          <a:solidFill>
                            <a:srgbClr val="D9D9D9"/>
                          </a:solidFill>
                          <a:latin typeface="Arial"/>
                          <a:cs typeface="Arial"/>
                        </a:rPr>
                        <a:t>tab.</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To print your poster using our same-day professional printing service,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a:t>
                      </a:r>
                      <a:r>
                        <a:rPr lang="en-US" sz="2400" i="0" dirty="0">
                          <a:solidFill>
                            <a:srgbClr val="FFC000"/>
                          </a:solidFill>
                          <a:latin typeface="Arial"/>
                          <a:cs typeface="Arial"/>
                        </a:rPr>
                        <a:t>Order your poster</a:t>
                      </a:r>
                      <a:r>
                        <a:rPr lang="en-US" sz="2400" i="0" dirty="0">
                          <a:solidFill>
                            <a:srgbClr val="D9D9D9"/>
                          </a:solidFill>
                          <a:latin typeface="Arial"/>
                          <a:cs typeface="Arial"/>
                        </a:rPr>
                        <a:t>".</a:t>
                      </a:r>
                      <a:endParaRPr lang="en-US" sz="24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5106834">
                <a:tc>
                  <a:txBody>
                    <a:bodyPr/>
                    <a:lstStyle/>
                    <a:p>
                      <a:pPr algn="ctr"/>
                      <a:endParaRPr lang="en-US" sz="2400" dirty="0">
                        <a:solidFill>
                          <a:srgbClr val="1F3A4E"/>
                        </a:solidFill>
                      </a:endParaRPr>
                    </a:p>
                    <a:p>
                      <a:pPr algn="ctr"/>
                      <a:endParaRPr lang="en-US" sz="2400" dirty="0">
                        <a:solidFill>
                          <a:srgbClr val="1F3A4E"/>
                        </a:solidFill>
                      </a:endParaRPr>
                    </a:p>
                    <a:p>
                      <a:pPr algn="ctr"/>
                      <a:r>
                        <a:rPr lang="en-US" sz="2400" dirty="0">
                          <a:solidFill>
                            <a:schemeClr val="bg1"/>
                          </a:solidFill>
                          <a:latin typeface="Arial" panose="020B0604020202020204" pitchFamily="34" charset="0"/>
                          <a:cs typeface="Arial" panose="020B0604020202020204" pitchFamily="34" charset="0"/>
                        </a:rPr>
                        <a:t>This is a template for a </a:t>
                      </a:r>
                    </a:p>
                    <a:p>
                      <a:pPr algn="ctr"/>
                      <a:r>
                        <a:rPr lang="en-US" sz="2400" dirty="0">
                          <a:solidFill>
                            <a:schemeClr val="bg1"/>
                          </a:solidFill>
                          <a:latin typeface="Arial" panose="020B0604020202020204" pitchFamily="34" charset="0"/>
                          <a:cs typeface="Arial" panose="020B0604020202020204" pitchFamily="34" charset="0"/>
                        </a:rPr>
                        <a:t>presentation poster</a:t>
                      </a:r>
                      <a:br>
                        <a:rPr lang="en-US" sz="2400" dirty="0">
                          <a:solidFill>
                            <a:schemeClr val="bg1"/>
                          </a:solidFill>
                          <a:latin typeface="Arial" panose="020B0604020202020204" pitchFamily="34" charset="0"/>
                          <a:cs typeface="Arial" panose="020B0604020202020204" pitchFamily="34" charset="0"/>
                        </a:rPr>
                      </a:br>
                      <a:r>
                        <a:rPr lang="en-US" sz="4000" b="1" dirty="0">
                          <a:solidFill>
                            <a:srgbClr val="FFC000"/>
                          </a:solidFill>
                          <a:latin typeface="Arial" panose="020B0604020202020204" pitchFamily="34" charset="0"/>
                          <a:cs typeface="Arial" panose="020B0604020202020204" pitchFamily="34" charset="0"/>
                        </a:rPr>
                        <a:t>70x100cm</a:t>
                      </a:r>
                      <a:br>
                        <a:rPr lang="en-US" sz="2400" dirty="0">
                          <a:solidFill>
                            <a:schemeClr val="bg1"/>
                          </a:solidFill>
                          <a:latin typeface="Arial" panose="020B0604020202020204" pitchFamily="34" charset="0"/>
                          <a:cs typeface="Arial" panose="020B0604020202020204" pitchFamily="34" charset="0"/>
                        </a:rPr>
                      </a:br>
                      <a:endParaRPr lang="en-US" sz="24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Important:</a:t>
                      </a:r>
                      <a:br>
                        <a:rPr lang="en-US" sz="2800" b="1" baseline="0" dirty="0">
                          <a:solidFill>
                            <a:srgbClr val="FFC000"/>
                          </a:solidFill>
                          <a:latin typeface="Arial" panose="020B0604020202020204" pitchFamily="34" charset="0"/>
                          <a:cs typeface="Arial" panose="020B0604020202020204" pitchFamily="34" charset="0"/>
                        </a:rPr>
                      </a:br>
                      <a:r>
                        <a:rPr lang="en-US" sz="2800" b="1" baseline="0" dirty="0">
                          <a:solidFill>
                            <a:srgbClr val="FFC000"/>
                          </a:solidFill>
                          <a:latin typeface="Arial" panose="020B0604020202020204" pitchFamily="34" charset="0"/>
                          <a:cs typeface="Arial" panose="020B0604020202020204" pitchFamily="34" charset="0"/>
                        </a:rPr>
                        <a:t>Check the template size</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100x143 cm</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27.5x39.37 inches </a:t>
                      </a:r>
                    </a:p>
                  </a:txBody>
                  <a:tcPr marL="182880" marT="137160">
                    <a:solidFill>
                      <a:srgbClr val="010101"/>
                    </a:solidFill>
                  </a:tcPr>
                </a:tc>
                <a:extLst>
                  <a:ext uri="{0D108BD9-81ED-4DB2-BD59-A6C34878D82A}">
                    <a16:rowId xmlns:a16="http://schemas.microsoft.com/office/drawing/2014/main" val="10008"/>
                  </a:ext>
                </a:extLst>
              </a:tr>
              <a:tr h="5003666">
                <a:tc>
                  <a:txBody>
                    <a:bodyPr/>
                    <a:lstStyle/>
                    <a:p>
                      <a:endParaRPr lang="en-US" sz="2400" dirty="0">
                        <a:solidFill>
                          <a:srgbClr val="1F3A4E"/>
                        </a:solidFill>
                      </a:endParaRPr>
                    </a:p>
                  </a:txBody>
                  <a:tcPr>
                    <a:blipFill rotWithShape="1">
                      <a:blip r:embed="rId3"/>
                      <a:stretch>
                        <a:fillRect/>
                      </a:stretch>
                    </a:blipFill>
                  </a:tcPr>
                </a:tc>
                <a:tc>
                  <a:txBody>
                    <a:bodyPr/>
                    <a:lstStyle/>
                    <a:p>
                      <a:pPr algn="l"/>
                      <a:r>
                        <a:rPr lang="en-US" sz="2800" b="1" baseline="0" dirty="0">
                          <a:solidFill>
                            <a:srgbClr val="FFC000"/>
                          </a:solidFill>
                          <a:latin typeface="Arial" panose="020B0604020202020204" pitchFamily="34" charset="0"/>
                          <a:cs typeface="Arial" panose="020B0604020202020204" pitchFamily="34" charset="0"/>
                        </a:rPr>
                        <a:t>How to </a:t>
                      </a:r>
                      <a:r>
                        <a:rPr lang="en-US" sz="4400" b="1" baseline="0" dirty="0">
                          <a:solidFill>
                            <a:srgbClr val="FFC000"/>
                          </a:solidFill>
                          <a:latin typeface="Arial" panose="020B0604020202020204" pitchFamily="34" charset="0"/>
                          <a:cs typeface="Arial" panose="020B0604020202020204" pitchFamily="34" charset="0"/>
                        </a:rPr>
                        <a:t>Zoom in </a:t>
                      </a:r>
                      <a:r>
                        <a:rPr lang="en-US" sz="2800" b="1" baseline="0" dirty="0">
                          <a:solidFill>
                            <a:srgbClr val="FFC000"/>
                          </a:solidFill>
                          <a:latin typeface="Arial" panose="020B0604020202020204" pitchFamily="34" charset="0"/>
                          <a:cs typeface="Arial" panose="020B0604020202020204" pitchFamily="34" charset="0"/>
                        </a:rPr>
                        <a:t>and </a:t>
                      </a:r>
                      <a:r>
                        <a:rPr lang="en-US" sz="2000" b="1" baseline="0" dirty="0">
                          <a:solidFill>
                            <a:srgbClr val="FFC000"/>
                          </a:solidFill>
                          <a:latin typeface="Arial" panose="020B0604020202020204" pitchFamily="34" charset="0"/>
                          <a:cs typeface="Arial" panose="020B0604020202020204" pitchFamily="34" charset="0"/>
                        </a:rPr>
                        <a:t>out</a:t>
                      </a:r>
                      <a:endParaRPr lang="en-US" sz="2800" b="1" baseline="0" dirty="0">
                        <a:solidFill>
                          <a:srgbClr val="FFC000"/>
                        </a:solidFill>
                        <a:latin typeface="Arial" panose="020B0604020202020204" pitchFamily="34" charset="0"/>
                        <a:cs typeface="Arial" panose="020B0604020202020204" pitchFamily="34" charset="0"/>
                      </a:endParaRPr>
                    </a:p>
                    <a:p>
                      <a:pPr algn="l"/>
                      <a:r>
                        <a:rPr lang="en-US" sz="2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 </a:t>
                      </a:r>
                      <a:r>
                        <a:rPr lang="en-US" sz="2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 </a:t>
                      </a:r>
                      <a:r>
                        <a:rPr lang="en-US" sz="2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237287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Ruler and Guides</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4694162">
                <a:tc>
                  <a:txBody>
                    <a:bodyPr/>
                    <a:lstStyle/>
                    <a:p>
                      <a:endParaRPr lang="en-US" sz="2400" dirty="0">
                        <a:solidFill>
                          <a:srgbClr val="1F3A4E"/>
                        </a:solidFill>
                      </a:endParaRPr>
                    </a:p>
                  </a:txBody>
                  <a:tcPr>
                    <a:blipFill rotWithShape="1">
                      <a:blip r:embed="rId4"/>
                      <a:stretch>
                        <a:fillRect/>
                      </a:stretch>
                    </a:blipFill>
                  </a:tcPr>
                </a:tc>
                <a:tc>
                  <a:txBody>
                    <a:bodyPr/>
                    <a:lstStyle/>
                    <a:p>
                      <a:pPr marL="0" lvl="1" indent="0" algn="l" defTabSz="114300"/>
                      <a:r>
                        <a:rPr lang="en-US" sz="2800" b="1" baseline="0" dirty="0">
                          <a:solidFill>
                            <a:srgbClr val="FFC000"/>
                          </a:solidFill>
                          <a:latin typeface="Arial" panose="020B0604020202020204" pitchFamily="34" charset="0"/>
                          <a:cs typeface="Arial" panose="020B0604020202020204" pitchFamily="34" charset="0"/>
                        </a:rPr>
                        <a:t>Headers and text containers</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817230">
                <a:tc gridSpan="2">
                  <a:txBody>
                    <a:bodyPr/>
                    <a:lstStyle/>
                    <a:p>
                      <a:r>
                        <a:rPr lang="en-US" sz="2800" b="1" dirty="0">
                          <a:solidFill>
                            <a:srgbClr val="FFC000"/>
                          </a:solidFill>
                          <a:latin typeface="Arial" panose="020B0604020202020204" pitchFamily="34" charset="0"/>
                          <a:cs typeface="Arial" panose="020B0604020202020204" pitchFamily="34" charset="0"/>
                        </a:rPr>
                        <a:t>Adding content to the poster</a:t>
                      </a:r>
                    </a:p>
                    <a:p>
                      <a:r>
                        <a:rPr lang="en-US" sz="2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52762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23088">
                <a:tc gridSpan="2">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6669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0898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9" name="Group 8">
            <a:extLst>
              <a:ext uri="{FF2B5EF4-FFF2-40B4-BE49-F238E27FC236}">
                <a16:creationId xmlns:a16="http://schemas.microsoft.com/office/drawing/2014/main" id="{EF4C1283-BAAA-6D41-8C60-C18DCEE718CC}"/>
              </a:ext>
            </a:extLst>
          </p:cNvPr>
          <p:cNvGrpSpPr/>
          <p:nvPr userDrawn="1"/>
        </p:nvGrpSpPr>
        <p:grpSpPr>
          <a:xfrm>
            <a:off x="0" y="0"/>
            <a:ext cx="25192038" cy="36013650"/>
            <a:chOff x="-282256" y="-251209"/>
            <a:chExt cx="25648282" cy="36391624"/>
          </a:xfrm>
        </p:grpSpPr>
        <p:sp>
          <p:nvSpPr>
            <p:cNvPr id="10" name="Freeform 9">
              <a:extLst>
                <a:ext uri="{FF2B5EF4-FFF2-40B4-BE49-F238E27FC236}">
                  <a16:creationId xmlns:a16="http://schemas.microsoft.com/office/drawing/2014/main" id="{5A8CCE7E-6AD5-334C-B9DB-A6AFE8966A68}"/>
                </a:ext>
              </a:extLst>
            </p:cNvPr>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82A0E442-DFA0-7C45-A18E-391E6A121090}"/>
                </a:ext>
              </a:extLst>
            </p:cNvPr>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372B1B3A-5764-1141-AD33-81F113CC7BE4}"/>
                </a:ext>
              </a:extLst>
            </p:cNvPr>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4" name="Table 13">
            <a:extLst>
              <a:ext uri="{FF2B5EF4-FFF2-40B4-BE49-F238E27FC236}">
                <a16:creationId xmlns:a16="http://schemas.microsoft.com/office/drawing/2014/main" id="{AA930D81-2FAB-CD4D-AF1B-62386968629E}"/>
              </a:ext>
            </a:extLst>
          </p:cNvPr>
          <p:cNvGraphicFramePr>
            <a:graphicFrameLocks noGrp="1"/>
          </p:cNvGraphicFramePr>
          <p:nvPr userDrawn="1">
            <p:extLst>
              <p:ext uri="{D42A27DB-BD31-4B8C-83A1-F6EECF244321}">
                <p14:modId xmlns:p14="http://schemas.microsoft.com/office/powerpoint/2010/main" val="2042975874"/>
              </p:ext>
            </p:extLst>
          </p:nvPr>
        </p:nvGraphicFramePr>
        <p:xfrm>
          <a:off x="25652414" y="37356"/>
          <a:ext cx="10290587" cy="35957775"/>
        </p:xfrm>
        <a:graphic>
          <a:graphicData uri="http://schemas.openxmlformats.org/drawingml/2006/table">
            <a:tbl>
              <a:tblPr firstRow="1" bandRow="1">
                <a:tableStyleId>{5C22544A-7EE6-4342-B048-85BDC9FD1C3A}</a:tableStyleId>
              </a:tblPr>
              <a:tblGrid>
                <a:gridCol w="4899938">
                  <a:extLst>
                    <a:ext uri="{9D8B030D-6E8A-4147-A177-3AD203B41FA5}">
                      <a16:colId xmlns:a16="http://schemas.microsoft.com/office/drawing/2014/main" val="20000"/>
                    </a:ext>
                  </a:extLst>
                </a:gridCol>
                <a:gridCol w="351173">
                  <a:extLst>
                    <a:ext uri="{9D8B030D-6E8A-4147-A177-3AD203B41FA5}">
                      <a16:colId xmlns:a16="http://schemas.microsoft.com/office/drawing/2014/main" val="764104496"/>
                    </a:ext>
                  </a:extLst>
                </a:gridCol>
                <a:gridCol w="5039476">
                  <a:extLst>
                    <a:ext uri="{9D8B030D-6E8A-4147-A177-3AD203B41FA5}">
                      <a16:colId xmlns:a16="http://schemas.microsoft.com/office/drawing/2014/main" val="4164475170"/>
                    </a:ext>
                  </a:extLst>
                </a:gridCol>
              </a:tblGrid>
              <a:tr h="1768730">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906470">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33058">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5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2023905">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656707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5578616">
                <a:tc>
                  <a:txBody>
                    <a:bodyPr/>
                    <a:lstStyle/>
                    <a:p>
                      <a:pPr rtl="0"/>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pPr rtl="0"/>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24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640111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262579">
                <a:tc gridSpan="3">
                  <a:txBody>
                    <a:bodyPr/>
                    <a:lstStyle/>
                    <a:p>
                      <a:endParaRPr lang="en-US" sz="24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716228">
                <a:tc gridSpan="2">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38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0000" y="404682"/>
            <a:ext cx="23760000" cy="468000"/>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sz="3200" b="1" i="0" dirty="0">
                <a:solidFill>
                  <a:srgbClr val="5E6E2E"/>
                </a:solidFill>
                <a:latin typeface="Calibri"/>
              </a:rPr>
              <a:t>RUPPIN ACADEMIC CENTER    ·    DEPARTMENT OF COMPUTER SCIENCE    ·    AI &amp; DATA SCIENCE SPECIALIZATION</a:t>
            </a:r>
          </a:p>
        </p:txBody>
      </p:sp>
      <p:sp>
        <p:nvSpPr>
          <p:cNvPr id="3" name="TextBox 2"/>
          <p:cNvSpPr txBox="1"/>
          <p:nvPr/>
        </p:nvSpPr>
        <p:spPr>
          <a:xfrm>
            <a:off x="3240000" y="1007501"/>
            <a:ext cx="18720000" cy="1734697"/>
          </a:xfrm>
          <a:prstGeom prst="rect">
            <a:avLst/>
          </a:prstGeom>
          <a:noFill/>
        </p:spPr>
        <p:txBody>
          <a:bodyPr wrap="square" lIns="36000" tIns="36000" rIns="36000" bIns="36000" anchor="ctr">
            <a:spAutoFit/>
          </a:bodyPr>
          <a:lstStyle/>
          <a:p>
            <a:pPr algn="ctr">
              <a:lnSpc>
                <a:spcPct val="100000"/>
              </a:lnSpc>
              <a:spcBef>
                <a:spcPts val="0"/>
              </a:spcBef>
              <a:spcAft>
                <a:spcPts val="0"/>
              </a:spcAft>
            </a:pPr>
            <a:r>
              <a:rPr sz="5400" b="1" i="0" dirty="0">
                <a:solidFill>
                  <a:srgbClr val="3D4A1F"/>
                </a:solidFill>
                <a:latin typeface="Cambria"/>
              </a:rPr>
              <a:t>Predictive Modeling of Root-Zone Variables
Using Greenhouse Data</a:t>
            </a:r>
          </a:p>
        </p:txBody>
      </p:sp>
      <p:sp>
        <p:nvSpPr>
          <p:cNvPr id="4" name="TextBox 3"/>
          <p:cNvSpPr txBox="1"/>
          <p:nvPr/>
        </p:nvSpPr>
        <p:spPr>
          <a:xfrm>
            <a:off x="3240000" y="2860041"/>
            <a:ext cx="8284343" cy="630869"/>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lang="en-US" sz="3600" b="1" i="0" dirty="0">
                <a:solidFill>
                  <a:srgbClr val="3D4A1F"/>
                </a:solidFill>
                <a:latin typeface="Calibri"/>
              </a:rPr>
              <a:t>Students: </a:t>
            </a:r>
            <a:r>
              <a:rPr sz="3600" b="1" i="0" dirty="0">
                <a:solidFill>
                  <a:srgbClr val="3D4A1F"/>
                </a:solidFill>
                <a:latin typeface="Calibri"/>
              </a:rPr>
              <a:t>Eden Eliyahu</a:t>
            </a:r>
            <a:r>
              <a:rPr lang="en-US" sz="3600" b="1" dirty="0">
                <a:solidFill>
                  <a:srgbClr val="3D4A1F"/>
                </a:solidFill>
                <a:latin typeface="Calibri"/>
              </a:rPr>
              <a:t>, </a:t>
            </a:r>
            <a:r>
              <a:rPr sz="3600" b="1" i="0" dirty="0">
                <a:solidFill>
                  <a:srgbClr val="3D4A1F"/>
                </a:solidFill>
                <a:latin typeface="Calibri"/>
              </a:rPr>
              <a:t>Oren Chaushu</a:t>
            </a:r>
          </a:p>
        </p:txBody>
      </p:sp>
      <p:sp>
        <p:nvSpPr>
          <p:cNvPr id="5" name="TextBox 4"/>
          <p:cNvSpPr txBox="1"/>
          <p:nvPr/>
        </p:nvSpPr>
        <p:spPr>
          <a:xfrm>
            <a:off x="12596019" y="2860040"/>
            <a:ext cx="9356019" cy="630869"/>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sz="3600" b="1" dirty="0">
                <a:solidFill>
                  <a:srgbClr val="2E3517"/>
                </a:solidFill>
                <a:latin typeface="Calibri"/>
              </a:rPr>
              <a:t>Supervisors:  Dr. Avner Priel</a:t>
            </a:r>
            <a:r>
              <a:rPr lang="en-US" sz="3600" b="1" dirty="0">
                <a:solidFill>
                  <a:srgbClr val="2E3517"/>
                </a:solidFill>
                <a:latin typeface="Calibri"/>
              </a:rPr>
              <a:t>, </a:t>
            </a:r>
            <a:r>
              <a:rPr sz="3600" b="1" dirty="0">
                <a:solidFill>
                  <a:srgbClr val="2E3517"/>
                </a:solidFill>
                <a:latin typeface="Calibri"/>
              </a:rPr>
              <a:t>Dr. Alaa Jamal</a:t>
            </a:r>
          </a:p>
        </p:txBody>
      </p:sp>
      <p:sp>
        <p:nvSpPr>
          <p:cNvPr id="6" name="Rounded Rectangle 5"/>
          <p:cNvSpPr/>
          <p:nvPr/>
        </p:nvSpPr>
        <p:spPr>
          <a:xfrm>
            <a:off x="1440000" y="3600000"/>
            <a:ext cx="22320000" cy="57600"/>
          </a:xfrm>
          <a:prstGeom prst="roundRect">
            <a:avLst>
              <a:gd name="adj" fmla="val 50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8000" y="3743999"/>
            <a:ext cx="11664000" cy="3814473"/>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ounded Rectangle 7"/>
          <p:cNvSpPr/>
          <p:nvPr/>
        </p:nvSpPr>
        <p:spPr>
          <a:xfrm>
            <a:off x="917999" y="3996000"/>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01</a:t>
            </a:r>
          </a:p>
        </p:txBody>
      </p:sp>
      <p:sp>
        <p:nvSpPr>
          <p:cNvPr id="9" name="TextBox 8"/>
          <p:cNvSpPr txBox="1"/>
          <p:nvPr/>
        </p:nvSpPr>
        <p:spPr>
          <a:xfrm>
            <a:off x="1674000" y="3986850"/>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Motivation</a:t>
            </a:r>
          </a:p>
        </p:txBody>
      </p:sp>
      <p:sp>
        <p:nvSpPr>
          <p:cNvPr id="10" name="Rectangle 9"/>
          <p:cNvSpPr/>
          <p:nvPr/>
        </p:nvSpPr>
        <p:spPr>
          <a:xfrm>
            <a:off x="936000" y="4661800"/>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p>
        </p:txBody>
      </p:sp>
      <p:sp>
        <p:nvSpPr>
          <p:cNvPr id="11" name="TextBox 10"/>
          <p:cNvSpPr txBox="1"/>
          <p:nvPr/>
        </p:nvSpPr>
        <p:spPr>
          <a:xfrm>
            <a:off x="954000" y="4774749"/>
            <a:ext cx="11087999" cy="2533441"/>
          </a:xfrm>
          <a:prstGeom prst="rect">
            <a:avLst/>
          </a:prstGeom>
          <a:noFill/>
        </p:spPr>
        <p:txBody>
          <a:bodyPr wrap="square" lIns="36000" tIns="36000" rIns="36000" bIns="36000" anchor="t">
            <a:spAutoFit/>
          </a:bodyPr>
          <a:lstStyle/>
          <a:p>
            <a:pPr>
              <a:lnSpc>
                <a:spcPct val="106000"/>
              </a:lnSpc>
              <a:spcAft>
                <a:spcPts val="500"/>
              </a:spcAft>
            </a:pPr>
            <a:r>
              <a:rPr lang="en-US" sz="2400" dirty="0">
                <a:solidFill>
                  <a:schemeClr val="tx2">
                    <a:lumMod val="75000"/>
                  </a:schemeClr>
                </a:solidFill>
              </a:rPr>
              <a:t>Root-zone pH controls nutrient availability; EC (electrical conductivity) reflects salinity and fertilizer load.</a:t>
            </a:r>
          </a:p>
          <a:p>
            <a:pPr>
              <a:lnSpc>
                <a:spcPct val="106000"/>
              </a:lnSpc>
              <a:spcAft>
                <a:spcPts val="500"/>
              </a:spcAft>
            </a:pPr>
            <a:r>
              <a:rPr lang="en-US" sz="2400" dirty="0">
                <a:solidFill>
                  <a:schemeClr val="tx2">
                    <a:lumMod val="75000"/>
                  </a:schemeClr>
                </a:solidFill>
              </a:rPr>
              <a:t>Manual lab samples are accurate but sparse, creating blind gaps between measurements.</a:t>
            </a:r>
          </a:p>
          <a:p>
            <a:pPr>
              <a:lnSpc>
                <a:spcPct val="106000"/>
              </a:lnSpc>
              <a:spcAft>
                <a:spcPts val="500"/>
              </a:spcAft>
            </a:pPr>
            <a:r>
              <a:rPr lang="en-US" sz="2400" dirty="0">
                <a:solidFill>
                  <a:schemeClr val="tx2">
                    <a:lumMod val="75000"/>
                  </a:schemeClr>
                </a:solidFill>
              </a:rPr>
              <a:t>A soft sensor can forecast pH and EC between lab samples, helping growers detect drift earlier and adjust irrigation/fertigation decisions.</a:t>
            </a:r>
            <a:endParaRPr sz="2400" dirty="0">
              <a:solidFill>
                <a:schemeClr val="tx2">
                  <a:lumMod val="75000"/>
                </a:schemeClr>
              </a:solidFill>
              <a:latin typeface="Calibri"/>
            </a:endParaRPr>
          </a:p>
        </p:txBody>
      </p:sp>
      <p:sp>
        <p:nvSpPr>
          <p:cNvPr id="12" name="Rounded Rectangle 11"/>
          <p:cNvSpPr/>
          <p:nvPr/>
        </p:nvSpPr>
        <p:spPr>
          <a:xfrm>
            <a:off x="648000" y="7820925"/>
            <a:ext cx="11664000" cy="3814473"/>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ounded Rectangle 12"/>
          <p:cNvSpPr/>
          <p:nvPr/>
        </p:nvSpPr>
        <p:spPr>
          <a:xfrm>
            <a:off x="917999" y="8056505"/>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02</a:t>
            </a:r>
          </a:p>
        </p:txBody>
      </p:sp>
      <p:sp>
        <p:nvSpPr>
          <p:cNvPr id="14" name="TextBox 13"/>
          <p:cNvSpPr txBox="1"/>
          <p:nvPr/>
        </p:nvSpPr>
        <p:spPr>
          <a:xfrm>
            <a:off x="1674000" y="8047355"/>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Project Goal</a:t>
            </a:r>
          </a:p>
        </p:txBody>
      </p:sp>
      <p:sp>
        <p:nvSpPr>
          <p:cNvPr id="15" name="Rectangle 14"/>
          <p:cNvSpPr/>
          <p:nvPr/>
        </p:nvSpPr>
        <p:spPr>
          <a:xfrm>
            <a:off x="936000" y="8722305"/>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7999" y="8826287"/>
            <a:ext cx="11087999" cy="1699110"/>
          </a:xfrm>
          <a:prstGeom prst="rect">
            <a:avLst/>
          </a:prstGeom>
          <a:noFill/>
        </p:spPr>
        <p:txBody>
          <a:bodyPr wrap="square" lIns="36000" tIns="36000" rIns="36000" bIns="36000" anchor="t">
            <a:spAutoFit/>
          </a:bodyPr>
          <a:lstStyle/>
          <a:p>
            <a:pPr>
              <a:lnSpc>
                <a:spcPct val="106000"/>
              </a:lnSpc>
              <a:spcAft>
                <a:spcPts val="600"/>
              </a:spcAft>
            </a:pPr>
            <a:r>
              <a:rPr lang="en-US" sz="2400" dirty="0">
                <a:solidFill>
                  <a:schemeClr val="tx2">
                    <a:lumMod val="75000"/>
                  </a:schemeClr>
                </a:solidFill>
              </a:rPr>
              <a:t>▪ Predict future root-zone pH and EC from the latest lab measurement, forecasted climate, planned irrigation/fertigation and crop-state data.</a:t>
            </a:r>
          </a:p>
          <a:p>
            <a:pPr>
              <a:lnSpc>
                <a:spcPct val="106000"/>
              </a:lnSpc>
              <a:spcAft>
                <a:spcPts val="600"/>
              </a:spcAft>
            </a:pPr>
            <a:r>
              <a:rPr lang="en-US" sz="2400" dirty="0">
                <a:solidFill>
                  <a:schemeClr val="tx2">
                    <a:lumMod val="75000"/>
                  </a:schemeClr>
                </a:solidFill>
              </a:rPr>
              <a:t>▪ Estimate the t₀ → t₁ change so growers can test a planned irrigation/fertigation strategy, see expected future pH/EC values, and adjust before conditions drift.</a:t>
            </a:r>
            <a:endParaRPr sz="2400" dirty="0">
              <a:solidFill>
                <a:schemeClr val="tx2">
                  <a:lumMod val="75000"/>
                </a:schemeClr>
              </a:solidFill>
              <a:latin typeface="Calibri"/>
            </a:endParaRPr>
          </a:p>
        </p:txBody>
      </p:sp>
      <p:sp>
        <p:nvSpPr>
          <p:cNvPr id="17" name="Rounded Rectangle 16"/>
          <p:cNvSpPr/>
          <p:nvPr/>
        </p:nvSpPr>
        <p:spPr>
          <a:xfrm>
            <a:off x="648000" y="11880000"/>
            <a:ext cx="11664000" cy="5256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17999" y="12131999"/>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03</a:t>
            </a:r>
          </a:p>
        </p:txBody>
      </p:sp>
      <p:sp>
        <p:nvSpPr>
          <p:cNvPr id="19" name="TextBox 18"/>
          <p:cNvSpPr txBox="1"/>
          <p:nvPr/>
        </p:nvSpPr>
        <p:spPr>
          <a:xfrm>
            <a:off x="1674000" y="12122850"/>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Data</a:t>
            </a:r>
          </a:p>
        </p:txBody>
      </p:sp>
      <p:sp>
        <p:nvSpPr>
          <p:cNvPr id="20" name="Rectangle 19"/>
          <p:cNvSpPr/>
          <p:nvPr/>
        </p:nvSpPr>
        <p:spPr>
          <a:xfrm>
            <a:off x="936000" y="12823200"/>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54000" y="12941999"/>
            <a:ext cx="3564000" cy="1224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sz="4400" b="1" i="0" dirty="0">
                <a:solidFill>
                  <a:srgbClr val="3D4A1F"/>
                </a:solidFill>
                <a:latin typeface="Calibri"/>
              </a:rPr>
              <a:t>16,682</a:t>
            </a:r>
          </a:p>
          <a:p>
            <a:pPr algn="ctr">
              <a:lnSpc>
                <a:spcPct val="95000"/>
              </a:lnSpc>
              <a:spcBef>
                <a:spcPts val="200"/>
              </a:spcBef>
              <a:spcAft>
                <a:spcPts val="0"/>
              </a:spcAft>
            </a:pPr>
            <a:r>
              <a:rPr sz="2400" b="1" i="0" dirty="0">
                <a:solidFill>
                  <a:srgbClr val="2E3517"/>
                </a:solidFill>
                <a:latin typeface="Calibri"/>
              </a:rPr>
              <a:t>10-min rows</a:t>
            </a:r>
          </a:p>
        </p:txBody>
      </p:sp>
      <p:sp>
        <p:nvSpPr>
          <p:cNvPr id="22" name="Rounded Rectangle 21"/>
          <p:cNvSpPr/>
          <p:nvPr/>
        </p:nvSpPr>
        <p:spPr>
          <a:xfrm>
            <a:off x="4698000" y="12941999"/>
            <a:ext cx="3564000" cy="1224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sz="4400" b="1" i="0" dirty="0">
                <a:solidFill>
                  <a:srgbClr val="3D4A1F"/>
                </a:solidFill>
                <a:latin typeface="Calibri"/>
              </a:rPr>
              <a:t>109</a:t>
            </a:r>
          </a:p>
          <a:p>
            <a:pPr algn="ctr">
              <a:lnSpc>
                <a:spcPct val="95000"/>
              </a:lnSpc>
              <a:spcBef>
                <a:spcPts val="200"/>
              </a:spcBef>
              <a:spcAft>
                <a:spcPts val="0"/>
              </a:spcAft>
            </a:pPr>
            <a:r>
              <a:rPr sz="2400" b="1" i="0" dirty="0">
                <a:solidFill>
                  <a:srgbClr val="2E3517"/>
                </a:solidFill>
                <a:latin typeface="Calibri"/>
              </a:rPr>
              <a:t>pH / EC labels</a:t>
            </a:r>
          </a:p>
        </p:txBody>
      </p:sp>
      <p:sp>
        <p:nvSpPr>
          <p:cNvPr id="23" name="Rounded Rectangle 22"/>
          <p:cNvSpPr/>
          <p:nvPr/>
        </p:nvSpPr>
        <p:spPr>
          <a:xfrm>
            <a:off x="8442000" y="12941999"/>
            <a:ext cx="3564000" cy="1224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lang="he-IL" sz="4400" b="1" dirty="0">
                <a:solidFill>
                  <a:srgbClr val="3D4A1F"/>
                </a:solidFill>
                <a:latin typeface="+mj-lt"/>
              </a:rPr>
              <a:t>+</a:t>
            </a:r>
            <a:r>
              <a:rPr lang="he-IL" sz="4400" b="1" i="0" dirty="0">
                <a:solidFill>
                  <a:srgbClr val="3D4A1F"/>
                </a:solidFill>
                <a:latin typeface="+mj-lt"/>
              </a:rPr>
              <a:t>20</a:t>
            </a:r>
            <a:endParaRPr sz="4400" b="1" i="0" dirty="0">
              <a:solidFill>
                <a:srgbClr val="3D4A1F"/>
              </a:solidFill>
              <a:latin typeface="+mj-lt"/>
            </a:endParaRPr>
          </a:p>
          <a:p>
            <a:pPr algn="ctr">
              <a:lnSpc>
                <a:spcPct val="95000"/>
              </a:lnSpc>
              <a:spcBef>
                <a:spcPts val="200"/>
              </a:spcBef>
              <a:spcAft>
                <a:spcPts val="0"/>
              </a:spcAft>
            </a:pPr>
            <a:r>
              <a:rPr sz="2400" b="1" i="0" dirty="0">
                <a:solidFill>
                  <a:srgbClr val="2E3517"/>
                </a:solidFill>
                <a:latin typeface="Calibri"/>
              </a:rPr>
              <a:t>input features</a:t>
            </a:r>
          </a:p>
        </p:txBody>
      </p:sp>
      <p:sp>
        <p:nvSpPr>
          <p:cNvPr id="24" name="TextBox 23"/>
          <p:cNvSpPr txBox="1"/>
          <p:nvPr/>
        </p:nvSpPr>
        <p:spPr>
          <a:xfrm>
            <a:off x="954000" y="14387079"/>
            <a:ext cx="11160000" cy="2456497"/>
          </a:xfrm>
          <a:prstGeom prst="rect">
            <a:avLst/>
          </a:prstGeom>
          <a:noFill/>
        </p:spPr>
        <p:txBody>
          <a:bodyPr wrap="square" lIns="36000" tIns="36000" rIns="36000" bIns="36000" anchor="t">
            <a:spAutoFit/>
          </a:bodyPr>
          <a:lstStyle/>
          <a:p>
            <a:pPr>
              <a:lnSpc>
                <a:spcPct val="106000"/>
              </a:lnSpc>
              <a:spcAft>
                <a:spcPts val="400"/>
              </a:spcAft>
            </a:pPr>
            <a:r>
              <a:rPr lang="he-IL" sz="2400" b="1" dirty="0">
                <a:solidFill>
                  <a:srgbClr val="5E6E2E"/>
                </a:solidFill>
              </a:rPr>
              <a:t>▪</a:t>
            </a:r>
            <a:r>
              <a:rPr lang="en-US" sz="2400" dirty="0">
                <a:solidFill>
                  <a:schemeClr val="tx2">
                    <a:lumMod val="75000"/>
                  </a:schemeClr>
                </a:solidFill>
              </a:rPr>
              <a:t> Unified 10-minute master dataset · May 29 – Sep 21, 2025.</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External weather &amp; solar radiation.</a:t>
            </a:r>
          </a:p>
          <a:p>
            <a:pPr>
              <a:lnSpc>
                <a:spcPct val="106000"/>
              </a:lnSpc>
              <a:spcAft>
                <a:spcPts val="400"/>
              </a:spcAft>
            </a:pPr>
            <a:r>
              <a:rPr lang="he-IL" sz="2400" b="1" dirty="0">
                <a:solidFill>
                  <a:srgbClr val="5E6E2E"/>
                </a:solidFill>
              </a:rPr>
              <a:t>▪</a:t>
            </a:r>
            <a:r>
              <a:rPr lang="en-US" sz="2400" dirty="0">
                <a:solidFill>
                  <a:schemeClr val="tx2">
                    <a:lumMod val="75000"/>
                  </a:schemeClr>
                </a:solidFill>
              </a:rPr>
              <a:t> Greenhouse micro-climate.</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Irrigation &amp; fertigation.</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Crop-state features.</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Manual laboratory pH &amp; EC measurements.</a:t>
            </a:r>
            <a:endParaRPr sz="2400" b="0" dirty="0">
              <a:solidFill>
                <a:schemeClr val="tx2">
                  <a:lumMod val="75000"/>
                </a:schemeClr>
              </a:solidFill>
              <a:latin typeface="Calibri"/>
            </a:endParaRPr>
          </a:p>
        </p:txBody>
      </p:sp>
      <p:sp>
        <p:nvSpPr>
          <p:cNvPr id="25" name="Rounded Rectangle 24"/>
          <p:cNvSpPr/>
          <p:nvPr/>
        </p:nvSpPr>
        <p:spPr>
          <a:xfrm>
            <a:off x="648000" y="17353799"/>
            <a:ext cx="11664000" cy="720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917999" y="17605800"/>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04</a:t>
            </a:r>
          </a:p>
        </p:txBody>
      </p:sp>
      <p:sp>
        <p:nvSpPr>
          <p:cNvPr id="27" name="TextBox 26"/>
          <p:cNvSpPr txBox="1"/>
          <p:nvPr/>
        </p:nvSpPr>
        <p:spPr>
          <a:xfrm>
            <a:off x="1674000" y="17596649"/>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a:solidFill>
                  <a:srgbClr val="3D4A1F"/>
                </a:solidFill>
                <a:latin typeface="+mj-lt"/>
              </a:rPr>
              <a:t>Method</a:t>
            </a:r>
          </a:p>
        </p:txBody>
      </p:sp>
      <p:sp>
        <p:nvSpPr>
          <p:cNvPr id="28" name="Rectangle 27"/>
          <p:cNvSpPr/>
          <p:nvPr/>
        </p:nvSpPr>
        <p:spPr>
          <a:xfrm>
            <a:off x="936000" y="1829699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54000" y="18415800"/>
            <a:ext cx="11052000" cy="4195307"/>
          </a:xfrm>
          <a:prstGeom prst="rect">
            <a:avLst/>
          </a:prstGeom>
          <a:noFill/>
        </p:spPr>
        <p:txBody>
          <a:bodyPr wrap="square" lIns="36000" tIns="36000" rIns="36000" bIns="36000" anchor="t">
            <a:spAutoFit/>
          </a:bodyPr>
          <a:lstStyle/>
          <a:p>
            <a:pPr>
              <a:lnSpc>
                <a:spcPct val="106000"/>
              </a:lnSpc>
              <a:spcAft>
                <a:spcPts val="600"/>
              </a:spcAft>
            </a:pPr>
            <a:r>
              <a:rPr lang="en-US" sz="2400" b="1" dirty="0">
                <a:solidFill>
                  <a:schemeClr val="tx2">
                    <a:lumMod val="75000"/>
                  </a:schemeClr>
                </a:solidFill>
              </a:rPr>
              <a:t>Two-stage prediction pipeline:</a:t>
            </a:r>
          </a:p>
          <a:p>
            <a:pPr>
              <a:lnSpc>
                <a:spcPct val="106000"/>
              </a:lnSpc>
              <a:spcAft>
                <a:spcPts val="600"/>
              </a:spcAft>
            </a:pPr>
            <a:r>
              <a:rPr lang="en-US" sz="2400" dirty="0">
                <a:solidFill>
                  <a:schemeClr val="tx2">
                    <a:lumMod val="75000"/>
                  </a:schemeClr>
                </a:solidFill>
              </a:rPr>
              <a:t>1. Forecast internal greenhouse micro-climate from external weather and radiation.</a:t>
            </a:r>
          </a:p>
          <a:p>
            <a:pPr>
              <a:lnSpc>
                <a:spcPct val="106000"/>
              </a:lnSpc>
              <a:spcAft>
                <a:spcPts val="600"/>
              </a:spcAft>
            </a:pPr>
            <a:r>
              <a:rPr lang="en-US" sz="2400" dirty="0">
                <a:solidFill>
                  <a:schemeClr val="tx2">
                    <a:lumMod val="75000"/>
                  </a:schemeClr>
                </a:solidFill>
              </a:rPr>
              <a:t>2. Predict t₀ → t₁ root-zone pH/EC change using climate, crop state and planned events.</a:t>
            </a: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p:txBody>
      </p:sp>
      <p:sp>
        <p:nvSpPr>
          <p:cNvPr id="31" name="Rounded Rectangle 30"/>
          <p:cNvSpPr/>
          <p:nvPr/>
        </p:nvSpPr>
        <p:spPr>
          <a:xfrm>
            <a:off x="648000" y="24767999"/>
            <a:ext cx="11664000" cy="1044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17999" y="25019999"/>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05</a:t>
            </a:r>
          </a:p>
        </p:txBody>
      </p:sp>
      <p:sp>
        <p:nvSpPr>
          <p:cNvPr id="33" name="TextBox 32"/>
          <p:cNvSpPr txBox="1"/>
          <p:nvPr/>
        </p:nvSpPr>
        <p:spPr>
          <a:xfrm>
            <a:off x="1674000" y="25010849"/>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a:solidFill>
                  <a:srgbClr val="3D4A1F"/>
                </a:solidFill>
                <a:latin typeface="+mj-lt"/>
              </a:rPr>
              <a:t>Algorithms &amp; Model Choice</a:t>
            </a:r>
          </a:p>
        </p:txBody>
      </p:sp>
      <p:sp>
        <p:nvSpPr>
          <p:cNvPr id="34" name="Rectangle 33"/>
          <p:cNvSpPr/>
          <p:nvPr/>
        </p:nvSpPr>
        <p:spPr>
          <a:xfrm>
            <a:off x="936000" y="2571119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954000" y="26644499"/>
            <a:ext cx="5418000" cy="2649599"/>
          </a:xfrm>
          <a:prstGeom prst="roundRect">
            <a:avLst>
              <a:gd name="adj" fmla="val 8000"/>
            </a:avLst>
          </a:prstGeom>
          <a:solidFill>
            <a:srgbClr val="FFFFFF"/>
          </a:solidFill>
          <a:ln w="12700">
            <a:solidFill>
              <a:srgbClr val="C9D4B5"/>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t"/>
          <a:lstStyle/>
          <a:p>
            <a:pPr algn="l">
              <a:lnSpc>
                <a:spcPct val="100000"/>
              </a:lnSpc>
              <a:spcBef>
                <a:spcPts val="0"/>
              </a:spcBef>
              <a:spcAft>
                <a:spcPts val="300"/>
              </a:spcAft>
            </a:pPr>
            <a:r>
              <a:rPr sz="2800" b="1" dirty="0">
                <a:solidFill>
                  <a:srgbClr val="5E6E2E"/>
                </a:solidFill>
                <a:latin typeface="Calibri"/>
              </a:rPr>
              <a:t>Gradient Boosting</a:t>
            </a:r>
          </a:p>
          <a:p>
            <a:pPr>
              <a:lnSpc>
                <a:spcPct val="104000"/>
              </a:lnSpc>
            </a:pPr>
            <a:r>
              <a:rPr lang="en-US" sz="2400" dirty="0">
                <a:solidFill>
                  <a:srgbClr val="2E3517"/>
                </a:solidFill>
              </a:rPr>
              <a:t>Main nonlinear model for tabular greenhouse data.</a:t>
            </a:r>
          </a:p>
          <a:p>
            <a:pPr>
              <a:lnSpc>
                <a:spcPct val="104000"/>
              </a:lnSpc>
            </a:pPr>
            <a:r>
              <a:rPr lang="en-US" sz="2400" dirty="0">
                <a:solidFill>
                  <a:srgbClr val="2E3517"/>
                </a:solidFill>
              </a:rPr>
              <a:t>Captures interactions between climate, irrigation, fertigation, crop state and baseline pH/EC.</a:t>
            </a:r>
            <a:endParaRPr lang="en-US" sz="2400" b="0" dirty="0">
              <a:solidFill>
                <a:srgbClr val="2E3517"/>
              </a:solidFill>
              <a:latin typeface="Calibri"/>
            </a:endParaRPr>
          </a:p>
        </p:txBody>
      </p:sp>
      <p:sp>
        <p:nvSpPr>
          <p:cNvPr id="38" name="Rounded Rectangle 37"/>
          <p:cNvSpPr/>
          <p:nvPr/>
        </p:nvSpPr>
        <p:spPr>
          <a:xfrm>
            <a:off x="6588000" y="26644499"/>
            <a:ext cx="5418000" cy="2649599"/>
          </a:xfrm>
          <a:prstGeom prst="roundRect">
            <a:avLst>
              <a:gd name="adj" fmla="val 8000"/>
            </a:avLst>
          </a:prstGeom>
          <a:solidFill>
            <a:srgbClr val="FFFFFF"/>
          </a:solidFill>
          <a:ln w="12700">
            <a:solidFill>
              <a:srgbClr val="C9D4B5"/>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t"/>
          <a:lstStyle/>
          <a:p>
            <a:pPr algn="l">
              <a:lnSpc>
                <a:spcPct val="100000"/>
              </a:lnSpc>
              <a:spcBef>
                <a:spcPts val="0"/>
              </a:spcBef>
              <a:spcAft>
                <a:spcPts val="300"/>
              </a:spcAft>
            </a:pPr>
            <a:r>
              <a:rPr sz="2800" b="1" dirty="0">
                <a:solidFill>
                  <a:srgbClr val="5E6E2E"/>
                </a:solidFill>
                <a:latin typeface="Calibri"/>
              </a:rPr>
              <a:t>Huber Regressor</a:t>
            </a:r>
          </a:p>
          <a:p>
            <a:pPr>
              <a:lnSpc>
                <a:spcPct val="104000"/>
              </a:lnSpc>
            </a:pPr>
            <a:r>
              <a:rPr lang="en-US" sz="2400" dirty="0">
                <a:solidFill>
                  <a:srgbClr val="2E3517"/>
                </a:solidFill>
              </a:rPr>
              <a:t>Robust companion model for sharp pH/EC shifts.</a:t>
            </a:r>
          </a:p>
          <a:p>
            <a:pPr>
              <a:lnSpc>
                <a:spcPct val="104000"/>
              </a:lnSpc>
            </a:pPr>
            <a:r>
              <a:rPr lang="en-US" sz="2400" dirty="0">
                <a:solidFill>
                  <a:srgbClr val="2E3517"/>
                </a:solidFill>
              </a:rPr>
              <a:t>Reduces sensitivity to outliers caused by acid injection, fertigation and salinity events.</a:t>
            </a:r>
            <a:endParaRPr lang="en-US" sz="2400" b="0" dirty="0">
              <a:solidFill>
                <a:srgbClr val="2E3517"/>
              </a:solidFill>
              <a:latin typeface="Calibri"/>
            </a:endParaRPr>
          </a:p>
        </p:txBody>
      </p:sp>
      <p:sp>
        <p:nvSpPr>
          <p:cNvPr id="39" name="Rounded Rectangle 38"/>
          <p:cNvSpPr/>
          <p:nvPr/>
        </p:nvSpPr>
        <p:spPr>
          <a:xfrm>
            <a:off x="12887999" y="11148100"/>
            <a:ext cx="11664000" cy="7848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13157999" y="11400100"/>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lang="he-IL" sz="3600" b="1" i="0" dirty="0">
                <a:solidFill>
                  <a:srgbClr val="FFFFFF"/>
                </a:solidFill>
                <a:latin typeface="+mj-lt"/>
              </a:rPr>
              <a:t>07</a:t>
            </a:r>
            <a:endParaRPr sz="3600" b="1" i="0" dirty="0">
              <a:solidFill>
                <a:srgbClr val="FFFFFF"/>
              </a:solidFill>
              <a:latin typeface="+mj-lt"/>
            </a:endParaRPr>
          </a:p>
        </p:txBody>
      </p:sp>
      <p:sp>
        <p:nvSpPr>
          <p:cNvPr id="41" name="TextBox 40"/>
          <p:cNvSpPr txBox="1"/>
          <p:nvPr/>
        </p:nvSpPr>
        <p:spPr>
          <a:xfrm>
            <a:off x="13914000" y="11390950"/>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Micro-Climate Model</a:t>
            </a:r>
          </a:p>
        </p:txBody>
      </p:sp>
      <p:sp>
        <p:nvSpPr>
          <p:cNvPr id="42" name="Rectangle 41"/>
          <p:cNvSpPr/>
          <p:nvPr/>
        </p:nvSpPr>
        <p:spPr>
          <a:xfrm>
            <a:off x="13175999" y="12091300"/>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3194000" y="12210100"/>
            <a:ext cx="11052000" cy="1320417"/>
          </a:xfrm>
          <a:prstGeom prst="rect">
            <a:avLst/>
          </a:prstGeom>
          <a:noFill/>
        </p:spPr>
        <p:txBody>
          <a:bodyPr wrap="square" lIns="36000" tIns="36000" rIns="36000" bIns="36000" anchor="t">
            <a:spAutoFit/>
          </a:bodyPr>
          <a:lstStyle/>
          <a:p>
            <a:pPr>
              <a:lnSpc>
                <a:spcPct val="106000"/>
              </a:lnSpc>
              <a:spcAft>
                <a:spcPts val="700"/>
              </a:spcAft>
            </a:pPr>
            <a:r>
              <a:rPr lang="en-US" sz="2400" dirty="0">
                <a:solidFill>
                  <a:schemeClr val="tx2">
                    <a:lumMod val="75000"/>
                  </a:schemeClr>
                </a:solidFill>
              </a:rPr>
              <a:t>▪ Predicts internal greenhouse climate from external weather and radiation.</a:t>
            </a:r>
          </a:p>
          <a:p>
            <a:pPr>
              <a:lnSpc>
                <a:spcPct val="106000"/>
              </a:lnSpc>
              <a:spcAft>
                <a:spcPts val="700"/>
              </a:spcAft>
            </a:pPr>
            <a:r>
              <a:rPr lang="en-US" sz="2400" dirty="0">
                <a:solidFill>
                  <a:schemeClr val="tx2">
                    <a:lumMod val="75000"/>
                  </a:schemeClr>
                </a:solidFill>
              </a:rPr>
              <a:t>▪ Generates continuous climate inputs - temperature, RH, radiation, ET₀ and soil temperature - for the root-zone model.</a:t>
            </a:r>
          </a:p>
        </p:txBody>
      </p:sp>
      <p:pic>
        <p:nvPicPr>
          <p:cNvPr id="44" name="Picture 43" descr="microclimate.png"/>
          <p:cNvPicPr>
            <a:picLocks noChangeAspect="1"/>
          </p:cNvPicPr>
          <p:nvPr/>
        </p:nvPicPr>
        <p:blipFill>
          <a:blip r:embed="rId2"/>
          <a:stretch>
            <a:fillRect/>
          </a:stretch>
        </p:blipFill>
        <p:spPr>
          <a:xfrm>
            <a:off x="14016539" y="13542892"/>
            <a:ext cx="8754968" cy="5338780"/>
          </a:xfrm>
          <a:prstGeom prst="rect">
            <a:avLst/>
          </a:prstGeom>
        </p:spPr>
      </p:pic>
      <p:sp>
        <p:nvSpPr>
          <p:cNvPr id="50" name="Rounded Rectangle 49"/>
          <p:cNvSpPr/>
          <p:nvPr/>
        </p:nvSpPr>
        <p:spPr>
          <a:xfrm>
            <a:off x="12887999" y="19223999"/>
            <a:ext cx="11664000" cy="810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13157999" y="19476000"/>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08</a:t>
            </a:r>
          </a:p>
        </p:txBody>
      </p:sp>
      <p:sp>
        <p:nvSpPr>
          <p:cNvPr id="52" name="TextBox 51"/>
          <p:cNvSpPr txBox="1"/>
          <p:nvPr/>
        </p:nvSpPr>
        <p:spPr>
          <a:xfrm>
            <a:off x="13914000" y="19466849"/>
            <a:ext cx="10440000" cy="626701"/>
          </a:xfrm>
          <a:prstGeom prst="rect">
            <a:avLst/>
          </a:prstGeom>
          <a:noFill/>
        </p:spPr>
        <p:txBody>
          <a:bodyPr wrap="square" lIns="36000" tIns="36000" rIns="36000" bIns="36000" anchor="ctr">
            <a:spAutoFit/>
          </a:bodyPr>
          <a:lstStyle/>
          <a:p>
            <a:r>
              <a:rPr lang="en-US" sz="3600" b="1" dirty="0">
                <a:solidFill>
                  <a:srgbClr val="3D4A1F"/>
                </a:solidFill>
                <a:latin typeface="+mj-lt"/>
              </a:rPr>
              <a:t>Root-zone Model Results - Walk-forward Test</a:t>
            </a:r>
          </a:p>
        </p:txBody>
      </p:sp>
      <p:sp>
        <p:nvSpPr>
          <p:cNvPr id="53" name="Rectangle 52"/>
          <p:cNvSpPr/>
          <p:nvPr/>
        </p:nvSpPr>
        <p:spPr>
          <a:xfrm>
            <a:off x="13175999" y="2016719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13194000" y="20268000"/>
            <a:ext cx="3564000" cy="756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0.33</a:t>
            </a:r>
            <a:r>
              <a:rPr lang="he-IL" sz="3600" b="1" i="0" dirty="0">
                <a:solidFill>
                  <a:srgbClr val="3D4A1F"/>
                </a:solidFill>
                <a:latin typeface="Calibri"/>
              </a:rPr>
              <a:t> </a:t>
            </a:r>
            <a:r>
              <a:rPr sz="3600" b="1" i="0" dirty="0">
                <a:solidFill>
                  <a:srgbClr val="2E3517"/>
                </a:solidFill>
                <a:latin typeface="Calibri"/>
              </a:rPr>
              <a:t>pH MAE</a:t>
            </a:r>
          </a:p>
        </p:txBody>
      </p:sp>
      <p:sp>
        <p:nvSpPr>
          <p:cNvPr id="55" name="Rounded Rectangle 54"/>
          <p:cNvSpPr/>
          <p:nvPr/>
        </p:nvSpPr>
        <p:spPr>
          <a:xfrm>
            <a:off x="16938000" y="20268000"/>
            <a:ext cx="3564000" cy="756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0.93</a:t>
            </a:r>
            <a:r>
              <a:rPr lang="he-IL" sz="3600" b="1" i="0" dirty="0">
                <a:solidFill>
                  <a:srgbClr val="3D4A1F"/>
                </a:solidFill>
                <a:latin typeface="Calibri"/>
              </a:rPr>
              <a:t> </a:t>
            </a:r>
            <a:r>
              <a:rPr sz="3600" b="1" i="0" dirty="0">
                <a:solidFill>
                  <a:srgbClr val="2E3517"/>
                </a:solidFill>
                <a:latin typeface="Calibri"/>
              </a:rPr>
              <a:t>pH R²</a:t>
            </a:r>
          </a:p>
        </p:txBody>
      </p:sp>
      <p:sp>
        <p:nvSpPr>
          <p:cNvPr id="56" name="Rounded Rectangle 55"/>
          <p:cNvSpPr/>
          <p:nvPr/>
        </p:nvSpPr>
        <p:spPr>
          <a:xfrm>
            <a:off x="20682000" y="20268000"/>
            <a:ext cx="3564000" cy="756000"/>
          </a:xfrm>
          <a:prstGeom prst="roundRect">
            <a:avLst>
              <a:gd name="adj" fmla="val 10000"/>
            </a:avLst>
          </a:prstGeom>
          <a:solidFill>
            <a:srgbClr val="F5EAD2"/>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B98212"/>
                </a:solidFill>
                <a:latin typeface="Calibri"/>
              </a:rPr>
              <a:t>+62%</a:t>
            </a:r>
            <a:r>
              <a:rPr lang="he-IL" sz="3600" b="1" i="0" dirty="0">
                <a:solidFill>
                  <a:srgbClr val="B98212"/>
                </a:solidFill>
                <a:latin typeface="Calibri"/>
              </a:rPr>
              <a:t> </a:t>
            </a:r>
            <a:r>
              <a:rPr sz="3600" b="1" i="0" dirty="0">
                <a:solidFill>
                  <a:srgbClr val="2E3517"/>
                </a:solidFill>
                <a:latin typeface="Calibri"/>
              </a:rPr>
              <a:t>pH gain</a:t>
            </a:r>
          </a:p>
        </p:txBody>
      </p:sp>
      <p:sp>
        <p:nvSpPr>
          <p:cNvPr id="57" name="Rounded Rectangle 56"/>
          <p:cNvSpPr/>
          <p:nvPr/>
        </p:nvSpPr>
        <p:spPr>
          <a:xfrm>
            <a:off x="13194000" y="21096000"/>
            <a:ext cx="3564000" cy="756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0.127</a:t>
            </a:r>
            <a:r>
              <a:rPr lang="he-IL" sz="3600" b="1" i="0" dirty="0">
                <a:solidFill>
                  <a:srgbClr val="3D4A1F"/>
                </a:solidFill>
                <a:latin typeface="Calibri"/>
              </a:rPr>
              <a:t> </a:t>
            </a:r>
            <a:r>
              <a:rPr sz="3600" b="1" i="0" dirty="0">
                <a:solidFill>
                  <a:srgbClr val="2E3517"/>
                </a:solidFill>
                <a:latin typeface="Calibri"/>
              </a:rPr>
              <a:t>EC MAE</a:t>
            </a:r>
          </a:p>
        </p:txBody>
      </p:sp>
      <p:sp>
        <p:nvSpPr>
          <p:cNvPr id="58" name="Rounded Rectangle 57"/>
          <p:cNvSpPr/>
          <p:nvPr/>
        </p:nvSpPr>
        <p:spPr>
          <a:xfrm>
            <a:off x="16938000" y="21096000"/>
            <a:ext cx="3564000" cy="756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0.98</a:t>
            </a:r>
            <a:r>
              <a:rPr lang="he-IL" sz="3600" b="1" i="0" dirty="0">
                <a:solidFill>
                  <a:srgbClr val="3D4A1F"/>
                </a:solidFill>
                <a:latin typeface="Calibri"/>
              </a:rPr>
              <a:t> </a:t>
            </a:r>
            <a:r>
              <a:rPr sz="3600" b="1" i="0" dirty="0">
                <a:solidFill>
                  <a:srgbClr val="2E3517"/>
                </a:solidFill>
                <a:latin typeface="Calibri"/>
              </a:rPr>
              <a:t>EC R²</a:t>
            </a:r>
          </a:p>
        </p:txBody>
      </p:sp>
      <p:sp>
        <p:nvSpPr>
          <p:cNvPr id="59" name="Rounded Rectangle 58"/>
          <p:cNvSpPr/>
          <p:nvPr/>
        </p:nvSpPr>
        <p:spPr>
          <a:xfrm>
            <a:off x="20682000" y="21096000"/>
            <a:ext cx="3564000" cy="756000"/>
          </a:xfrm>
          <a:prstGeom prst="roundRect">
            <a:avLst>
              <a:gd name="adj" fmla="val 10000"/>
            </a:avLst>
          </a:prstGeom>
          <a:solidFill>
            <a:srgbClr val="F5EAD2"/>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B98212"/>
                </a:solidFill>
                <a:latin typeface="Calibri"/>
              </a:rPr>
              <a:t>+35%</a:t>
            </a:r>
            <a:r>
              <a:rPr lang="he-IL" sz="3600" b="1" i="0" dirty="0">
                <a:solidFill>
                  <a:srgbClr val="B98212"/>
                </a:solidFill>
                <a:latin typeface="Calibri"/>
              </a:rPr>
              <a:t> </a:t>
            </a:r>
            <a:r>
              <a:rPr sz="3600" b="1" i="0" dirty="0">
                <a:solidFill>
                  <a:srgbClr val="2E3517"/>
                </a:solidFill>
                <a:latin typeface="Calibri"/>
              </a:rPr>
              <a:t>EC gain</a:t>
            </a:r>
          </a:p>
        </p:txBody>
      </p:sp>
      <p:pic>
        <p:nvPicPr>
          <p:cNvPr id="60" name="Picture 59" descr="parity_ph.png"/>
          <p:cNvPicPr>
            <a:picLocks noChangeAspect="1"/>
          </p:cNvPicPr>
          <p:nvPr/>
        </p:nvPicPr>
        <p:blipFill>
          <a:blip r:embed="rId3"/>
          <a:stretch>
            <a:fillRect/>
          </a:stretch>
        </p:blipFill>
        <p:spPr>
          <a:xfrm>
            <a:off x="13157999" y="21960000"/>
            <a:ext cx="5472000" cy="5130000"/>
          </a:xfrm>
          <a:prstGeom prst="rect">
            <a:avLst/>
          </a:prstGeom>
        </p:spPr>
      </p:pic>
      <p:pic>
        <p:nvPicPr>
          <p:cNvPr id="61" name="Picture 60" descr="parity_ec.png"/>
          <p:cNvPicPr>
            <a:picLocks noChangeAspect="1"/>
          </p:cNvPicPr>
          <p:nvPr/>
        </p:nvPicPr>
        <p:blipFill>
          <a:blip r:embed="rId4"/>
          <a:stretch>
            <a:fillRect/>
          </a:stretch>
        </p:blipFill>
        <p:spPr>
          <a:xfrm>
            <a:off x="18810000" y="21960000"/>
            <a:ext cx="5472000" cy="5130000"/>
          </a:xfrm>
          <a:prstGeom prst="rect">
            <a:avLst/>
          </a:prstGeom>
        </p:spPr>
      </p:pic>
      <p:sp>
        <p:nvSpPr>
          <p:cNvPr id="62" name="Rounded Rectangle 61"/>
          <p:cNvSpPr/>
          <p:nvPr/>
        </p:nvSpPr>
        <p:spPr>
          <a:xfrm>
            <a:off x="12887999" y="27539998"/>
            <a:ext cx="11664000" cy="3717539"/>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13157999" y="27791999"/>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09</a:t>
            </a:r>
          </a:p>
        </p:txBody>
      </p:sp>
      <p:sp>
        <p:nvSpPr>
          <p:cNvPr id="64" name="TextBox 63"/>
          <p:cNvSpPr txBox="1"/>
          <p:nvPr/>
        </p:nvSpPr>
        <p:spPr>
          <a:xfrm>
            <a:off x="13914000" y="27782849"/>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a:solidFill>
                  <a:srgbClr val="3D4A1F"/>
                </a:solidFill>
                <a:latin typeface="+mj-lt"/>
              </a:rPr>
              <a:t>Conclusions</a:t>
            </a:r>
          </a:p>
        </p:txBody>
      </p:sp>
      <p:sp>
        <p:nvSpPr>
          <p:cNvPr id="65" name="Rectangle 64"/>
          <p:cNvSpPr/>
          <p:nvPr/>
        </p:nvSpPr>
        <p:spPr>
          <a:xfrm>
            <a:off x="13175999" y="2848319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3194000" y="28601999"/>
            <a:ext cx="11286000" cy="2559089"/>
          </a:xfrm>
          <a:prstGeom prst="rect">
            <a:avLst/>
          </a:prstGeom>
          <a:noFill/>
        </p:spPr>
        <p:txBody>
          <a:bodyPr wrap="square" lIns="36000" tIns="36000" rIns="36000" bIns="36000" anchor="t">
            <a:spAutoFit/>
          </a:bodyPr>
          <a:lstStyle/>
          <a:p>
            <a:pPr>
              <a:lnSpc>
                <a:spcPct val="106000"/>
              </a:lnSpc>
              <a:spcAft>
                <a:spcPts val="600"/>
              </a:spcAft>
            </a:pPr>
            <a:r>
              <a:rPr lang="en-US" sz="2400" dirty="0">
                <a:solidFill>
                  <a:schemeClr val="tx2">
                    <a:lumMod val="75000"/>
                  </a:schemeClr>
                </a:solidFill>
              </a:rPr>
              <a:t>▪ The model substantially improves over the last-measurement baseline (+62% pH, +35% EC MAE gain), making it useful for early drift detection.</a:t>
            </a:r>
          </a:p>
          <a:p>
            <a:pPr>
              <a:lnSpc>
                <a:spcPct val="106000"/>
              </a:lnSpc>
              <a:spcAft>
                <a:spcPts val="600"/>
              </a:spcAft>
            </a:pPr>
            <a:r>
              <a:rPr lang="en-US" sz="2400" dirty="0">
                <a:solidFill>
                  <a:schemeClr val="tx2">
                    <a:lumMod val="75000"/>
                  </a:schemeClr>
                </a:solidFill>
              </a:rPr>
              <a:t>▪ In practice, the forecast can help growers test planned irrigation/fertigation actions before applying them.</a:t>
            </a:r>
          </a:p>
          <a:p>
            <a:pPr>
              <a:lnSpc>
                <a:spcPct val="106000"/>
              </a:lnSpc>
              <a:spcAft>
                <a:spcPts val="600"/>
              </a:spcAft>
            </a:pPr>
            <a:r>
              <a:rPr lang="en-US" sz="2400" dirty="0">
                <a:solidFill>
                  <a:schemeClr val="tx2">
                    <a:lumMod val="75000"/>
                  </a:schemeClr>
                </a:solidFill>
              </a:rPr>
              <a:t>▪ The system is ready as a decision-support prototype; broader validation is needed before autonomous control.</a:t>
            </a:r>
            <a:endParaRPr sz="2400" dirty="0">
              <a:solidFill>
                <a:schemeClr val="tx2">
                  <a:lumMod val="75000"/>
                </a:schemeClr>
              </a:solidFill>
              <a:latin typeface="Calibri"/>
            </a:endParaRPr>
          </a:p>
        </p:txBody>
      </p:sp>
      <p:sp>
        <p:nvSpPr>
          <p:cNvPr id="67" name="Rounded Rectangle 66"/>
          <p:cNvSpPr/>
          <p:nvPr/>
        </p:nvSpPr>
        <p:spPr>
          <a:xfrm>
            <a:off x="12887999" y="31473536"/>
            <a:ext cx="11664000" cy="3662463"/>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8" name="Rounded Rectangle 67"/>
          <p:cNvSpPr/>
          <p:nvPr/>
        </p:nvSpPr>
        <p:spPr>
          <a:xfrm>
            <a:off x="13157999" y="31807247"/>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10</a:t>
            </a:r>
          </a:p>
        </p:txBody>
      </p:sp>
      <p:sp>
        <p:nvSpPr>
          <p:cNvPr id="69" name="TextBox 68"/>
          <p:cNvSpPr txBox="1"/>
          <p:nvPr/>
        </p:nvSpPr>
        <p:spPr>
          <a:xfrm>
            <a:off x="13914000" y="31798097"/>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Challenges &amp; Limitations</a:t>
            </a:r>
          </a:p>
        </p:txBody>
      </p:sp>
      <p:sp>
        <p:nvSpPr>
          <p:cNvPr id="70" name="Rectangle 69"/>
          <p:cNvSpPr/>
          <p:nvPr/>
        </p:nvSpPr>
        <p:spPr>
          <a:xfrm>
            <a:off x="13175999" y="3254533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13162649" y="32680957"/>
            <a:ext cx="11286000" cy="2167572"/>
          </a:xfrm>
          <a:prstGeom prst="rect">
            <a:avLst/>
          </a:prstGeom>
          <a:noFill/>
        </p:spPr>
        <p:txBody>
          <a:bodyPr wrap="square" lIns="36000" tIns="36000" rIns="36000" bIns="36000" anchor="t">
            <a:spAutoFit/>
          </a:bodyPr>
          <a:lstStyle/>
          <a:p>
            <a:pPr algn="l">
              <a:lnSpc>
                <a:spcPct val="106000"/>
              </a:lnSpc>
              <a:spcBef>
                <a:spcPts val="0"/>
              </a:spcBef>
              <a:spcAft>
                <a:spcPts val="300"/>
              </a:spcAft>
            </a:pPr>
            <a:r>
              <a:rPr sz="2400" b="1" dirty="0">
                <a:solidFill>
                  <a:schemeClr val="tx2">
                    <a:lumMod val="75000"/>
                  </a:schemeClr>
                </a:solidFill>
                <a:latin typeface="Calibri"/>
              </a:rPr>
              <a:t>▪  </a:t>
            </a:r>
            <a:r>
              <a:rPr sz="2400" b="0" dirty="0">
                <a:solidFill>
                  <a:schemeClr val="tx2">
                    <a:lumMod val="75000"/>
                  </a:schemeClr>
                </a:solidFill>
                <a:latin typeface="Calibri"/>
              </a:rPr>
              <a:t>Only 109 manual pH/EC labels against 16,682 dense sensor records.</a:t>
            </a:r>
          </a:p>
          <a:p>
            <a:pPr algn="l">
              <a:lnSpc>
                <a:spcPct val="106000"/>
              </a:lnSpc>
              <a:spcBef>
                <a:spcPts val="0"/>
              </a:spcBef>
              <a:spcAft>
                <a:spcPts val="300"/>
              </a:spcAft>
            </a:pPr>
            <a:r>
              <a:rPr sz="2400" b="1" dirty="0">
                <a:solidFill>
                  <a:schemeClr val="tx2">
                    <a:lumMod val="75000"/>
                  </a:schemeClr>
                </a:solidFill>
                <a:latin typeface="Calibri"/>
              </a:rPr>
              <a:t>▪  </a:t>
            </a:r>
            <a:r>
              <a:rPr sz="2400" b="0" dirty="0">
                <a:solidFill>
                  <a:schemeClr val="tx2">
                    <a:lumMod val="75000"/>
                  </a:schemeClr>
                </a:solidFill>
                <a:latin typeface="Calibri"/>
              </a:rPr>
              <a:t>No continuous ground-truth pH/EC between lab samples.</a:t>
            </a:r>
          </a:p>
          <a:p>
            <a:pPr algn="l">
              <a:lnSpc>
                <a:spcPct val="106000"/>
              </a:lnSpc>
              <a:spcBef>
                <a:spcPts val="0"/>
              </a:spcBef>
              <a:spcAft>
                <a:spcPts val="300"/>
              </a:spcAft>
            </a:pPr>
            <a:r>
              <a:rPr sz="2400" b="1" dirty="0">
                <a:solidFill>
                  <a:schemeClr val="tx2">
                    <a:lumMod val="75000"/>
                  </a:schemeClr>
                </a:solidFill>
                <a:latin typeface="Calibri"/>
              </a:rPr>
              <a:t>▪  </a:t>
            </a:r>
            <a:r>
              <a:rPr sz="2400" b="0" dirty="0">
                <a:solidFill>
                  <a:schemeClr val="tx2">
                    <a:lumMod val="75000"/>
                  </a:schemeClr>
                </a:solidFill>
                <a:latin typeface="Calibri"/>
              </a:rPr>
              <a:t>Irregular sampling intervals complicate interval modeling.</a:t>
            </a:r>
          </a:p>
          <a:p>
            <a:pPr algn="l">
              <a:lnSpc>
                <a:spcPct val="106000"/>
              </a:lnSpc>
              <a:spcBef>
                <a:spcPts val="0"/>
              </a:spcBef>
              <a:spcAft>
                <a:spcPts val="300"/>
              </a:spcAft>
            </a:pPr>
            <a:r>
              <a:rPr sz="2400" b="1" dirty="0">
                <a:solidFill>
                  <a:schemeClr val="tx2">
                    <a:lumMod val="75000"/>
                  </a:schemeClr>
                </a:solidFill>
                <a:latin typeface="Calibri"/>
              </a:rPr>
              <a:t>▪  </a:t>
            </a:r>
            <a:r>
              <a:rPr sz="2400" b="0" dirty="0">
                <a:solidFill>
                  <a:schemeClr val="tx2">
                    <a:lumMod val="75000"/>
                  </a:schemeClr>
                </a:solidFill>
                <a:latin typeface="Calibri"/>
              </a:rPr>
              <a:t>Higher uncertainty in rare or extreme fertigation / salinity cases.</a:t>
            </a:r>
          </a:p>
          <a:p>
            <a:pPr algn="l">
              <a:lnSpc>
                <a:spcPct val="106000"/>
              </a:lnSpc>
              <a:spcBef>
                <a:spcPts val="0"/>
              </a:spcBef>
              <a:spcAft>
                <a:spcPts val="300"/>
              </a:spcAft>
            </a:pPr>
            <a:r>
              <a:rPr sz="2400" b="1" dirty="0">
                <a:solidFill>
                  <a:schemeClr val="tx2">
                    <a:lumMod val="75000"/>
                  </a:schemeClr>
                </a:solidFill>
                <a:latin typeface="Calibri"/>
              </a:rPr>
              <a:t>▪  </a:t>
            </a:r>
            <a:r>
              <a:rPr lang="en-US" sz="2400" b="0" dirty="0">
                <a:solidFill>
                  <a:schemeClr val="tx2">
                    <a:lumMod val="75000"/>
                  </a:schemeClr>
                </a:solidFill>
                <a:latin typeface="Calibri"/>
              </a:rPr>
              <a:t>Limited generalization: single season and one crop.</a:t>
            </a:r>
          </a:p>
        </p:txBody>
      </p:sp>
      <p:pic>
        <p:nvPicPr>
          <p:cNvPr id="72" name="Picture 71" descr="download-Photoroom.png"/>
          <p:cNvPicPr>
            <a:picLocks noChangeAspect="1"/>
          </p:cNvPicPr>
          <p:nvPr/>
        </p:nvPicPr>
        <p:blipFill>
          <a:blip r:embed="rId5"/>
          <a:stretch>
            <a:fillRect/>
          </a:stretch>
        </p:blipFill>
        <p:spPr>
          <a:xfrm>
            <a:off x="503999" y="764682"/>
            <a:ext cx="2365200" cy="2375843"/>
          </a:xfrm>
          <a:prstGeom prst="rect">
            <a:avLst/>
          </a:prstGeom>
        </p:spPr>
      </p:pic>
      <p:pic>
        <p:nvPicPr>
          <p:cNvPr id="73" name="Picture 72" descr="Volcani_logo.png"/>
          <p:cNvPicPr>
            <a:picLocks noChangeAspect="1"/>
          </p:cNvPicPr>
          <p:nvPr/>
        </p:nvPicPr>
        <p:blipFill>
          <a:blip r:embed="rId6"/>
          <a:stretch>
            <a:fillRect/>
          </a:stretch>
        </p:blipFill>
        <p:spPr>
          <a:xfrm>
            <a:off x="22222800" y="764682"/>
            <a:ext cx="2467800" cy="2375997"/>
          </a:xfrm>
          <a:prstGeom prst="rect">
            <a:avLst/>
          </a:prstGeom>
        </p:spPr>
      </p:pic>
      <p:pic>
        <p:nvPicPr>
          <p:cNvPr id="75" name="Picture 74" descr="feature_importance.png"/>
          <p:cNvPicPr>
            <a:picLocks noChangeAspect="1"/>
          </p:cNvPicPr>
          <p:nvPr/>
        </p:nvPicPr>
        <p:blipFill>
          <a:blip r:embed="rId7"/>
          <a:stretch>
            <a:fillRect/>
          </a:stretch>
        </p:blipFill>
        <p:spPr>
          <a:xfrm>
            <a:off x="1674000" y="29375266"/>
            <a:ext cx="7812900" cy="5716699"/>
          </a:xfrm>
          <a:prstGeom prst="rect">
            <a:avLst/>
          </a:prstGeom>
        </p:spPr>
      </p:pic>
      <p:sp>
        <p:nvSpPr>
          <p:cNvPr id="30" name="Rounded Rectangle 44"/>
          <p:cNvSpPr/>
          <p:nvPr/>
        </p:nvSpPr>
        <p:spPr>
          <a:xfrm>
            <a:off x="12892649" y="3740325"/>
            <a:ext cx="11664000" cy="720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7" name="Rounded Rectangle 45"/>
          <p:cNvSpPr/>
          <p:nvPr/>
        </p:nvSpPr>
        <p:spPr>
          <a:xfrm>
            <a:off x="13162649" y="3992325"/>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lang="he-IL" sz="3600" b="1" i="0" dirty="0">
                <a:solidFill>
                  <a:srgbClr val="FFFFFF"/>
                </a:solidFill>
                <a:latin typeface="+mj-lt"/>
              </a:rPr>
              <a:t>06</a:t>
            </a:r>
            <a:endParaRPr sz="3600" b="1" i="0" dirty="0">
              <a:solidFill>
                <a:srgbClr val="FFFFFF"/>
              </a:solidFill>
              <a:latin typeface="+mj-lt"/>
            </a:endParaRPr>
          </a:p>
        </p:txBody>
      </p:sp>
      <p:sp>
        <p:nvSpPr>
          <p:cNvPr id="74" name="TextBox 46"/>
          <p:cNvSpPr txBox="1"/>
          <p:nvPr/>
        </p:nvSpPr>
        <p:spPr>
          <a:xfrm>
            <a:off x="13918650" y="3983175"/>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Validation Strategy</a:t>
            </a:r>
          </a:p>
        </p:txBody>
      </p:sp>
      <p:sp>
        <p:nvSpPr>
          <p:cNvPr id="77" name="Rectangle 47"/>
          <p:cNvSpPr/>
          <p:nvPr/>
        </p:nvSpPr>
        <p:spPr>
          <a:xfrm>
            <a:off x="13180649" y="4683525"/>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48"/>
          <p:cNvSpPr txBox="1"/>
          <p:nvPr/>
        </p:nvSpPr>
        <p:spPr>
          <a:xfrm>
            <a:off x="13198650" y="4802325"/>
            <a:ext cx="11052000" cy="1711934"/>
          </a:xfrm>
          <a:prstGeom prst="rect">
            <a:avLst/>
          </a:prstGeom>
          <a:noFill/>
        </p:spPr>
        <p:txBody>
          <a:bodyPr wrap="square" lIns="36000" tIns="36000" rIns="36000" bIns="36000" anchor="t">
            <a:spAutoFit/>
          </a:bodyPr>
          <a:lstStyle/>
          <a:p>
            <a:pPr>
              <a:lnSpc>
                <a:spcPct val="106000"/>
              </a:lnSpc>
              <a:spcAft>
                <a:spcPts val="700"/>
              </a:spcAft>
            </a:pPr>
            <a:r>
              <a:rPr lang="en-US" sz="2400" dirty="0">
                <a:solidFill>
                  <a:schemeClr val="tx2">
                    <a:lumMod val="75000"/>
                  </a:schemeClr>
                </a:solidFill>
              </a:rPr>
              <a:t>▪ Walk-forward validation matches deployment: future pH/EC is predicted from past labels, forecasted climate and planned irrigation/fertigation.</a:t>
            </a:r>
          </a:p>
          <a:p>
            <a:pPr>
              <a:lnSpc>
                <a:spcPct val="106000"/>
              </a:lnSpc>
              <a:spcAft>
                <a:spcPts val="700"/>
              </a:spcAft>
            </a:pPr>
            <a:r>
              <a:rPr lang="en-US" sz="2400" dirty="0">
                <a:solidFill>
                  <a:schemeClr val="tx2">
                    <a:lumMod val="75000"/>
                  </a:schemeClr>
                </a:solidFill>
              </a:rPr>
              <a:t>▪ Future pH/EC labels are never used for training until after that sample becomes available.</a:t>
            </a:r>
            <a:endParaRPr sz="2400" i="0" dirty="0">
              <a:solidFill>
                <a:schemeClr val="tx2">
                  <a:lumMod val="75000"/>
                </a:schemeClr>
              </a:solidFill>
            </a:endParaRPr>
          </a:p>
        </p:txBody>
      </p:sp>
      <p:pic>
        <p:nvPicPr>
          <p:cNvPr id="79" name="Picture 75" descr="walkforward.png"/>
          <p:cNvPicPr>
            <a:picLocks noChangeAspect="1"/>
          </p:cNvPicPr>
          <p:nvPr/>
        </p:nvPicPr>
        <p:blipFill>
          <a:blip r:embed="rId8"/>
          <a:stretch>
            <a:fillRect/>
          </a:stretch>
        </p:blipFill>
        <p:spPr>
          <a:xfrm>
            <a:off x="14948999" y="6303541"/>
            <a:ext cx="7582755" cy="4623963"/>
          </a:xfrm>
          <a:prstGeom prst="rect">
            <a:avLst/>
          </a:prstGeom>
        </p:spPr>
      </p:pic>
      <p:sp>
        <p:nvSpPr>
          <p:cNvPr id="36" name="TextBox 28">
            <a:extLst>
              <a:ext uri="{FF2B5EF4-FFF2-40B4-BE49-F238E27FC236}">
                <a16:creationId xmlns:a16="http://schemas.microsoft.com/office/drawing/2014/main" id="{D7029A2C-F3E0-AE8F-8357-D486234A18DE}"/>
              </a:ext>
            </a:extLst>
          </p:cNvPr>
          <p:cNvSpPr txBox="1"/>
          <p:nvPr/>
        </p:nvSpPr>
        <p:spPr>
          <a:xfrm>
            <a:off x="936000" y="25941599"/>
            <a:ext cx="11052000" cy="447614"/>
          </a:xfrm>
          <a:prstGeom prst="rect">
            <a:avLst/>
          </a:prstGeom>
          <a:noFill/>
        </p:spPr>
        <p:txBody>
          <a:bodyPr wrap="square" lIns="36000" tIns="36000" rIns="36000" bIns="36000" anchor="t">
            <a:spAutoFit/>
          </a:bodyPr>
          <a:lstStyle/>
          <a:p>
            <a:pPr>
              <a:lnSpc>
                <a:spcPct val="106000"/>
              </a:lnSpc>
              <a:spcAft>
                <a:spcPts val="600"/>
              </a:spcAft>
            </a:pPr>
            <a:r>
              <a:rPr lang="en-US" sz="2400" b="1" dirty="0">
                <a:solidFill>
                  <a:schemeClr val="tx2">
                    <a:lumMod val="75000"/>
                  </a:schemeClr>
                </a:solidFill>
              </a:rPr>
              <a:t>Hybrid model choice: </a:t>
            </a:r>
            <a:r>
              <a:rPr lang="en-US" sz="2400" dirty="0">
                <a:solidFill>
                  <a:schemeClr val="tx2">
                    <a:lumMod val="75000"/>
                  </a:schemeClr>
                </a:solidFill>
              </a:rPr>
              <a:t>nonlinear learning + robust modeling of rare extreme intervals.</a:t>
            </a:r>
          </a:p>
        </p:txBody>
      </p:sp>
      <p:pic>
        <p:nvPicPr>
          <p:cNvPr id="46" name="תמונה 45">
            <a:extLst>
              <a:ext uri="{FF2B5EF4-FFF2-40B4-BE49-F238E27FC236}">
                <a16:creationId xmlns:a16="http://schemas.microsoft.com/office/drawing/2014/main" id="{0DE69F8B-B277-BF13-55D1-24DFA47E42EE}"/>
              </a:ext>
            </a:extLst>
          </p:cNvPr>
          <p:cNvPicPr>
            <a:picLocks noChangeAspect="1"/>
          </p:cNvPicPr>
          <p:nvPr/>
        </p:nvPicPr>
        <p:blipFill>
          <a:blip r:embed="rId9"/>
          <a:stretch>
            <a:fillRect/>
          </a:stretch>
        </p:blipFill>
        <p:spPr>
          <a:xfrm>
            <a:off x="2249002" y="19785009"/>
            <a:ext cx="8245995" cy="4727704"/>
          </a:xfrm>
          <a:prstGeom prst="rect">
            <a:avLst/>
          </a:prstGeom>
        </p:spPr>
      </p:pic>
    </p:spTree>
    <p:extLst>
      <p:ext uri="{BB962C8B-B14F-4D97-AF65-F5344CB8AC3E}">
        <p14:creationId xmlns:p14="http://schemas.microsoft.com/office/powerpoint/2010/main" val="1587688478"/>
      </p:ext>
    </p:extLst>
  </p:cSld>
  <p:clrMapOvr>
    <a:masterClrMapping/>
  </p:clrMapOvr>
</p:sld>
</file>

<file path=ppt/theme/theme1.xml><?xml version="1.0" encoding="utf-8"?>
<a:theme xmlns:a="http://schemas.openxmlformats.org/drawingml/2006/main" name="PosterPresentations.com-70CMx100CM">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Quick Guide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Classic - Wide Cent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PosterPresentations.com-70CMx100CM</Template>
  <TotalTime>239</TotalTime>
  <Words>569</Words>
  <Application>Microsoft Office PowerPoint</Application>
  <PresentationFormat>מותאם אישית</PresentationFormat>
  <Paragraphs>69</Paragraphs>
  <Slides>1</Slides>
  <Notes>0</Notes>
  <HiddenSlides>0</HiddenSlides>
  <MMClips>0</MMClips>
  <ScaleCrop>false</ScaleCrop>
  <HeadingPairs>
    <vt:vector size="6" baseType="variant">
      <vt:variant>
        <vt:lpstr>גופנים בשימוש</vt:lpstr>
      </vt:variant>
      <vt:variant>
        <vt:i4>6</vt:i4>
      </vt:variant>
      <vt:variant>
        <vt:lpstr>ערכת נושא</vt:lpstr>
      </vt:variant>
      <vt:variant>
        <vt:i4>3</vt:i4>
      </vt:variant>
      <vt:variant>
        <vt:lpstr>כותרות שקופיות</vt:lpstr>
      </vt:variant>
      <vt:variant>
        <vt:i4>1</vt:i4>
      </vt:variant>
    </vt:vector>
  </HeadingPairs>
  <TitlesOfParts>
    <vt:vector size="10" baseType="lpstr">
      <vt:lpstr>Arial</vt:lpstr>
      <vt:lpstr>Arial Black</vt:lpstr>
      <vt:lpstr>Calibri</vt:lpstr>
      <vt:lpstr>Cambria</vt:lpstr>
      <vt:lpstr>Times New Roman</vt:lpstr>
      <vt:lpstr>Trebuchet MS</vt:lpstr>
      <vt:lpstr>PosterPresentations.com-70CMx100CM</vt:lpstr>
      <vt:lpstr>Without Quick Guides</vt:lpstr>
      <vt:lpstr>Classic - Wide Center</vt:lpstr>
      <vt:lpstr>מצגת של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עדן אליהו</cp:lastModifiedBy>
  <cp:revision>67</cp:revision>
  <dcterms:created xsi:type="dcterms:W3CDTF">2012-02-10T00:10:15Z</dcterms:created>
  <dcterms:modified xsi:type="dcterms:W3CDTF">2026-06-09T17:23:11Z</dcterms:modified>
</cp:coreProperties>
</file>