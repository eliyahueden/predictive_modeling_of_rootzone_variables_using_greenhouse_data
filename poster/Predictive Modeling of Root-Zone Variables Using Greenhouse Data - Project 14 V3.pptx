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p:scale>
          <a:sx n="33" d="100"/>
          <a:sy n="33" d="100"/>
        </p:scale>
        <p:origin x="1478" y="19"/>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6/6/2026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0000" y="404682"/>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40000" y="1007501"/>
            <a:ext cx="18720000" cy="1734697"/>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5400" b="1" i="0" dirty="0">
                <a:solidFill>
                  <a:srgbClr val="3D4A1F"/>
                </a:solidFill>
                <a:latin typeface="Cambria"/>
              </a:rPr>
              <a:t>Predictive Modeling of Root-Zone Variables
Using Greenhouse Data</a:t>
            </a:r>
          </a:p>
        </p:txBody>
      </p:sp>
      <p:sp>
        <p:nvSpPr>
          <p:cNvPr id="4" name="TextBox 3"/>
          <p:cNvSpPr txBox="1"/>
          <p:nvPr/>
        </p:nvSpPr>
        <p:spPr>
          <a:xfrm>
            <a:off x="3240000" y="2860041"/>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596019" y="2860040"/>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40000" y="3600000"/>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8000" y="374399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17999" y="399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74000" y="3986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36000" y="46618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54000" y="4774749"/>
            <a:ext cx="11087999" cy="253344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controls nutrient availability; EC (electrical conductivity) reflects salinity and fertilizer load.</a:t>
            </a:r>
          </a:p>
          <a:p>
            <a:pPr>
              <a:lnSpc>
                <a:spcPct val="106000"/>
              </a:lnSpc>
              <a:spcAft>
                <a:spcPts val="500"/>
              </a:spcAft>
            </a:pPr>
            <a:r>
              <a:rPr lang="en-US" sz="2400" dirty="0">
                <a:solidFill>
                  <a:schemeClr val="tx2">
                    <a:lumMod val="75000"/>
                  </a:schemeClr>
                </a:solidFill>
              </a:rPr>
              <a:t>Manual lab samples are accurate but sparse, creating blind gaps between measurements.</a:t>
            </a:r>
          </a:p>
          <a:p>
            <a:pPr>
              <a:lnSpc>
                <a:spcPct val="106000"/>
              </a:lnSpc>
              <a:spcAft>
                <a:spcPts val="500"/>
              </a:spcAft>
            </a:pPr>
            <a:r>
              <a:rPr lang="en-US" sz="2400" dirty="0">
                <a:solidFill>
                  <a:schemeClr val="tx2">
                    <a:lumMod val="75000"/>
                  </a:schemeClr>
                </a:solidFill>
              </a:rPr>
              <a:t>A soft sensor can forecast pH and EC between lab samples, helping growers detect drift earlier and adjust irrigation/fertigation decisions.</a:t>
            </a:r>
            <a:endParaRPr sz="2400" dirty="0">
              <a:solidFill>
                <a:schemeClr val="tx2">
                  <a:lumMod val="75000"/>
                </a:schemeClr>
              </a:solidFill>
              <a:latin typeface="Calibri"/>
            </a:endParaRPr>
          </a:p>
        </p:txBody>
      </p:sp>
      <p:sp>
        <p:nvSpPr>
          <p:cNvPr id="12" name="Rounded Rectangle 11"/>
          <p:cNvSpPr/>
          <p:nvPr/>
        </p:nvSpPr>
        <p:spPr>
          <a:xfrm>
            <a:off x="648000" y="7820925"/>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17999" y="805650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74000" y="804735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36000" y="872230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999" y="8826287"/>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Predict future root-zone pH and EC from the latest lab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endParaRPr sz="2400" dirty="0">
              <a:solidFill>
                <a:schemeClr val="tx2">
                  <a:lumMod val="75000"/>
                </a:schemeClr>
              </a:solidFill>
              <a:latin typeface="Calibri"/>
            </a:endParaRPr>
          </a:p>
        </p:txBody>
      </p:sp>
      <p:sp>
        <p:nvSpPr>
          <p:cNvPr id="17" name="Rounded Rectangle 16"/>
          <p:cNvSpPr/>
          <p:nvPr/>
        </p:nvSpPr>
        <p:spPr>
          <a:xfrm>
            <a:off x="648000" y="11880000"/>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7999" y="1213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74000" y="12122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36000" y="128232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4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16,682</a:t>
            </a:r>
          </a:p>
          <a:p>
            <a:pPr algn="ctr">
              <a:lnSpc>
                <a:spcPct val="95000"/>
              </a:lnSpc>
              <a:spcBef>
                <a:spcPts val="200"/>
              </a:spcBef>
              <a:spcAft>
                <a:spcPts val="0"/>
              </a:spcAft>
            </a:pPr>
            <a:r>
              <a:rPr sz="2400" b="1" i="0" dirty="0">
                <a:solidFill>
                  <a:srgbClr val="2E3517"/>
                </a:solidFill>
                <a:latin typeface="Calibri"/>
              </a:rPr>
              <a:t>10-min rows</a:t>
            </a:r>
          </a:p>
        </p:txBody>
      </p:sp>
      <p:sp>
        <p:nvSpPr>
          <p:cNvPr id="22" name="Rounded Rectangle 21"/>
          <p:cNvSpPr/>
          <p:nvPr/>
        </p:nvSpPr>
        <p:spPr>
          <a:xfrm>
            <a:off x="4698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109</a:t>
            </a:r>
          </a:p>
          <a:p>
            <a:pPr algn="ctr">
              <a:lnSpc>
                <a:spcPct val="95000"/>
              </a:lnSpc>
              <a:spcBef>
                <a:spcPts val="200"/>
              </a:spcBef>
              <a:spcAft>
                <a:spcPts val="0"/>
              </a:spcAft>
            </a:pPr>
            <a:r>
              <a:rPr sz="2400" b="1" i="0" dirty="0">
                <a:solidFill>
                  <a:srgbClr val="2E3517"/>
                </a:solidFill>
                <a:latin typeface="Calibri"/>
              </a:rPr>
              <a:t>pH / EC labels</a:t>
            </a:r>
          </a:p>
        </p:txBody>
      </p:sp>
      <p:sp>
        <p:nvSpPr>
          <p:cNvPr id="23" name="Rounded Rectangle 22"/>
          <p:cNvSpPr/>
          <p:nvPr/>
        </p:nvSpPr>
        <p:spPr>
          <a:xfrm>
            <a:off x="8442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400" b="1" dirty="0">
                <a:solidFill>
                  <a:srgbClr val="3D4A1F"/>
                </a:solidFill>
                <a:latin typeface="+mj-lt"/>
              </a:rPr>
              <a:t>+</a:t>
            </a:r>
            <a:r>
              <a:rPr lang="he-IL" sz="4400" b="1" i="0" dirty="0">
                <a:solidFill>
                  <a:srgbClr val="3D4A1F"/>
                </a:solidFill>
                <a:latin typeface="+mj-lt"/>
              </a:rPr>
              <a:t>20</a:t>
            </a:r>
            <a:endParaRPr sz="4400" b="1" i="0" dirty="0">
              <a:solidFill>
                <a:srgbClr val="3D4A1F"/>
              </a:solidFill>
              <a:latin typeface="+mj-lt"/>
            </a:endParaRPr>
          </a:p>
          <a:p>
            <a:pPr algn="ctr">
              <a:lnSpc>
                <a:spcPct val="95000"/>
              </a:lnSpc>
              <a:spcBef>
                <a:spcPts val="200"/>
              </a:spcBef>
              <a:spcAft>
                <a:spcPts val="0"/>
              </a:spcAft>
            </a:pPr>
            <a:r>
              <a:rPr sz="2400" b="1" i="0" dirty="0">
                <a:solidFill>
                  <a:srgbClr val="2E3517"/>
                </a:solidFill>
                <a:latin typeface="Calibri"/>
              </a:rPr>
              <a:t>input features</a:t>
            </a:r>
          </a:p>
        </p:txBody>
      </p:sp>
      <p:sp>
        <p:nvSpPr>
          <p:cNvPr id="24" name="TextBox 23"/>
          <p:cNvSpPr txBox="1"/>
          <p:nvPr/>
        </p:nvSpPr>
        <p:spPr>
          <a:xfrm>
            <a:off x="954000" y="14387079"/>
            <a:ext cx="11160000" cy="2456497"/>
          </a:xfrm>
          <a:prstGeom prst="rect">
            <a:avLst/>
          </a:prstGeom>
          <a:noFill/>
        </p:spPr>
        <p:txBody>
          <a:bodyPr wrap="square" lIns="36000" tIns="36000" rIns="36000" bIns="36000" anchor="t">
            <a:spAutoFit/>
          </a:bodyPr>
          <a:lstStyle/>
          <a:p>
            <a:pPr>
              <a:lnSpc>
                <a:spcPct val="106000"/>
              </a:lnSpc>
              <a:spcAft>
                <a:spcPts val="400"/>
              </a:spcAft>
            </a:pPr>
            <a:r>
              <a:rPr lang="he-IL" sz="2400" b="1" dirty="0">
                <a:solidFill>
                  <a:srgbClr val="5E6E2E"/>
                </a:solidFill>
              </a:rPr>
              <a:t>▪</a:t>
            </a:r>
            <a:r>
              <a:rPr lang="en-US" sz="2400" dirty="0">
                <a:solidFill>
                  <a:schemeClr val="tx2">
                    <a:lumMod val="75000"/>
                  </a:schemeClr>
                </a:solidFill>
              </a:rPr>
              <a:t> Unified 10-minute master dataset · May 29 – 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External weather &amp; solar radiation.</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Greenhouse micro-climate.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Irrigation &amp; fertigation.</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Crop-state features.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Manual laboratory pH &amp; EC measurements.</a:t>
            </a:r>
            <a:endParaRPr sz="2400" b="0" dirty="0">
              <a:solidFill>
                <a:schemeClr val="tx2">
                  <a:lumMod val="75000"/>
                </a:schemeClr>
              </a:solidFill>
              <a:latin typeface="Calibri"/>
            </a:endParaRPr>
          </a:p>
        </p:txBody>
      </p:sp>
      <p:sp>
        <p:nvSpPr>
          <p:cNvPr id="25" name="Rounded Rectangle 24"/>
          <p:cNvSpPr/>
          <p:nvPr/>
        </p:nvSpPr>
        <p:spPr>
          <a:xfrm>
            <a:off x="648000" y="1735379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17999" y="176058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74000" y="175966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36000" y="182969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4000" y="18415800"/>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48000" y="24767999"/>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7999" y="25019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74000" y="25010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36000" y="25711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4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nonlinear model for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588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a:t>
            </a:r>
          </a:p>
          <a:p>
            <a:pPr>
              <a:lnSpc>
                <a:spcPct val="104000"/>
              </a:lnSpc>
            </a:pPr>
            <a:r>
              <a:rPr lang="en-US" sz="2400" dirty="0">
                <a:solidFill>
                  <a:srgbClr val="2E3517"/>
                </a:solidFill>
              </a:rPr>
              <a:t>Reduces sensitivity to outliers caused by acid injection, fertigation and salinity events.</a:t>
            </a:r>
            <a:endParaRPr lang="en-US" sz="2400" b="0" dirty="0">
              <a:solidFill>
                <a:srgbClr val="2E3517"/>
              </a:solidFill>
              <a:latin typeface="Calibri"/>
            </a:endParaRPr>
          </a:p>
        </p:txBody>
      </p:sp>
      <p:sp>
        <p:nvSpPr>
          <p:cNvPr id="39" name="Rounded Rectangle 38"/>
          <p:cNvSpPr/>
          <p:nvPr/>
        </p:nvSpPr>
        <p:spPr>
          <a:xfrm>
            <a:off x="12887999" y="11148100"/>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57999" y="114001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14000" y="113909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75999" y="120913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194000" y="12210100"/>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16539" y="13542892"/>
            <a:ext cx="8754968" cy="5338780"/>
          </a:xfrm>
          <a:prstGeom prst="rect">
            <a:avLst/>
          </a:prstGeom>
        </p:spPr>
      </p:pic>
      <p:sp>
        <p:nvSpPr>
          <p:cNvPr id="50" name="Rounded Rectangle 49"/>
          <p:cNvSpPr/>
          <p:nvPr/>
        </p:nvSpPr>
        <p:spPr>
          <a:xfrm>
            <a:off x="12887999" y="19223999"/>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57999" y="1947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14000" y="19466849"/>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75999" y="20167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3194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3D4A1F"/>
                </a:solidFill>
                <a:latin typeface="Calibri"/>
              </a:rPr>
              <a:t>0.33</a:t>
            </a:r>
          </a:p>
          <a:p>
            <a:pPr algn="ctr">
              <a:lnSpc>
                <a:spcPct val="95000"/>
              </a:lnSpc>
              <a:spcBef>
                <a:spcPts val="100"/>
              </a:spcBef>
              <a:spcAft>
                <a:spcPts val="0"/>
              </a:spcAft>
            </a:pPr>
            <a:r>
              <a:rPr sz="1700" b="1" i="0" dirty="0">
                <a:solidFill>
                  <a:srgbClr val="2E3517"/>
                </a:solidFill>
                <a:latin typeface="Calibri"/>
              </a:rPr>
              <a:t>pH MAE</a:t>
            </a:r>
          </a:p>
        </p:txBody>
      </p:sp>
      <p:sp>
        <p:nvSpPr>
          <p:cNvPr id="55" name="Rounded Rectangle 54"/>
          <p:cNvSpPr/>
          <p:nvPr/>
        </p:nvSpPr>
        <p:spPr>
          <a:xfrm>
            <a:off x="16938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3D4A1F"/>
                </a:solidFill>
                <a:latin typeface="Calibri"/>
              </a:rPr>
              <a:t>0.93</a:t>
            </a:r>
          </a:p>
          <a:p>
            <a:pPr algn="ctr">
              <a:lnSpc>
                <a:spcPct val="95000"/>
              </a:lnSpc>
              <a:spcBef>
                <a:spcPts val="100"/>
              </a:spcBef>
              <a:spcAft>
                <a:spcPts val="0"/>
              </a:spcAft>
            </a:pPr>
            <a:r>
              <a:rPr sz="1700" b="1" i="0" dirty="0">
                <a:solidFill>
                  <a:srgbClr val="2E3517"/>
                </a:solidFill>
                <a:latin typeface="Calibri"/>
              </a:rPr>
              <a:t>pH R²</a:t>
            </a:r>
          </a:p>
        </p:txBody>
      </p:sp>
      <p:sp>
        <p:nvSpPr>
          <p:cNvPr id="56" name="Rounded Rectangle 55"/>
          <p:cNvSpPr/>
          <p:nvPr/>
        </p:nvSpPr>
        <p:spPr>
          <a:xfrm>
            <a:off x="20682000" y="20268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B98212"/>
                </a:solidFill>
                <a:latin typeface="Calibri"/>
              </a:rPr>
              <a:t>+62%</a:t>
            </a:r>
          </a:p>
          <a:p>
            <a:pPr algn="ctr">
              <a:lnSpc>
                <a:spcPct val="95000"/>
              </a:lnSpc>
              <a:spcBef>
                <a:spcPts val="100"/>
              </a:spcBef>
              <a:spcAft>
                <a:spcPts val="0"/>
              </a:spcAft>
            </a:pPr>
            <a:r>
              <a:rPr sz="1700" b="1" i="0" dirty="0">
                <a:solidFill>
                  <a:srgbClr val="2E3517"/>
                </a:solidFill>
                <a:latin typeface="Calibri"/>
              </a:rPr>
              <a:t>pH MAE gain</a:t>
            </a:r>
          </a:p>
        </p:txBody>
      </p:sp>
      <p:sp>
        <p:nvSpPr>
          <p:cNvPr id="57" name="Rounded Rectangle 56"/>
          <p:cNvSpPr/>
          <p:nvPr/>
        </p:nvSpPr>
        <p:spPr>
          <a:xfrm>
            <a:off x="13194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3D4A1F"/>
                </a:solidFill>
                <a:latin typeface="Calibri"/>
              </a:rPr>
              <a:t>0.127</a:t>
            </a:r>
          </a:p>
          <a:p>
            <a:pPr algn="ctr">
              <a:lnSpc>
                <a:spcPct val="95000"/>
              </a:lnSpc>
              <a:spcBef>
                <a:spcPts val="100"/>
              </a:spcBef>
              <a:spcAft>
                <a:spcPts val="0"/>
              </a:spcAft>
            </a:pPr>
            <a:r>
              <a:rPr sz="1700" b="1" i="0" dirty="0">
                <a:solidFill>
                  <a:srgbClr val="2E3517"/>
                </a:solidFill>
                <a:latin typeface="Calibri"/>
              </a:rPr>
              <a:t>EC MAE</a:t>
            </a:r>
          </a:p>
        </p:txBody>
      </p:sp>
      <p:sp>
        <p:nvSpPr>
          <p:cNvPr id="58" name="Rounded Rectangle 57"/>
          <p:cNvSpPr/>
          <p:nvPr/>
        </p:nvSpPr>
        <p:spPr>
          <a:xfrm>
            <a:off x="16938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3D4A1F"/>
                </a:solidFill>
                <a:latin typeface="Calibri"/>
              </a:rPr>
              <a:t>0.98</a:t>
            </a:r>
          </a:p>
          <a:p>
            <a:pPr algn="ctr">
              <a:lnSpc>
                <a:spcPct val="95000"/>
              </a:lnSpc>
              <a:spcBef>
                <a:spcPts val="100"/>
              </a:spcBef>
              <a:spcAft>
                <a:spcPts val="0"/>
              </a:spcAft>
            </a:pPr>
            <a:r>
              <a:rPr sz="1700" b="1" i="0" dirty="0">
                <a:solidFill>
                  <a:srgbClr val="2E3517"/>
                </a:solidFill>
                <a:latin typeface="Calibri"/>
              </a:rPr>
              <a:t>EC R²</a:t>
            </a:r>
          </a:p>
        </p:txBody>
      </p:sp>
      <p:sp>
        <p:nvSpPr>
          <p:cNvPr id="59" name="Rounded Rectangle 58"/>
          <p:cNvSpPr/>
          <p:nvPr/>
        </p:nvSpPr>
        <p:spPr>
          <a:xfrm>
            <a:off x="20682000" y="21096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3300" b="1" i="0" dirty="0">
                <a:solidFill>
                  <a:srgbClr val="B98212"/>
                </a:solidFill>
                <a:latin typeface="Calibri"/>
              </a:rPr>
              <a:t>+35%</a:t>
            </a:r>
          </a:p>
          <a:p>
            <a:pPr algn="ctr">
              <a:lnSpc>
                <a:spcPct val="95000"/>
              </a:lnSpc>
              <a:spcBef>
                <a:spcPts val="100"/>
              </a:spcBef>
              <a:spcAft>
                <a:spcPts val="0"/>
              </a:spcAft>
            </a:pPr>
            <a:r>
              <a:rPr sz="1700" b="1" i="0" dirty="0">
                <a:solidFill>
                  <a:srgbClr val="2E3517"/>
                </a:solidFill>
                <a:latin typeface="Calibri"/>
              </a:rPr>
              <a:t>EC MAE gain</a:t>
            </a:r>
          </a:p>
        </p:txBody>
      </p:sp>
      <p:pic>
        <p:nvPicPr>
          <p:cNvPr id="60" name="Picture 59" descr="parity_ph.png"/>
          <p:cNvPicPr>
            <a:picLocks noChangeAspect="1"/>
          </p:cNvPicPr>
          <p:nvPr/>
        </p:nvPicPr>
        <p:blipFill>
          <a:blip r:embed="rId3"/>
          <a:stretch>
            <a:fillRect/>
          </a:stretch>
        </p:blipFill>
        <p:spPr>
          <a:xfrm>
            <a:off x="13157999" y="21960000"/>
            <a:ext cx="5472000" cy="5130000"/>
          </a:xfrm>
          <a:prstGeom prst="rect">
            <a:avLst/>
          </a:prstGeom>
        </p:spPr>
      </p:pic>
      <p:pic>
        <p:nvPicPr>
          <p:cNvPr id="61" name="Picture 60" descr="parity_ec.png"/>
          <p:cNvPicPr>
            <a:picLocks noChangeAspect="1"/>
          </p:cNvPicPr>
          <p:nvPr/>
        </p:nvPicPr>
        <p:blipFill>
          <a:blip r:embed="rId4"/>
          <a:stretch>
            <a:fillRect/>
          </a:stretch>
        </p:blipFill>
        <p:spPr>
          <a:xfrm>
            <a:off x="18810000" y="21960000"/>
            <a:ext cx="5472000" cy="5130000"/>
          </a:xfrm>
          <a:prstGeom prst="rect">
            <a:avLst/>
          </a:prstGeom>
        </p:spPr>
      </p:pic>
      <p:sp>
        <p:nvSpPr>
          <p:cNvPr id="62" name="Rounded Rectangle 61"/>
          <p:cNvSpPr/>
          <p:nvPr/>
        </p:nvSpPr>
        <p:spPr>
          <a:xfrm>
            <a:off x="12887999" y="27539998"/>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57999" y="2779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14000" y="27782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75999" y="28483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194000" y="28601999"/>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The model substantially improves over the last-measurement baseline (+62% pH, +35% EC MAE gain), making it useful for early drift detection.</a:t>
            </a:r>
          </a:p>
          <a:p>
            <a:pPr>
              <a:lnSpc>
                <a:spcPct val="106000"/>
              </a:lnSpc>
              <a:spcAft>
                <a:spcPts val="600"/>
              </a:spcAft>
            </a:pPr>
            <a:r>
              <a:rPr lang="en-US" sz="2400" dirty="0">
                <a:solidFill>
                  <a:schemeClr val="tx2">
                    <a:lumMod val="75000"/>
                  </a:schemeClr>
                </a:solidFill>
              </a:rPr>
              <a:t>▪ In practice, the forecast can help growers test planned irrigation/fertigation actions before applying them.</a:t>
            </a:r>
          </a:p>
          <a:p>
            <a:pPr>
              <a:lnSpc>
                <a:spcPct val="106000"/>
              </a:lnSpc>
              <a:spcAft>
                <a:spcPts val="600"/>
              </a:spcAft>
            </a:pPr>
            <a:r>
              <a:rPr lang="en-US" sz="2400" dirty="0">
                <a:solidFill>
                  <a:schemeClr val="tx2">
                    <a:lumMod val="75000"/>
                  </a:schemeClr>
                </a:solidFill>
              </a:rPr>
              <a:t>▪ The system is ready as a decision-support prototype; broader validation is needed before autonomous control.</a:t>
            </a:r>
            <a:endParaRPr sz="2400" dirty="0">
              <a:solidFill>
                <a:schemeClr val="tx2">
                  <a:lumMod val="75000"/>
                </a:schemeClr>
              </a:solidFill>
              <a:latin typeface="Calibri"/>
            </a:endParaRPr>
          </a:p>
        </p:txBody>
      </p:sp>
      <p:sp>
        <p:nvSpPr>
          <p:cNvPr id="67" name="Rounded Rectangle 66"/>
          <p:cNvSpPr/>
          <p:nvPr/>
        </p:nvSpPr>
        <p:spPr>
          <a:xfrm>
            <a:off x="12887999" y="31473536"/>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57999" y="31807247"/>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14000" y="31798097"/>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75999" y="3254533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62649" y="32680957"/>
            <a:ext cx="11286000" cy="2167572"/>
          </a:xfrm>
          <a:prstGeom prst="rect">
            <a:avLst/>
          </a:prstGeom>
          <a:noFill/>
        </p:spPr>
        <p:txBody>
          <a:bodyPr wrap="square" lIns="36000" tIns="36000" rIns="36000" bIns="36000" anchor="t">
            <a:spAutoFit/>
          </a:bodyPr>
          <a:lstStyle/>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Only 109 manual pH/EC labels against 16,682 dense sensor records.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No continuous ground-truth pH/EC between lab samples.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Irregular sampling intervals complicate interval modeling.</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Higher uncertainty in rare or extreme fertigation / salinity cases.</a:t>
            </a:r>
          </a:p>
          <a:p>
            <a:pPr algn="l">
              <a:lnSpc>
                <a:spcPct val="106000"/>
              </a:lnSpc>
              <a:spcBef>
                <a:spcPts val="0"/>
              </a:spcBef>
              <a:spcAft>
                <a:spcPts val="300"/>
              </a:spcAft>
            </a:pPr>
            <a:r>
              <a:rPr sz="2400" b="1" dirty="0">
                <a:solidFill>
                  <a:schemeClr val="tx2">
                    <a:lumMod val="75000"/>
                  </a:schemeClr>
                </a:solidFill>
                <a:latin typeface="Calibri"/>
              </a:rPr>
              <a:t>▪  </a:t>
            </a:r>
            <a:r>
              <a:rPr lang="en-US" sz="2400" b="0" dirty="0">
                <a:solidFill>
                  <a:schemeClr val="tx2">
                    <a:lumMod val="75000"/>
                  </a:schemeClr>
                </a:solidFill>
                <a:latin typeface="Calibri"/>
              </a:rPr>
              <a:t>Limited generalization: single season and one crop.</a:t>
            </a:r>
          </a:p>
        </p:txBody>
      </p:sp>
      <p:pic>
        <p:nvPicPr>
          <p:cNvPr id="72" name="Picture 71" descr="download-Photoroom.png"/>
          <p:cNvPicPr>
            <a:picLocks noChangeAspect="1"/>
          </p:cNvPicPr>
          <p:nvPr/>
        </p:nvPicPr>
        <p:blipFill>
          <a:blip r:embed="rId5"/>
          <a:stretch>
            <a:fillRect/>
          </a:stretch>
        </p:blipFill>
        <p:spPr>
          <a:xfrm>
            <a:off x="503999" y="764682"/>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22800" y="764682"/>
            <a:ext cx="2467800" cy="2375997"/>
          </a:xfrm>
          <a:prstGeom prst="rect">
            <a:avLst/>
          </a:prstGeom>
        </p:spPr>
      </p:pic>
      <p:pic>
        <p:nvPicPr>
          <p:cNvPr id="75" name="Picture 74" descr="feature_importance.png"/>
          <p:cNvPicPr>
            <a:picLocks noChangeAspect="1"/>
          </p:cNvPicPr>
          <p:nvPr/>
        </p:nvPicPr>
        <p:blipFill>
          <a:blip r:embed="rId7"/>
          <a:stretch>
            <a:fillRect/>
          </a:stretch>
        </p:blipFill>
        <p:spPr>
          <a:xfrm>
            <a:off x="2411036" y="29483789"/>
            <a:ext cx="7363906" cy="5388170"/>
          </a:xfrm>
          <a:prstGeom prst="rect">
            <a:avLst/>
          </a:prstGeom>
        </p:spPr>
      </p:pic>
      <p:sp>
        <p:nvSpPr>
          <p:cNvPr id="30" name="Rounded Rectangle 44"/>
          <p:cNvSpPr/>
          <p:nvPr/>
        </p:nvSpPr>
        <p:spPr>
          <a:xfrm>
            <a:off x="12892649" y="3740325"/>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62649" y="399232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18650" y="398317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80649" y="468352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198650" y="4802325"/>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8"/>
          <a:stretch>
            <a:fillRect/>
          </a:stretch>
        </p:blipFill>
        <p:spPr>
          <a:xfrm>
            <a:off x="14948999" y="6303541"/>
            <a:ext cx="7582755" cy="4623963"/>
          </a:xfrm>
          <a:prstGeom prst="rect">
            <a:avLst/>
          </a:prstGeom>
        </p:spPr>
      </p:pic>
      <p:pic>
        <p:nvPicPr>
          <p:cNvPr id="80" name="Picture 79" descr="architecture.png"/>
          <p:cNvPicPr>
            <a:picLocks noChangeAspect="1"/>
          </p:cNvPicPr>
          <p:nvPr/>
        </p:nvPicPr>
        <p:blipFill>
          <a:blip r:embed="rId9"/>
          <a:stretch>
            <a:fillRect/>
          </a:stretch>
        </p:blipFill>
        <p:spPr>
          <a:xfrm>
            <a:off x="710412" y="19985846"/>
            <a:ext cx="11539173" cy="4460400"/>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36000" y="25941599"/>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a:t>
            </a:r>
            <a:r>
              <a:rPr lang="en-US" sz="2400" dirty="0">
                <a:solidFill>
                  <a:schemeClr val="tx2">
                    <a:lumMod val="75000"/>
                  </a:schemeClr>
                </a:solidFill>
              </a:rPr>
              <a:t>nonlinear learning + robust modeling of rare extreme intervals.</a:t>
            </a:r>
          </a:p>
        </p:txBody>
      </p:sp>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230</TotalTime>
  <Words>571</Words>
  <Application>Microsoft Office PowerPoint</Application>
  <PresentationFormat>מותאם אישית</PresentationFormat>
  <Paragraphs>75</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64</cp:revision>
  <dcterms:created xsi:type="dcterms:W3CDTF">2012-02-10T00:10:15Z</dcterms:created>
  <dcterms:modified xsi:type="dcterms:W3CDTF">2026-06-06T11:29:12Z</dcterms:modified>
</cp:coreProperties>
</file>